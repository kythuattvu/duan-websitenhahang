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5.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Lst>
  <p:notesMasterIdLst>
    <p:notesMasterId r:id="rId5"/>
  </p:notesMasterIdLst>
  <p:handoutMasterIdLst>
    <p:handoutMasterId r:id="rId24"/>
  </p:handoutMasterIdLst>
  <p:sldIdLst>
    <p:sldId id="264" r:id="rId3"/>
    <p:sldId id="3195" r:id="rId4"/>
    <p:sldId id="3202" r:id="rId6"/>
    <p:sldId id="3203" r:id="rId7"/>
    <p:sldId id="3205" r:id="rId8"/>
    <p:sldId id="3206" r:id="rId9"/>
    <p:sldId id="3207" r:id="rId10"/>
    <p:sldId id="3209" r:id="rId11"/>
    <p:sldId id="3210" r:id="rId12"/>
    <p:sldId id="3212" r:id="rId13"/>
    <p:sldId id="3222" r:id="rId14"/>
    <p:sldId id="3213" r:id="rId15"/>
    <p:sldId id="3214" r:id="rId16"/>
    <p:sldId id="3215" r:id="rId17"/>
    <p:sldId id="3216" r:id="rId18"/>
    <p:sldId id="3217" r:id="rId19"/>
    <p:sldId id="3218" r:id="rId20"/>
    <p:sldId id="3219" r:id="rId21"/>
    <p:sldId id="3220" r:id="rId22"/>
    <p:sldId id="3221" r:id="rId23"/>
  </p:sldIdLst>
  <p:sldSz cx="12858750" cy="7232650"/>
  <p:notesSz cx="6858000" cy="9144000"/>
  <p:embeddedFontLst>
    <p:embeddedFont>
      <p:font typeface="SimSun" panose="02010600030101010101" pitchFamily="2" charset="-122"/>
      <p:regular r:id="rId28"/>
    </p:embeddedFont>
    <p:embeddedFont>
      <p:font typeface="Calibri" panose="020F0502020204030204" pitchFamily="34" charset="0"/>
      <p:regular r:id="rId29"/>
      <p:bold r:id="rId30"/>
      <p:italic r:id="rId31"/>
      <p:boldItalic r:id="rId32"/>
    </p:embeddedFont>
    <p:embeddedFont>
      <p:font typeface="Calibri" panose="020F0502020204030204"/>
      <p:regular r:id="rId33"/>
      <p:bold r:id="rId34"/>
      <p:italic r:id="rId35"/>
      <p:boldItalic r:id="rId36"/>
    </p:embeddedFont>
    <p:embeddedFont>
      <p:font typeface="Calibri Light" panose="020F0302020204030204" charset="0"/>
      <p:regular r:id="rId37"/>
      <p:italic r:id="rId38"/>
    </p:embeddedFont>
  </p:embeddedFont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92" userDrawn="1">
          <p15:clr>
            <a:srgbClr val="A4A3A4"/>
          </p15:clr>
        </p15:guide>
        <p15:guide id="3" pos="557" userDrawn="1">
          <p15:clr>
            <a:srgbClr val="A4A3A4"/>
          </p15:clr>
        </p15:guide>
        <p15:guide id="4" orient="horz" pos="4226" userDrawn="1">
          <p15:clr>
            <a:srgbClr val="A4A3A4"/>
          </p15:clr>
        </p15:guide>
        <p15:guide id="5" pos="7522" userDrawn="1">
          <p15:clr>
            <a:srgbClr val="A4A3A4"/>
          </p15:clr>
        </p15:guide>
        <p15:guide id="6" pos="6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A3B8"/>
    <a:srgbClr val="FED9B9"/>
    <a:srgbClr val="288098"/>
    <a:srgbClr val="C3D3D3"/>
    <a:srgbClr val="186716"/>
    <a:srgbClr val="55A534"/>
    <a:srgbClr val="FFFFFF"/>
    <a:srgbClr val="501622"/>
    <a:srgbClr val="1686C2"/>
    <a:srgbClr val="C218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10" autoAdjust="0"/>
    <p:restoredTop sz="95317" autoAdjust="0"/>
  </p:normalViewPr>
  <p:slideViewPr>
    <p:cSldViewPr showGuides="1">
      <p:cViewPr>
        <p:scale>
          <a:sx n="66" d="100"/>
          <a:sy n="66" d="100"/>
        </p:scale>
        <p:origin x="2370" y="960"/>
      </p:cViewPr>
      <p:guideLst>
        <p:guide orient="horz" pos="328"/>
        <p:guide pos="4092"/>
        <p:guide pos="557"/>
        <p:guide orient="horz" pos="4226"/>
        <p:guide pos="7522"/>
        <p:guide pos="6892"/>
      </p:guideLst>
    </p:cSldViewPr>
  </p:slideViewPr>
  <p:outlineViewPr>
    <p:cViewPr>
      <p:scale>
        <a:sx n="100" d="100"/>
        <a:sy n="100" d="100"/>
      </p:scale>
      <p:origin x="0" y="-9972"/>
    </p:cViewPr>
  </p:outlineViewPr>
  <p:notesTextViewPr>
    <p:cViewPr>
      <p:scale>
        <a:sx n="1" d="1"/>
        <a:sy n="1" d="1"/>
      </p:scale>
      <p:origin x="0" y="0"/>
    </p:cViewPr>
  </p:notesTextViewPr>
  <p:sorterViewPr>
    <p:cViewPr>
      <p:scale>
        <a:sx n="50" d="100"/>
        <a:sy n="50"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8" Type="http://schemas.openxmlformats.org/officeDocument/2006/relationships/font" Target="fonts/font11.fntdata"/><Relationship Id="rId37" Type="http://schemas.openxmlformats.org/officeDocument/2006/relationships/font" Target="fonts/font10.fntdata"/><Relationship Id="rId36" Type="http://schemas.openxmlformats.org/officeDocument/2006/relationships/font" Target="fonts/font9.fntdata"/><Relationship Id="rId35" Type="http://schemas.openxmlformats.org/officeDocument/2006/relationships/font" Target="fonts/font8.fntdata"/><Relationship Id="rId34" Type="http://schemas.openxmlformats.org/officeDocument/2006/relationships/font" Target="fonts/font7.fntdata"/><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Arial" panose="020B0604020202020204" pitchFamily="34" charset="0"/>
              </a:defRPr>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ea typeface="Arial" panose="020B0604020202020204" pitchFamily="34" charset="0"/>
              </a:defRPr>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Arial" panose="020B0604020202020204" pitchFamily="34" charset="0"/>
        <a:cs typeface="+mn-cs"/>
      </a:defRPr>
    </a:lvl1pPr>
    <a:lvl2pPr marL="455930" algn="l" rtl="0" eaLnBrk="0" fontAlgn="base" hangingPunct="0">
      <a:spcBef>
        <a:spcPct val="30000"/>
      </a:spcBef>
      <a:spcAft>
        <a:spcPct val="0"/>
      </a:spcAft>
      <a:defRPr sz="1300" kern="1200">
        <a:solidFill>
          <a:schemeClr val="tx1"/>
        </a:solidFill>
        <a:latin typeface="+mn-lt"/>
        <a:ea typeface="Arial" panose="020B0604020202020204" pitchFamily="34" charset="0"/>
        <a:cs typeface="+mn-cs"/>
      </a:defRPr>
    </a:lvl2pPr>
    <a:lvl3pPr marL="913130" algn="l" rtl="0" eaLnBrk="0" fontAlgn="base" hangingPunct="0">
      <a:spcBef>
        <a:spcPct val="30000"/>
      </a:spcBef>
      <a:spcAft>
        <a:spcPct val="0"/>
      </a:spcAft>
      <a:defRPr sz="1300" kern="1200">
        <a:solidFill>
          <a:schemeClr val="tx1"/>
        </a:solidFill>
        <a:latin typeface="+mn-lt"/>
        <a:ea typeface="Arial" panose="020B0604020202020204" pitchFamily="34" charset="0"/>
        <a:cs typeface="+mn-cs"/>
      </a:defRPr>
    </a:lvl3pPr>
    <a:lvl4pPr marL="1370330" algn="l" rtl="0" eaLnBrk="0" fontAlgn="base" hangingPunct="0">
      <a:spcBef>
        <a:spcPct val="30000"/>
      </a:spcBef>
      <a:spcAft>
        <a:spcPct val="0"/>
      </a:spcAft>
      <a:defRPr sz="1300" kern="1200">
        <a:solidFill>
          <a:schemeClr val="tx1"/>
        </a:solidFill>
        <a:latin typeface="+mn-lt"/>
        <a:ea typeface="Arial" panose="020B0604020202020204" pitchFamily="34" charset="0"/>
        <a:cs typeface="+mn-cs"/>
      </a:defRPr>
    </a:lvl4pPr>
    <a:lvl5pPr marL="1827530" algn="l" rtl="0" eaLnBrk="0" fontAlgn="base" hangingPunct="0">
      <a:spcBef>
        <a:spcPct val="30000"/>
      </a:spcBef>
      <a:spcAft>
        <a:spcPct val="0"/>
      </a:spcAft>
      <a:defRPr sz="1300" kern="1200">
        <a:solidFill>
          <a:schemeClr val="tx1"/>
        </a:solidFill>
        <a:latin typeface="+mn-lt"/>
        <a:ea typeface="Arial" panose="020B0604020202020204" pitchFamily="34" charset="0"/>
        <a:cs typeface="+mn-cs"/>
      </a:defRPr>
    </a:lvl5pPr>
    <a:lvl6pPr marL="2285365" algn="l" defTabSz="913765" rtl="0" eaLnBrk="1" latinLnBrk="0" hangingPunct="1">
      <a:defRPr sz="1300" kern="1200">
        <a:solidFill>
          <a:schemeClr val="tx1"/>
        </a:solidFill>
        <a:latin typeface="+mn-lt"/>
        <a:ea typeface="+mn-ea"/>
        <a:cs typeface="+mn-cs"/>
      </a:defRPr>
    </a:lvl6pPr>
    <a:lvl7pPr marL="2742565" algn="l" defTabSz="913765" rtl="0" eaLnBrk="1" latinLnBrk="0" hangingPunct="1">
      <a:defRPr sz="1300" kern="1200">
        <a:solidFill>
          <a:schemeClr val="tx1"/>
        </a:solidFill>
        <a:latin typeface="+mn-lt"/>
        <a:ea typeface="+mn-ea"/>
        <a:cs typeface="+mn-cs"/>
      </a:defRPr>
    </a:lvl7pPr>
    <a:lvl8pPr marL="3199765" algn="l" defTabSz="913765" rtl="0" eaLnBrk="1" latinLnBrk="0" hangingPunct="1">
      <a:defRPr sz="1300" kern="1200">
        <a:solidFill>
          <a:schemeClr val="tx1"/>
        </a:solidFill>
        <a:latin typeface="+mn-lt"/>
        <a:ea typeface="+mn-ea"/>
        <a:cs typeface="+mn-cs"/>
      </a:defRPr>
    </a:lvl8pPr>
    <a:lvl9pPr marL="3656965"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F82D2-7A68-459D-A996-9BDDA2518FA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E01EE5D-26FB-46D5-A381-ECFB35BF1D3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607344" y="1183677"/>
            <a:ext cx="9644063" cy="2518034"/>
          </a:xfrm>
        </p:spPr>
        <p:txBody>
          <a:bodyPr anchor="b"/>
          <a:lstStyle>
            <a:lvl1pPr algn="ctr">
              <a:defRPr sz="6330"/>
            </a:lvl1pPr>
          </a:lstStyle>
          <a:p>
            <a:r>
              <a:rPr lang="zh-CN" altLang="en-US"/>
              <a:t>单击此处编辑母版标题样式</a:t>
            </a:r>
            <a:endParaRPr lang="zh-CN" altLang="en-US"/>
          </a:p>
        </p:txBody>
      </p:sp>
      <p:sp>
        <p:nvSpPr>
          <p:cNvPr id="3" name="副标题 2"/>
          <p:cNvSpPr>
            <a:spLocks noGrp="1"/>
          </p:cNvSpPr>
          <p:nvPr>
            <p:ph type="subTitle" idx="1"/>
          </p:nvPr>
        </p:nvSpPr>
        <p:spPr>
          <a:xfrm>
            <a:off x="1607344" y="3798816"/>
            <a:ext cx="9644063" cy="1746216"/>
          </a:xfrm>
        </p:spPr>
        <p:txBody>
          <a:bodyPr/>
          <a:lstStyle>
            <a:lvl1pPr marL="0" indent="0" algn="ctr">
              <a:buNone/>
              <a:defRPr sz="2530"/>
            </a:lvl1pPr>
            <a:lvl2pPr marL="481965" indent="0" algn="ctr">
              <a:buNone/>
              <a:defRPr sz="2110"/>
            </a:lvl2pPr>
            <a:lvl3pPr marL="964565" indent="0" algn="ctr">
              <a:buNone/>
              <a:defRPr sz="1900"/>
            </a:lvl3pPr>
            <a:lvl4pPr marL="1446530" indent="0" algn="ctr">
              <a:buNone/>
              <a:defRPr sz="1685"/>
            </a:lvl4pPr>
            <a:lvl5pPr marL="1928495" indent="0" algn="ctr">
              <a:buNone/>
              <a:defRPr sz="1685"/>
            </a:lvl5pPr>
            <a:lvl6pPr marL="2411095" indent="0" algn="ctr">
              <a:buNone/>
              <a:defRPr sz="1685"/>
            </a:lvl6pPr>
            <a:lvl7pPr marL="2893060" indent="0" algn="ctr">
              <a:buNone/>
              <a:defRPr sz="1685"/>
            </a:lvl7pPr>
            <a:lvl8pPr marL="3375025" indent="0" algn="ctr">
              <a:buNone/>
              <a:defRPr sz="1685"/>
            </a:lvl8pPr>
            <a:lvl9pPr marL="3856990" indent="0" algn="ctr">
              <a:buNone/>
              <a:defRPr sz="1685"/>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1E303CA-A366-4AAE-B5F5-A264AC6BBBF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620811-97D9-4C5A-9B6B-89C33CCB0B2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lgn="ctr">
              <a:defRPr sz="3370">
                <a:solidFill>
                  <a:srgbClr val="333333"/>
                </a:solidFill>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4039" y="385072"/>
            <a:ext cx="11090672" cy="139797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84039" y="1925358"/>
            <a:ext cx="11090672" cy="458905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84039" y="6703595"/>
            <a:ext cx="2893219" cy="385072"/>
          </a:xfrm>
          <a:prstGeom prst="rect">
            <a:avLst/>
          </a:prstGeom>
        </p:spPr>
        <p:txBody>
          <a:bodyPr vert="horz" lIns="91440" tIns="45720" rIns="91440" bIns="45720" rtlCol="0" anchor="ctr"/>
          <a:lstStyle>
            <a:lvl1pPr algn="l">
              <a:defRPr sz="1265">
                <a:solidFill>
                  <a:schemeClr val="tx1">
                    <a:tint val="75000"/>
                  </a:schemeClr>
                </a:solidFill>
                <a:ea typeface="Arial" panose="020B0604020202020204" pitchFamily="34" charset="0"/>
              </a:defRPr>
            </a:lvl1pPr>
          </a:lstStyle>
          <a:p>
            <a:fld id="{32BF82D2-7A68-459D-A996-9BDDA2518FA4}" type="datetimeFigureOut">
              <a:rPr lang="zh-CN" altLang="en-US" smtClean="0"/>
            </a:fld>
            <a:endParaRPr lang="zh-CN" altLang="en-US"/>
          </a:p>
        </p:txBody>
      </p:sp>
      <p:sp>
        <p:nvSpPr>
          <p:cNvPr id="5" name="Footer Placeholder 4"/>
          <p:cNvSpPr>
            <a:spLocks noGrp="1"/>
          </p:cNvSpPr>
          <p:nvPr>
            <p:ph type="ftr" sz="quarter" idx="3"/>
          </p:nvPr>
        </p:nvSpPr>
        <p:spPr>
          <a:xfrm>
            <a:off x="4259461" y="6703595"/>
            <a:ext cx="4339828" cy="385072"/>
          </a:xfrm>
          <a:prstGeom prst="rect">
            <a:avLst/>
          </a:prstGeom>
        </p:spPr>
        <p:txBody>
          <a:bodyPr vert="horz" lIns="91440" tIns="45720" rIns="91440" bIns="45720" rtlCol="0" anchor="ctr"/>
          <a:lstStyle>
            <a:lvl1pPr algn="ctr">
              <a:defRPr sz="1265">
                <a:solidFill>
                  <a:schemeClr val="tx1">
                    <a:tint val="75000"/>
                  </a:schemeClr>
                </a:solidFill>
                <a:ea typeface="Arial" panose="020B0604020202020204" pitchFamily="34" charset="0"/>
              </a:defRPr>
            </a:lvl1pPr>
          </a:lstStyle>
          <a:p>
            <a:endParaRPr lang="zh-CN" altLang="en-US"/>
          </a:p>
        </p:txBody>
      </p:sp>
      <p:sp>
        <p:nvSpPr>
          <p:cNvPr id="6" name="Slide Number Placeholder 5"/>
          <p:cNvSpPr>
            <a:spLocks noGrp="1"/>
          </p:cNvSpPr>
          <p:nvPr>
            <p:ph type="sldNum" sz="quarter" idx="4"/>
          </p:nvPr>
        </p:nvSpPr>
        <p:spPr>
          <a:xfrm>
            <a:off x="9081492" y="6703595"/>
            <a:ext cx="2893219" cy="385072"/>
          </a:xfrm>
          <a:prstGeom prst="rect">
            <a:avLst/>
          </a:prstGeom>
        </p:spPr>
        <p:txBody>
          <a:bodyPr vert="horz" lIns="91440" tIns="45720" rIns="91440" bIns="45720" rtlCol="0" anchor="ctr"/>
          <a:lstStyle>
            <a:lvl1pPr algn="r">
              <a:defRPr sz="1265">
                <a:solidFill>
                  <a:schemeClr val="tx1">
                    <a:tint val="75000"/>
                  </a:schemeClr>
                </a:solidFill>
                <a:ea typeface="Arial" panose="020B0604020202020204" pitchFamily="34" charset="0"/>
              </a:defRPr>
            </a:lvl1pPr>
          </a:lstStyle>
          <a:p>
            <a:fld id="{3E01EE5D-26FB-46D5-A381-ECFB35BF1D3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63930" rtl="0" eaLnBrk="1" latinLnBrk="0" hangingPunct="1">
        <a:lnSpc>
          <a:spcPct val="90000"/>
        </a:lnSpc>
        <a:spcBef>
          <a:spcPct val="0"/>
        </a:spcBef>
        <a:buNone/>
        <a:defRPr sz="4640" kern="1200">
          <a:solidFill>
            <a:schemeClr val="tx1"/>
          </a:solidFill>
          <a:latin typeface="+mj-lt"/>
          <a:ea typeface="Arial" panose="020B0604020202020204" pitchFamily="34" charset="0"/>
          <a:cs typeface="+mj-cs"/>
        </a:defRPr>
      </a:lvl1pPr>
    </p:titleStyle>
    <p:bodyStyle>
      <a:lvl1pPr marL="241300" indent="-241300" algn="l" defTabSz="963930" rtl="0" eaLnBrk="1" latinLnBrk="0" hangingPunct="1">
        <a:lnSpc>
          <a:spcPct val="90000"/>
        </a:lnSpc>
        <a:spcBef>
          <a:spcPts val="1055"/>
        </a:spcBef>
        <a:buFont typeface="Arial" panose="020B0604020202020204" pitchFamily="34" charset="0"/>
        <a:buChar char="•"/>
        <a:defRPr sz="2955" kern="1200">
          <a:solidFill>
            <a:schemeClr val="tx1"/>
          </a:solidFill>
          <a:latin typeface="+mn-lt"/>
          <a:ea typeface="Arial" panose="020B0604020202020204" pitchFamily="34" charset="0"/>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Arial" panose="020B0604020202020204" pitchFamily="34" charset="0"/>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Arial" panose="020B0604020202020204" pitchFamily="34" charset="0"/>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Arial" panose="020B0604020202020204" pitchFamily="34" charset="0"/>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Arial" panose="020B0604020202020204" pitchFamily="34" charset="0"/>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63930" rtl="0" eaLnBrk="1" latinLnBrk="0" hangingPunct="1">
        <a:defRPr sz="1900" kern="1200">
          <a:solidFill>
            <a:schemeClr val="tx1"/>
          </a:solidFill>
          <a:latin typeface="+mn-lt"/>
          <a:ea typeface="+mn-ea"/>
          <a:cs typeface="+mn-cs"/>
        </a:defRPr>
      </a:lvl1pPr>
      <a:lvl2pPr marL="481965" algn="l" defTabSz="963930" rtl="0" eaLnBrk="1" latinLnBrk="0" hangingPunct="1">
        <a:defRPr sz="1900" kern="1200">
          <a:solidFill>
            <a:schemeClr val="tx1"/>
          </a:solidFill>
          <a:latin typeface="+mn-lt"/>
          <a:ea typeface="+mn-ea"/>
          <a:cs typeface="+mn-cs"/>
        </a:defRPr>
      </a:lvl2pPr>
      <a:lvl3pPr marL="964565" algn="l" defTabSz="963930" rtl="0" eaLnBrk="1" latinLnBrk="0" hangingPunct="1">
        <a:defRPr sz="1900" kern="1200">
          <a:solidFill>
            <a:schemeClr val="tx1"/>
          </a:solidFill>
          <a:latin typeface="+mn-lt"/>
          <a:ea typeface="+mn-ea"/>
          <a:cs typeface="+mn-cs"/>
        </a:defRPr>
      </a:lvl3pPr>
      <a:lvl4pPr marL="1446530" algn="l" defTabSz="963930" rtl="0" eaLnBrk="1" latinLnBrk="0" hangingPunct="1">
        <a:defRPr sz="1900" kern="1200">
          <a:solidFill>
            <a:schemeClr val="tx1"/>
          </a:solidFill>
          <a:latin typeface="+mn-lt"/>
          <a:ea typeface="+mn-ea"/>
          <a:cs typeface="+mn-cs"/>
        </a:defRPr>
      </a:lvl4pPr>
      <a:lvl5pPr marL="1928495" algn="l" defTabSz="963930" rtl="0" eaLnBrk="1" latinLnBrk="0" hangingPunct="1">
        <a:defRPr sz="1900" kern="1200">
          <a:solidFill>
            <a:schemeClr val="tx1"/>
          </a:solidFill>
          <a:latin typeface="+mn-lt"/>
          <a:ea typeface="+mn-ea"/>
          <a:cs typeface="+mn-cs"/>
        </a:defRPr>
      </a:lvl5pPr>
      <a:lvl6pPr marL="2411095" algn="l" defTabSz="963930" rtl="0" eaLnBrk="1" latinLnBrk="0" hangingPunct="1">
        <a:defRPr sz="1900" kern="1200">
          <a:solidFill>
            <a:schemeClr val="tx1"/>
          </a:solidFill>
          <a:latin typeface="+mn-lt"/>
          <a:ea typeface="+mn-ea"/>
          <a:cs typeface="+mn-cs"/>
        </a:defRPr>
      </a:lvl6pPr>
      <a:lvl7pPr marL="2893060" algn="l" defTabSz="963930" rtl="0" eaLnBrk="1" latinLnBrk="0" hangingPunct="1">
        <a:defRPr sz="1900" kern="1200">
          <a:solidFill>
            <a:schemeClr val="tx1"/>
          </a:solidFill>
          <a:latin typeface="+mn-lt"/>
          <a:ea typeface="+mn-ea"/>
          <a:cs typeface="+mn-cs"/>
        </a:defRPr>
      </a:lvl7pPr>
      <a:lvl8pPr marL="3375025" algn="l" defTabSz="963930" rtl="0" eaLnBrk="1" latinLnBrk="0" hangingPunct="1">
        <a:defRPr sz="1900" kern="1200">
          <a:solidFill>
            <a:schemeClr val="tx1"/>
          </a:solidFill>
          <a:latin typeface="+mn-lt"/>
          <a:ea typeface="+mn-ea"/>
          <a:cs typeface="+mn-cs"/>
        </a:defRPr>
      </a:lvl8pPr>
      <a:lvl9pPr marL="3856990" algn="l" defTabSz="96393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5.webp"/><Relationship Id="rId2" Type="http://schemas.openxmlformats.org/officeDocument/2006/relationships/image" Target="../media/image2.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2.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3" y="0"/>
            <a:ext cx="12858044" cy="7232650"/>
          </a:xfrm>
          <a:prstGeom prst="rect">
            <a:avLst/>
          </a:prstGeom>
        </p:spPr>
      </p:pic>
      <p:sp>
        <p:nvSpPr>
          <p:cNvPr id="9" name="文本框 8"/>
          <p:cNvSpPr txBox="1"/>
          <p:nvPr/>
        </p:nvSpPr>
        <p:spPr>
          <a:xfrm>
            <a:off x="1532573" y="1384062"/>
            <a:ext cx="8184515" cy="3107690"/>
          </a:xfrm>
          <a:prstGeom prst="rect">
            <a:avLst/>
          </a:prstGeom>
          <a:noFill/>
          <a:effectLst>
            <a:outerShdw blurRad="50800" dist="50800" dir="5400000" sx="1000" sy="1000" algn="ctr" rotWithShape="0">
              <a:srgbClr val="2B7D1E"/>
            </a:outerShdw>
          </a:effectLst>
        </p:spPr>
        <p:txBody>
          <a:bodyPr wrap="none" rtlCol="0">
            <a:spAutoFit/>
          </a:bodyPr>
          <a:lstStyle/>
          <a:p>
            <a:pPr algn="ctr"/>
            <a:r>
              <a:rPr lang="vi-VN" altLang="en-US" sz="2800" b="1">
                <a:effectLst/>
                <a:latin typeface="Times New Roman Bold" panose="02020603050405020304" charset="0"/>
                <a:cs typeface="Times New Roman Bold" panose="02020603050405020304" charset="0"/>
                <a:sym typeface="+mn-ea"/>
              </a:rPr>
              <a:t>CHÀO MỪNG THẦY CÔ VÀ CÁC BẠN ĐẾN VỚI </a:t>
            </a:r>
            <a:endParaRPr lang="vi-VN" altLang="en-US" sz="2800" b="1">
              <a:solidFill>
                <a:schemeClr val="tx1"/>
              </a:solidFill>
              <a:effectLst/>
              <a:latin typeface="Times New Roman Bold" panose="02020603050405020304" charset="0"/>
              <a:cs typeface="Times New Roman Bold" panose="02020603050405020304" charset="0"/>
            </a:endParaRPr>
          </a:p>
          <a:p>
            <a:pPr algn="ctr"/>
            <a:r>
              <a:rPr lang="vi-VN" altLang="en-US" sz="2800" b="1">
                <a:effectLst/>
                <a:latin typeface="Times New Roman Bold" panose="02020603050405020304" charset="0"/>
                <a:cs typeface="Times New Roman Bold" panose="02020603050405020304" charset="0"/>
                <a:sym typeface="+mn-ea"/>
              </a:rPr>
              <a:t>  BÀI BÁO CÁO KẾT THÚC MÔN</a:t>
            </a:r>
            <a:endParaRPr lang="vi-VN" altLang="en-US" sz="2800" b="1">
              <a:effectLst/>
              <a:latin typeface="Times New Roman Bold" panose="02020603050405020304" charset="0"/>
              <a:cs typeface="Times New Roman Bold" panose="02020603050405020304" charset="0"/>
              <a:sym typeface="+mn-ea"/>
            </a:endParaRPr>
          </a:p>
          <a:p>
            <a:pPr algn="ctr"/>
            <a:r>
              <a:rPr lang="vi-VN" altLang="en-US" sz="2800" b="1" dirty="0">
                <a:effectLst>
                  <a:outerShdw blurRad="38100" dist="19050" dir="2700000" algn="tl" rotWithShape="0">
                    <a:schemeClr val="dk1">
                      <a:alpha val="40000"/>
                      <a:alpha val="40000"/>
                    </a:schemeClr>
                  </a:outerShdw>
                </a:effectLst>
                <a:latin typeface="Times New Roman Bold" panose="02020603050405020304" charset="0"/>
                <a:cs typeface="Times New Roman Bold" panose="02020603050405020304" charset="0"/>
                <a:sym typeface="+mn-ea"/>
              </a:rPr>
              <a:t>                 Học phần:</a:t>
            </a:r>
            <a:endParaRPr lang="vi-VN" altLang="en-US" sz="2800" b="1" dirty="0">
              <a:solidFill>
                <a:schemeClr val="tx1"/>
              </a:solidFill>
              <a:effectLst>
                <a:outerShdw blurRad="38100" dist="19050" dir="2700000" algn="tl" rotWithShape="0">
                  <a:schemeClr val="dk1">
                    <a:alpha val="40000"/>
                    <a:alpha val="40000"/>
                  </a:schemeClr>
                </a:outerShdw>
              </a:effectLst>
              <a:latin typeface="Times New Roman Bold" panose="02020603050405020304" charset="0"/>
              <a:cs typeface="Times New Roman Bold" panose="02020603050405020304" charset="0"/>
            </a:endParaRPr>
          </a:p>
          <a:p>
            <a:pPr algn="ctr"/>
            <a:r>
              <a:rPr lang="vi-VN" altLang="en-US" sz="2800" dirty="0">
                <a:effectLst>
                  <a:outerShdw blurRad="38100" dist="19050" dir="2700000" algn="tl" rotWithShape="0">
                    <a:schemeClr val="dk1">
                      <a:alpha val="40000"/>
                      <a:alpha val="40000"/>
                    </a:schemeClr>
                  </a:outerShdw>
                </a:effectLst>
                <a:latin typeface="Times New Roman Regular" panose="02020603050405020304" charset="0"/>
                <a:cs typeface="Times New Roman Regular" panose="02020603050405020304" charset="0"/>
                <a:sym typeface="+mn-ea"/>
              </a:rPr>
              <a:t>             “ Công nghệ phần </a:t>
            </a:r>
            <a:r>
              <a:rPr lang="vi-VN" altLang="en-US" sz="2800" dirty="0">
                <a:effectLst>
                  <a:outerShdw blurRad="38100" dist="19050" dir="2700000" algn="tl" rotWithShape="0">
                    <a:schemeClr val="dk1">
                      <a:alpha val="40000"/>
                      <a:alpha val="40000"/>
                    </a:schemeClr>
                  </a:outerShdw>
                </a:effectLst>
                <a:latin typeface="Times New Roman Regular" panose="02020603050405020304" charset="0"/>
                <a:cs typeface="Times New Roman Regular" panose="02020603050405020304" charset="0"/>
                <a:sym typeface="+mn-ea"/>
              </a:rPr>
              <a:t>mềm”</a:t>
            </a:r>
            <a:endParaRPr lang="vi-VN" altLang="en-US" sz="2800" dirty="0">
              <a:effectLst>
                <a:outerShdw blurRad="38100" dist="19050" dir="2700000" algn="tl" rotWithShape="0">
                  <a:schemeClr val="dk1">
                    <a:alpha val="40000"/>
                    <a:alpha val="40000"/>
                  </a:schemeClr>
                </a:outerShdw>
              </a:effectLst>
              <a:latin typeface="Times New Roman Regular" panose="02020603050405020304" charset="0"/>
              <a:cs typeface="Times New Roman Regular" panose="02020603050405020304" charset="0"/>
              <a:sym typeface="+mn-ea"/>
            </a:endParaRPr>
          </a:p>
          <a:p>
            <a:pPr algn="ctr"/>
            <a:r>
              <a:rPr lang="vi-VN" altLang="en-US" sz="2800" dirty="0">
                <a:effectLst>
                  <a:outerShdw blurRad="38100" dist="19050" dir="2700000" algn="tl" rotWithShape="0">
                    <a:schemeClr val="dk1">
                      <a:alpha val="40000"/>
                      <a:alpha val="40000"/>
                    </a:schemeClr>
                  </a:outerShdw>
                </a:effectLst>
                <a:latin typeface="Times New Roman Regular" panose="02020603050405020304" charset="0"/>
                <a:cs typeface="Times New Roman Regular" panose="02020603050405020304" charset="0"/>
                <a:sym typeface="+mn-ea"/>
              </a:rPr>
              <a:t> </a:t>
            </a:r>
            <a:endParaRPr lang="vi-VN" altLang="en-US" sz="2800" dirty="0">
              <a:effectLst>
                <a:outerShdw blurRad="38100" dist="19050" dir="2700000" algn="tl" rotWithShape="0">
                  <a:schemeClr val="dk1">
                    <a:alpha val="40000"/>
                    <a:alpha val="40000"/>
                  </a:schemeClr>
                </a:outerShdw>
              </a:effectLst>
              <a:latin typeface="Times New Roman Regular" panose="02020603050405020304" charset="0"/>
              <a:cs typeface="Times New Roman Regular" panose="02020603050405020304" charset="0"/>
              <a:sym typeface="+mn-ea"/>
            </a:endParaRPr>
          </a:p>
          <a:p>
            <a:pPr algn="ctr"/>
            <a:endParaRPr lang="vi-VN" altLang="en-US" sz="2800" dirty="0">
              <a:solidFill>
                <a:schemeClr val="tx1"/>
              </a:solidFill>
              <a:effectLst>
                <a:outerShdw blurRad="38100" dist="19050" dir="2700000" algn="tl" rotWithShape="0">
                  <a:schemeClr val="dk1">
                    <a:alpha val="40000"/>
                    <a:alpha val="40000"/>
                  </a:schemeClr>
                </a:outerShdw>
              </a:effectLst>
              <a:latin typeface="Times New Roman Regular" panose="02020603050405020304" charset="0"/>
              <a:cs typeface="Times New Roman Regular" panose="02020603050405020304" charset="0"/>
            </a:endParaRPr>
          </a:p>
          <a:p>
            <a:pPr algn="ctr"/>
            <a:endParaRPr lang="en-US" altLang="zh-CN" sz="2800" b="1" dirty="0">
              <a:solidFill>
                <a:srgbClr val="288098"/>
              </a:solidFill>
              <a:latin typeface="Arial" panose="020B0604020202020204" pitchFamily="34" charset="0"/>
              <a:ea typeface="Arial" panose="020B0604020202020204" pitchFamily="34" charset="0"/>
            </a:endParaRPr>
          </a:p>
        </p:txBody>
      </p:sp>
      <p:sp>
        <p:nvSpPr>
          <p:cNvPr id="10" name="矩形 9"/>
          <p:cNvSpPr/>
          <p:nvPr/>
        </p:nvSpPr>
        <p:spPr>
          <a:xfrm>
            <a:off x="7466330" y="3846195"/>
            <a:ext cx="4687570" cy="1902460"/>
          </a:xfrm>
          <a:prstGeom prst="rect">
            <a:avLst/>
          </a:prstGeom>
        </p:spPr>
        <p:txBody>
          <a:bodyPr wrap="square">
            <a:noAutofit/>
          </a:bodyPr>
          <a:lstStyle/>
          <a:p>
            <a:pPr algn="l"/>
            <a:r>
              <a:rPr lang="vi-VN" altLang="en-US" sz="1400" b="1" dirty="0">
                <a:latin typeface="Times New Roman Bold" panose="02020603050405020304" charset="0"/>
                <a:cs typeface="Times New Roman Bold" panose="02020603050405020304" charset="0"/>
                <a:sym typeface="+mn-ea"/>
              </a:rPr>
              <a:t>Giảng viên hướng dẫn:</a:t>
            </a:r>
            <a:r>
              <a:rPr lang="vi-VN" altLang="en-US" sz="1400" dirty="0">
                <a:latin typeface="Times New Roman Regular" panose="02020603050405020304" charset="0"/>
                <a:cs typeface="Times New Roman Regular" panose="02020603050405020304" charset="0"/>
                <a:sym typeface="+mn-ea"/>
              </a:rPr>
              <a:t> T.s Nguyễn bảo Ân</a:t>
            </a:r>
            <a:endParaRPr lang="vi-VN" altLang="en-US" sz="1400" dirty="0">
              <a:latin typeface="Times New Roman Regular" panose="02020603050405020304" charset="0"/>
              <a:cs typeface="Times New Roman Regular" panose="02020603050405020304" charset="0"/>
            </a:endParaRPr>
          </a:p>
          <a:p>
            <a:pPr algn="l"/>
            <a:r>
              <a:rPr lang="en-US" altLang="en-US" sz="1400" b="1" dirty="0">
                <a:latin typeface="Times New Roman Regular" panose="02020603050405020304" charset="0"/>
                <a:cs typeface="Times New Roman Regular" panose="02020603050405020304" charset="0"/>
                <a:sym typeface="+mn-ea"/>
              </a:rPr>
              <a:t>Họ tên:</a:t>
            </a:r>
            <a:r>
              <a:rPr lang="en-US" altLang="en-US" sz="1400" dirty="0">
                <a:latin typeface="Times New Roman Regular" panose="02020603050405020304" charset="0"/>
                <a:cs typeface="Times New Roman Regular" panose="02020603050405020304" charset="0"/>
                <a:sym typeface="+mn-ea"/>
              </a:rPr>
              <a:t> Nguyễn Huỳnh Kỹ Thuật</a:t>
            </a:r>
            <a:endParaRPr lang="en-US" altLang="en-US" sz="1400" dirty="0">
              <a:latin typeface="Times New Roman Regular" panose="02020603050405020304" charset="0"/>
              <a:cs typeface="Times New Roman Regular" panose="02020603050405020304" charset="0"/>
              <a:sym typeface="+mn-ea"/>
            </a:endParaRPr>
          </a:p>
          <a:p>
            <a:pPr algn="l"/>
            <a:r>
              <a:rPr lang="en-US" altLang="en-US" sz="1400" dirty="0">
                <a:latin typeface="Times New Roman Regular" panose="02020603050405020304" charset="0"/>
                <a:cs typeface="Times New Roman Regular" panose="02020603050405020304" charset="0"/>
                <a:sym typeface="+mn-ea"/>
              </a:rPr>
              <a:t>MSSV: 110122175</a:t>
            </a:r>
            <a:endParaRPr lang="en-US" altLang="en-US" sz="1400" dirty="0">
              <a:latin typeface="Times New Roman Regular" panose="02020603050405020304" charset="0"/>
              <a:cs typeface="Times New Roman Regular" panose="02020603050405020304" charset="0"/>
              <a:sym typeface="+mn-ea"/>
            </a:endParaRPr>
          </a:p>
          <a:p>
            <a:pPr algn="l"/>
            <a:r>
              <a:rPr lang="en-US" altLang="en-US" sz="1400" b="1" dirty="0">
                <a:latin typeface="Times New Roman Regular" panose="02020603050405020304" charset="0"/>
                <a:cs typeface="Times New Roman Regular" panose="02020603050405020304" charset="0"/>
                <a:sym typeface="+mn-ea"/>
              </a:rPr>
              <a:t>Họ tên:</a:t>
            </a:r>
            <a:r>
              <a:rPr lang="en-US" altLang="en-US" sz="1400" dirty="0">
                <a:latin typeface="Times New Roman Regular" panose="02020603050405020304" charset="0"/>
                <a:cs typeface="Times New Roman Regular" panose="02020603050405020304" charset="0"/>
                <a:sym typeface="+mn-ea"/>
              </a:rPr>
              <a:t> Nguyễn Nhật Trường</a:t>
            </a:r>
            <a:endParaRPr lang="en-US" altLang="en-US" sz="1400" dirty="0">
              <a:latin typeface="Times New Roman Regular" panose="02020603050405020304" charset="0"/>
              <a:cs typeface="Times New Roman Regular" panose="02020603050405020304" charset="0"/>
              <a:sym typeface="+mn-ea"/>
            </a:endParaRPr>
          </a:p>
          <a:p>
            <a:pPr algn="l"/>
            <a:r>
              <a:rPr lang="en-US" altLang="en-US" sz="1400" dirty="0">
                <a:latin typeface="Times New Roman Regular" panose="02020603050405020304" charset="0"/>
                <a:cs typeface="Times New Roman Regular" panose="02020603050405020304" charset="0"/>
                <a:sym typeface="+mn-ea"/>
              </a:rPr>
              <a:t>MSSV: 110122197</a:t>
            </a:r>
            <a:endParaRPr lang="en-US" altLang="en-US" sz="1400" dirty="0">
              <a:latin typeface="Times New Roman Regular" panose="02020603050405020304" charset="0"/>
              <a:cs typeface="Times New Roman Regular" panose="02020603050405020304" charset="0"/>
              <a:sym typeface="+mn-ea"/>
            </a:endParaRPr>
          </a:p>
          <a:p>
            <a:pPr algn="l"/>
            <a:r>
              <a:rPr lang="en-US" altLang="en-US" sz="1400" b="1" dirty="0">
                <a:latin typeface="Times New Roman Regular" panose="02020603050405020304" charset="0"/>
                <a:cs typeface="Times New Roman Regular" panose="02020603050405020304" charset="0"/>
                <a:sym typeface="+mn-ea"/>
              </a:rPr>
              <a:t>Họ tên:</a:t>
            </a:r>
            <a:r>
              <a:rPr lang="en-US" altLang="en-US" sz="1400" dirty="0">
                <a:latin typeface="Times New Roman Regular" panose="02020603050405020304" charset="0"/>
                <a:cs typeface="Times New Roman Regular" panose="02020603050405020304" charset="0"/>
                <a:sym typeface="+mn-ea"/>
              </a:rPr>
              <a:t> Hứa Thị Thảo Vy</a:t>
            </a:r>
            <a:endParaRPr lang="en-US" altLang="en-US" sz="1400" dirty="0">
              <a:latin typeface="Times New Roman Regular" panose="02020603050405020304" charset="0"/>
              <a:cs typeface="Times New Roman Regular" panose="02020603050405020304" charset="0"/>
              <a:sym typeface="+mn-ea"/>
            </a:endParaRPr>
          </a:p>
          <a:p>
            <a:pPr algn="l"/>
            <a:r>
              <a:rPr lang="en-US" altLang="en-US" sz="1400" dirty="0">
                <a:latin typeface="Times New Roman Regular" panose="02020603050405020304" charset="0"/>
                <a:cs typeface="Times New Roman Regular" panose="02020603050405020304" charset="0"/>
                <a:sym typeface="+mn-ea"/>
              </a:rPr>
              <a:t>MSSV: 110122211</a:t>
            </a:r>
            <a:endParaRPr lang="en-US" altLang="en-US" sz="1400" dirty="0">
              <a:latin typeface="Times New Roman Regular" panose="02020603050405020304" charset="0"/>
              <a:cs typeface="Times New Roman Regular" panose="02020603050405020304" charset="0"/>
              <a:sym typeface="+mn-ea"/>
            </a:endParaRPr>
          </a:p>
          <a:p>
            <a:pPr algn="l"/>
            <a:r>
              <a:rPr lang="en-US" altLang="en-US" sz="1400" b="1" dirty="0">
                <a:latin typeface="Times New Roman Regular" panose="02020603050405020304" charset="0"/>
                <a:cs typeface="Times New Roman Regular" panose="02020603050405020304" charset="0"/>
                <a:sym typeface="+mn-ea"/>
              </a:rPr>
              <a:t>Lớp:</a:t>
            </a:r>
            <a:r>
              <a:rPr lang="en-US" altLang="en-US" sz="1400" dirty="0">
                <a:latin typeface="Times New Roman Regular" panose="02020603050405020304" charset="0"/>
                <a:cs typeface="Times New Roman Regular" panose="02020603050405020304" charset="0"/>
                <a:sym typeface="+mn-ea"/>
              </a:rPr>
              <a:t> DA22TTC</a:t>
            </a:r>
            <a:r>
              <a:rPr lang="vi-VN" altLang="en-US" sz="1400" dirty="0">
                <a:latin typeface="Times New Roman Regular" panose="02020603050405020304" charset="0"/>
                <a:cs typeface="Times New Roman Regular" panose="02020603050405020304" charset="0"/>
                <a:sym typeface="+mn-ea"/>
              </a:rPr>
              <a:t> </a:t>
            </a:r>
            <a:endParaRPr lang="vi-VN" altLang="en-US" sz="1400" dirty="0">
              <a:latin typeface="Times New Roman Regular" panose="02020603050405020304" charset="0"/>
              <a:cs typeface="Times New Roman Regular" panose="02020603050405020304" charset="0"/>
            </a:endParaRPr>
          </a:p>
          <a:p>
            <a:pPr algn="r"/>
            <a:r>
              <a:rPr lang="vi-VN" altLang="en-US" sz="1400" dirty="0">
                <a:latin typeface="Times New Roman Regular" panose="02020603050405020304" charset="0"/>
                <a:cs typeface="Times New Roman Regular" panose="02020603050405020304" charset="0"/>
                <a:sym typeface="+mn-ea"/>
              </a:rPr>
              <a:t> </a:t>
            </a:r>
            <a:endParaRPr lang="zh-CN" altLang="en-US" sz="1400" dirty="0">
              <a:solidFill>
                <a:schemeClr val="tx1">
                  <a:lumMod val="50000"/>
                  <a:lumOff val="50000"/>
                </a:schemeClr>
              </a:solidFill>
              <a:ea typeface="Arial" panose="020B0604020202020204" pitchFamily="34" charset="0"/>
            </a:endParaRPr>
          </a:p>
        </p:txBody>
      </p:sp>
      <p:sp>
        <p:nvSpPr>
          <p:cNvPr id="11" name="矩形 10"/>
          <p:cNvSpPr/>
          <p:nvPr/>
        </p:nvSpPr>
        <p:spPr>
          <a:xfrm>
            <a:off x="1676400" y="2752090"/>
            <a:ext cx="8025765" cy="1155065"/>
          </a:xfrm>
          <a:prstGeom prst="rect">
            <a:avLst/>
          </a:prstGeom>
        </p:spPr>
        <p:txBody>
          <a:bodyPr wrap="square">
            <a:noAutofit/>
          </a:bodyPr>
          <a:lstStyle/>
          <a:p>
            <a:pPr algn="ctr"/>
            <a:endParaRPr lang="vi-VN" altLang="en-US" sz="2000" b="1">
              <a:latin typeface="Times New Roman" panose="02020603050405020304" charset="0"/>
              <a:cs typeface="Times New Roman" panose="02020603050405020304" charset="0"/>
              <a:sym typeface="+mn-ea"/>
            </a:endParaRPr>
          </a:p>
          <a:p>
            <a:pPr algn="ctr"/>
            <a:r>
              <a:rPr lang="vi-VN" altLang="en-US" sz="2000" b="1">
                <a:latin typeface="Times New Roman" panose="02020603050405020304" charset="0"/>
                <a:cs typeface="Times New Roman" panose="02020603050405020304" charset="0"/>
                <a:sym typeface="+mn-ea"/>
              </a:rPr>
              <a:t>                      Đề tài:</a:t>
            </a:r>
            <a:r>
              <a:rPr lang="vi-VN" altLang="en-US" sz="2000">
                <a:latin typeface="Times New Roman" panose="02020603050405020304" charset="0"/>
                <a:cs typeface="Times New Roman" panose="02020603050405020304" charset="0"/>
                <a:sym typeface="+mn-ea"/>
              </a:rPr>
              <a:t> </a:t>
            </a:r>
            <a:r>
              <a:rPr lang="vi-VN" altLang="en-US" sz="2000" i="1">
                <a:latin typeface="Times New Roman" panose="02020603050405020304" charset="0"/>
                <a:cs typeface="Times New Roman" panose="02020603050405020304" charset="0"/>
                <a:sym typeface="+mn-ea"/>
              </a:rPr>
              <a:t>“</a:t>
            </a:r>
            <a:r>
              <a:rPr lang="en-US" altLang="en-US" sz="2000">
                <a:latin typeface="Times New Roman" panose="02020603050405020304" charset="0"/>
                <a:cs typeface="Times New Roman" panose="02020603050405020304" charset="0"/>
                <a:sym typeface="+mn-ea"/>
              </a:rPr>
              <a:t>TÌM HI</a:t>
            </a:r>
            <a:r>
              <a:rPr lang="vi-VN" altLang="en-US" sz="2000">
                <a:latin typeface="Times New Roman" panose="02020603050405020304" charset="0"/>
                <a:cs typeface="Times New Roman" panose="02020603050405020304" charset="0"/>
                <a:sym typeface="+mn-ea"/>
              </a:rPr>
              <a:t>ỂU VỀ NODE JS VÀ XÂY DỰNG           WEBSITE NHÀ HÀNG ẨM THỰC PHƯƠNG NAM TRÀ VINH</a:t>
            </a:r>
            <a:r>
              <a:rPr lang="vi-VN" altLang="en-US" sz="2000" i="1">
                <a:latin typeface="Times New Roman" panose="02020603050405020304" charset="0"/>
                <a:cs typeface="Times New Roman" panose="02020603050405020304" charset="0"/>
                <a:sym typeface="+mn-ea"/>
              </a:rPr>
              <a:t>”</a:t>
            </a:r>
            <a:endParaRPr lang="en-US" altLang="zh-CN" sz="2000" spc="316" dirty="0">
              <a:solidFill>
                <a:schemeClr val="tx1">
                  <a:lumMod val="50000"/>
                  <a:lumOff val="50000"/>
                </a:schemeClr>
              </a:solidFill>
              <a:latin typeface="Arial" panose="020B0604020202020204" pitchFamily="34" charset="0"/>
              <a:ea typeface="Arial" panose="020B0604020202020204" pitchFamily="34" charset="0"/>
            </a:endParaRPr>
          </a:p>
        </p:txBody>
      </p:sp>
      <p:pic>
        <p:nvPicPr>
          <p:cNvPr id="4" name="Picture 3"/>
          <p:cNvPicPr/>
          <p:nvPr/>
        </p:nvPicPr>
        <p:blipFill>
          <a:blip r:embed="rId2">
            <a:alphaModFix amt="40000"/>
            <a:lum bright="60000" contrast="-12000"/>
          </a:blip>
          <a:stretch>
            <a:fillRect/>
          </a:stretch>
        </p:blipFill>
        <p:spPr>
          <a:xfrm>
            <a:off x="2613025" y="952500"/>
            <a:ext cx="7154545" cy="52050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advClick="0">
        <p159:morph option="byObject"/>
      </p:transition>
    </mc:Choice>
    <mc:Fallback>
      <p:transition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4622165" y="879791"/>
            <a:ext cx="3750310"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Nội Dung Báo </a:t>
            </a:r>
            <a:r>
              <a:rPr lang="vi-VN" altLang="en-US" sz="3200" b="1" dirty="0">
                <a:solidFill>
                  <a:srgbClr val="288098"/>
                </a:solidFill>
                <a:latin typeface="Arial" panose="020B0604020202020204" pitchFamily="34" charset="0"/>
                <a:ea typeface="Arial" panose="020B0604020202020204" pitchFamily="34" charset="0"/>
              </a:rPr>
              <a:t>Cáo</a:t>
            </a:r>
            <a:endParaRPr lang="vi-VN" altLang="en-US" sz="3200" b="1" dirty="0">
              <a:solidFill>
                <a:srgbClr val="288098"/>
              </a:solidFill>
              <a:latin typeface="Arial" panose="020B0604020202020204" pitchFamily="34" charset="0"/>
              <a:ea typeface="Arial" panose="020B0604020202020204" pitchFamily="34" charset="0"/>
            </a:endParaRPr>
          </a:p>
        </p:txBody>
      </p:sp>
      <p:sp>
        <p:nvSpPr>
          <p:cNvPr id="3" name="Text Box 2"/>
          <p:cNvSpPr txBox="1"/>
          <p:nvPr/>
        </p:nvSpPr>
        <p:spPr>
          <a:xfrm>
            <a:off x="3981450" y="1600200"/>
            <a:ext cx="8124825" cy="5507990"/>
          </a:xfrm>
          <a:prstGeom prst="rect">
            <a:avLst/>
          </a:prstGeom>
          <a:noFill/>
          <a:ln>
            <a:solidFill>
              <a:schemeClr val="tx1"/>
            </a:solidFill>
          </a:ln>
        </p:spPr>
        <p:txBody>
          <a:bodyPr wrap="square" rtlCol="0" anchor="t">
            <a:spAutoFit/>
          </a:bodyPr>
          <a:p>
            <a:pPr algn="ctr"/>
            <a:r>
              <a:rPr lang="vi-VN" altLang="en-US" sz="3200" b="1">
                <a:latin typeface="Times New Roman" panose="02020603050405020304" charset="0"/>
                <a:cs typeface="Times New Roman" panose="02020603050405020304" charset="0"/>
                <a:sym typeface="+mn-ea"/>
              </a:rPr>
              <a:t>Tóm tắt đồ án môn học.</a:t>
            </a:r>
            <a:r>
              <a:rPr lang="vi-VN" altLang="en-US" sz="3200">
                <a:latin typeface="Times New Roman" panose="02020603050405020304" charset="0"/>
                <a:cs typeface="Times New Roman" panose="02020603050405020304" charset="0"/>
                <a:sym typeface="+mn-ea"/>
              </a:rPr>
              <a:t> </a:t>
            </a:r>
            <a:endParaRPr lang="vi-VN" altLang="en-US" sz="3200">
              <a:latin typeface="Times New Roman" panose="02020603050405020304" charset="0"/>
              <a:cs typeface="Times New Roman" panose="02020603050405020304" charset="0"/>
            </a:endParaRPr>
          </a:p>
          <a:p>
            <a:pPr algn="ctr"/>
            <a:r>
              <a:rPr lang="vi-VN" altLang="en-US" sz="3200" b="1">
                <a:latin typeface="Times New Roman" panose="02020603050405020304" charset="0"/>
                <a:cs typeface="Times New Roman" panose="02020603050405020304" charset="0"/>
                <a:sym typeface="+mn-ea"/>
              </a:rPr>
              <a:t>Chương 1:</a:t>
            </a:r>
            <a:r>
              <a:rPr lang="vi-VN" altLang="en-US" sz="3200">
                <a:latin typeface="Times New Roman" panose="02020603050405020304" charset="0"/>
                <a:cs typeface="Times New Roman" panose="02020603050405020304" charset="0"/>
                <a:sym typeface="+mn-ea"/>
              </a:rPr>
              <a:t> Mở đầu</a:t>
            </a:r>
            <a:endParaRPr lang="vi-VN" altLang="en-US" sz="3200">
              <a:latin typeface="Times New Roman" panose="02020603050405020304" charset="0"/>
              <a:cs typeface="Times New Roman" panose="02020603050405020304" charset="0"/>
            </a:endParaRPr>
          </a:p>
          <a:p>
            <a:pPr algn="ctr"/>
            <a:r>
              <a:rPr lang="vi-VN" altLang="en-US" sz="3200" b="1">
                <a:latin typeface="Times New Roman" panose="02020603050405020304" charset="0"/>
                <a:cs typeface="Times New Roman" panose="02020603050405020304" charset="0"/>
                <a:sym typeface="+mn-ea"/>
              </a:rPr>
              <a:t>Chương 2:</a:t>
            </a:r>
            <a:r>
              <a:rPr lang="vi-VN" altLang="en-US" sz="3200">
                <a:latin typeface="Times New Roman" panose="02020603050405020304" charset="0"/>
                <a:cs typeface="Times New Roman" panose="02020603050405020304" charset="0"/>
                <a:sym typeface="+mn-ea"/>
              </a:rPr>
              <a:t> Phân tích yêu cầu</a:t>
            </a:r>
            <a:endParaRPr lang="vi-VN" altLang="en-US" sz="3200">
              <a:latin typeface="Times New Roman" panose="02020603050405020304" charset="0"/>
              <a:cs typeface="Times New Roman" panose="02020603050405020304" charset="0"/>
            </a:endParaRPr>
          </a:p>
          <a:p>
            <a:pPr algn="ctr"/>
            <a:r>
              <a:rPr lang="vi-VN" altLang="en-US" sz="3200" b="1">
                <a:latin typeface="Times New Roman" panose="02020603050405020304" charset="0"/>
                <a:cs typeface="Times New Roman" panose="02020603050405020304" charset="0"/>
                <a:sym typeface="+mn-ea"/>
              </a:rPr>
              <a:t>Chương 3:</a:t>
            </a:r>
            <a:r>
              <a:rPr lang="vi-VN" altLang="en-US" sz="3200">
                <a:latin typeface="Times New Roman" panose="02020603050405020304" charset="0"/>
                <a:cs typeface="Times New Roman" panose="02020603050405020304" charset="0"/>
                <a:sym typeface="+mn-ea"/>
              </a:rPr>
              <a:t> Thiết kế hệ </a:t>
            </a:r>
            <a:r>
              <a:rPr lang="vi-VN" altLang="en-US" sz="3200">
                <a:latin typeface="Times New Roman" panose="02020603050405020304" charset="0"/>
                <a:cs typeface="Times New Roman" panose="02020603050405020304" charset="0"/>
                <a:sym typeface="+mn-ea"/>
              </a:rPr>
              <a:t>thống</a:t>
            </a:r>
            <a:endParaRPr lang="vi-VN" altLang="en-US" sz="3200">
              <a:latin typeface="Times New Roman" panose="02020603050405020304" charset="0"/>
              <a:cs typeface="Times New Roman" panose="02020603050405020304" charset="0"/>
              <a:sym typeface="+mn-ea"/>
            </a:endParaRPr>
          </a:p>
          <a:p>
            <a:pPr algn="ctr"/>
            <a:r>
              <a:rPr lang="vi-VN" altLang="en-US" sz="3200" b="1">
                <a:latin typeface="Times New Roman" panose="02020603050405020304" charset="0"/>
                <a:cs typeface="Times New Roman" panose="02020603050405020304" charset="0"/>
                <a:sym typeface="+mn-ea"/>
              </a:rPr>
              <a:t>Chương 4:</a:t>
            </a:r>
            <a:r>
              <a:rPr lang="vi-VN" altLang="en-US" sz="3200">
                <a:latin typeface="Times New Roman" panose="02020603050405020304" charset="0"/>
                <a:cs typeface="Times New Roman" panose="02020603050405020304" charset="0"/>
                <a:sym typeface="+mn-ea"/>
              </a:rPr>
              <a:t> Triển khai và công nghjee sử </a:t>
            </a:r>
            <a:r>
              <a:rPr lang="vi-VN" altLang="en-US" sz="3200">
                <a:latin typeface="Times New Roman" panose="02020603050405020304" charset="0"/>
                <a:cs typeface="Times New Roman" panose="02020603050405020304" charset="0"/>
                <a:sym typeface="+mn-ea"/>
              </a:rPr>
              <a:t>dụng</a:t>
            </a:r>
            <a:endParaRPr lang="vi-VN" altLang="en-US" sz="3200">
              <a:latin typeface="Times New Roman" panose="02020603050405020304" charset="0"/>
              <a:cs typeface="Times New Roman" panose="02020603050405020304" charset="0"/>
              <a:sym typeface="+mn-ea"/>
            </a:endParaRPr>
          </a:p>
          <a:p>
            <a:pPr algn="ctr"/>
            <a:r>
              <a:rPr lang="vi-VN" altLang="en-US" sz="3200" b="1">
                <a:latin typeface="Times New Roman" panose="02020603050405020304" charset="0"/>
                <a:cs typeface="Times New Roman" panose="02020603050405020304" charset="0"/>
                <a:sym typeface="+mn-ea"/>
              </a:rPr>
              <a:t>Chương 5:</a:t>
            </a:r>
            <a:r>
              <a:rPr lang="vi-VN" altLang="en-US" sz="3200">
                <a:latin typeface="Times New Roman" panose="02020603050405020304" charset="0"/>
                <a:cs typeface="Times New Roman" panose="02020603050405020304" charset="0"/>
                <a:sym typeface="+mn-ea"/>
              </a:rPr>
              <a:t> Quản lý dự án</a:t>
            </a:r>
            <a:endParaRPr lang="vi-VN" altLang="en-US" sz="3200">
              <a:latin typeface="Times New Roman" panose="02020603050405020304" charset="0"/>
              <a:cs typeface="Times New Roman" panose="02020603050405020304" charset="0"/>
              <a:sym typeface="+mn-ea"/>
            </a:endParaRPr>
          </a:p>
          <a:p>
            <a:pPr algn="ctr"/>
            <a:r>
              <a:rPr lang="vi-VN" altLang="en-US" sz="3200" b="1">
                <a:latin typeface="Times New Roman" panose="02020603050405020304" charset="0"/>
                <a:cs typeface="Times New Roman" panose="02020603050405020304" charset="0"/>
                <a:sym typeface="+mn-ea"/>
              </a:rPr>
              <a:t>Chương 6:</a:t>
            </a:r>
            <a:r>
              <a:rPr lang="vi-VN" altLang="en-US" sz="3200">
                <a:latin typeface="Times New Roman" panose="02020603050405020304" charset="0"/>
                <a:cs typeface="Times New Roman" panose="02020603050405020304" charset="0"/>
                <a:sym typeface="+mn-ea"/>
              </a:rPr>
              <a:t> Kiểm thử</a:t>
            </a:r>
            <a:endParaRPr lang="vi-VN" altLang="en-US" sz="3200">
              <a:latin typeface="Times New Roman" panose="02020603050405020304" charset="0"/>
              <a:cs typeface="Times New Roman" panose="02020603050405020304" charset="0"/>
              <a:sym typeface="+mn-ea"/>
            </a:endParaRPr>
          </a:p>
          <a:p>
            <a:pPr algn="ctr"/>
            <a:r>
              <a:rPr lang="vi-VN" altLang="en-US" sz="3200" b="1">
                <a:latin typeface="Times New Roman" panose="02020603050405020304" charset="0"/>
                <a:cs typeface="Times New Roman" panose="02020603050405020304" charset="0"/>
                <a:sym typeface="+mn-ea"/>
              </a:rPr>
              <a:t>Chương 7:</a:t>
            </a:r>
            <a:r>
              <a:rPr lang="vi-VN" altLang="en-US" sz="3200">
                <a:latin typeface="Times New Roman" panose="02020603050405020304" charset="0"/>
                <a:cs typeface="Times New Roman" panose="02020603050405020304" charset="0"/>
                <a:sym typeface="+mn-ea"/>
              </a:rPr>
              <a:t> Đánh giá và kết luận</a:t>
            </a:r>
            <a:endParaRPr lang="vi-VN" altLang="en-US" sz="3200">
              <a:latin typeface="Times New Roman" panose="02020603050405020304" charset="0"/>
              <a:cs typeface="Times New Roman" panose="02020603050405020304" charset="0"/>
              <a:sym typeface="+mn-ea"/>
            </a:endParaRPr>
          </a:p>
          <a:p>
            <a:pPr algn="ctr"/>
            <a:r>
              <a:rPr lang="vi-VN" altLang="en-US" sz="3200" b="1">
                <a:latin typeface="Times New Roman" panose="02020603050405020304" charset="0"/>
                <a:cs typeface="Times New Roman" panose="02020603050405020304" charset="0"/>
                <a:sym typeface="+mn-ea"/>
              </a:rPr>
              <a:t>Chương 8:</a:t>
            </a:r>
            <a:r>
              <a:rPr lang="vi-VN" altLang="en-US" sz="3200">
                <a:latin typeface="Times New Roman" panose="02020603050405020304" charset="0"/>
                <a:cs typeface="Times New Roman" panose="02020603050405020304" charset="0"/>
                <a:sym typeface="+mn-ea"/>
              </a:rPr>
              <a:t> Phụ lục</a:t>
            </a:r>
            <a:endParaRPr lang="vi-VN" altLang="en-US" sz="3200">
              <a:latin typeface="Times New Roman" panose="02020603050405020304" charset="0"/>
              <a:cs typeface="Times New Roman" panose="02020603050405020304" charset="0"/>
            </a:endParaRPr>
          </a:p>
          <a:p>
            <a:pPr algn="ctr"/>
            <a:r>
              <a:rPr lang="vi-VN" altLang="en-US" sz="3200" b="1">
                <a:latin typeface="Times New Roman" panose="02020603050405020304" charset="0"/>
                <a:cs typeface="Times New Roman" panose="02020603050405020304" charset="0"/>
                <a:sym typeface="+mn-ea"/>
              </a:rPr>
              <a:t>Tài liệu tham khảo. </a:t>
            </a:r>
            <a:endParaRPr lang="vi-VN" altLang="en-US" sz="3200" b="1" u="heavy">
              <a:latin typeface="Times New Roman" panose="02020603050405020304" charset="0"/>
              <a:cs typeface="Times New Roman" panose="02020603050405020304" charset="0"/>
            </a:endParaRPr>
          </a:p>
          <a:p>
            <a:pPr algn="ctr"/>
            <a:endParaRPr lang="vi-VN" altLang="en-US" sz="3200" b="1" u="heavy">
              <a:latin typeface="Times New Roman" panose="02020603050405020304" charset="0"/>
              <a:cs typeface="Times New Roman" panose="02020603050405020304" charset="0"/>
            </a:endParaRPr>
          </a:p>
        </p:txBody>
      </p:sp>
      <p:pic>
        <p:nvPicPr>
          <p:cNvPr id="4" name="Picture 3"/>
          <p:cNvPicPr/>
          <p:nvPr/>
        </p:nvPicPr>
        <p:blipFill>
          <a:blip r:embed="rId2"/>
          <a:stretch>
            <a:fillRect/>
          </a:stretch>
        </p:blipFill>
        <p:spPr>
          <a:xfrm>
            <a:off x="20955" y="304800"/>
            <a:ext cx="2734945" cy="1995805"/>
          </a:xfrm>
          <a:prstGeom prst="rect">
            <a:avLst/>
          </a:prstGeom>
        </p:spPr>
      </p:pic>
      <p:pic>
        <p:nvPicPr>
          <p:cNvPr id="6" name="Picture 5"/>
          <p:cNvPicPr/>
          <p:nvPr/>
        </p:nvPicPr>
        <p:blipFill>
          <a:blip r:embed="rId3"/>
          <a:stretch>
            <a:fillRect/>
          </a:stretch>
        </p:blipFill>
        <p:spPr>
          <a:xfrm>
            <a:off x="473075" y="2247900"/>
            <a:ext cx="3581400" cy="30308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4046538" y="879791"/>
            <a:ext cx="4901565"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Tóm Tắt Đồ Án Môn </a:t>
            </a:r>
            <a:r>
              <a:rPr lang="vi-VN" altLang="en-US" sz="3200" b="1" dirty="0">
                <a:solidFill>
                  <a:srgbClr val="288098"/>
                </a:solidFill>
                <a:latin typeface="Arial" panose="020B0604020202020204" pitchFamily="34" charset="0"/>
                <a:ea typeface="Arial" panose="020B0604020202020204" pitchFamily="34" charset="0"/>
              </a:rPr>
              <a:t>Học</a:t>
            </a:r>
            <a:endParaRPr lang="vi-VN" altLang="en-US" sz="3200" b="1" dirty="0">
              <a:solidFill>
                <a:srgbClr val="288098"/>
              </a:solidFill>
              <a:latin typeface="Arial" panose="020B0604020202020204" pitchFamily="34" charset="0"/>
              <a:ea typeface="Arial" panose="020B0604020202020204" pitchFamily="34" charset="0"/>
            </a:endParaRPr>
          </a:p>
        </p:txBody>
      </p:sp>
      <p:sp>
        <p:nvSpPr>
          <p:cNvPr id="3" name="Text Box 2"/>
          <p:cNvSpPr txBox="1"/>
          <p:nvPr/>
        </p:nvSpPr>
        <p:spPr>
          <a:xfrm>
            <a:off x="3188970" y="2300605"/>
            <a:ext cx="8256905" cy="2709545"/>
          </a:xfrm>
          <a:prstGeom prst="rect">
            <a:avLst/>
          </a:prstGeom>
          <a:noFill/>
          <a:ln>
            <a:solidFill>
              <a:schemeClr val="tx1"/>
            </a:solidFill>
          </a:ln>
        </p:spPr>
        <p:txBody>
          <a:bodyPr wrap="square" rtlCol="0" anchor="t">
            <a:noAutofit/>
          </a:bodyPr>
          <a:p>
            <a:pPr algn="ctr"/>
            <a:r>
              <a:rPr lang="vi-VN" sz="2000">
                <a:latin typeface="Times New Roman" panose="02020603050405020304" charset="0"/>
                <a:cs typeface="Times New Roman" panose="02020603050405020304" charset="0"/>
              </a:rPr>
              <a:t>-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ồ án “</a:t>
            </a:r>
            <a:r>
              <a:rPr lang="en-US" altLang="en-US" sz="2000" b="1" i="1">
                <a:latin typeface="Times New Roman" panose="02020603050405020304" charset="0"/>
                <a:cs typeface="Times New Roman" panose="02020603050405020304" charset="0"/>
              </a:rPr>
              <a:t>Tìm hiểu về Node.js và xây dựng website nhà hàng Ẩm Thực Ph</a:t>
            </a:r>
            <a:r>
              <a:rPr lang="" altLang="en-US" sz="2000" b="1" i="1">
                <a:latin typeface="Times New Roman" panose="02020603050405020304" charset="0"/>
                <a:cs typeface="Times New Roman" panose="02020603050405020304" charset="0"/>
              </a:rPr>
              <a:t>ư</a:t>
            </a:r>
            <a:r>
              <a:rPr lang="en-US" altLang="en-US" sz="2000" b="1" i="1">
                <a:latin typeface="Times New Roman" panose="02020603050405020304" charset="0"/>
                <a:cs typeface="Times New Roman" panose="02020603050405020304" charset="0"/>
              </a:rPr>
              <a:t>ơng Nam Trà Vinh</a:t>
            </a:r>
            <a:r>
              <a:rPr lang="en-US" altLang="en-US" sz="2000">
                <a:latin typeface="Times New Roman" panose="02020603050405020304" charset="0"/>
                <a:cs typeface="Times New Roman" panose="02020603050405020304" charset="0"/>
              </a:rPr>
              <a:t>” nhằm nghiên cứu nền tảng backend hiện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ại Node.js và áp dụng vào xây dựng website quản l</a:t>
            </a:r>
            <a:r>
              <a:rPr lang="" altLang="en-US" sz="2000">
                <a:latin typeface="Times New Roman" panose="02020603050405020304" charset="0"/>
                <a:cs typeface="Times New Roman" panose="02020603050405020304" charset="0"/>
              </a:rPr>
              <a:t>ý</a:t>
            </a:r>
            <a:r>
              <a:rPr lang="en-US" altLang="en-US" sz="2000">
                <a:latin typeface="Times New Roman" panose="02020603050405020304" charset="0"/>
                <a:cs typeface="Times New Roman" panose="02020603050405020304" charset="0"/>
              </a:rPr>
              <a:t> nhà hàng. Nhóm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ã tìm hiểu về Node.js, Express.js và cách kết nối MySQL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ể xây dựng hệ thống xử l</a:t>
            </a:r>
            <a:r>
              <a:rPr lang="" altLang="en-US" sz="2000">
                <a:latin typeface="Times New Roman" panose="02020603050405020304" charset="0"/>
                <a:cs typeface="Times New Roman" panose="02020603050405020304" charset="0"/>
              </a:rPr>
              <a:t>ý</a:t>
            </a:r>
            <a:r>
              <a:rPr lang="en-US" altLang="en-US" sz="2000">
                <a:latin typeface="Times New Roman" panose="02020603050405020304" charset="0"/>
                <a:cs typeface="Times New Roman" panose="02020603050405020304" charset="0"/>
              </a:rPr>
              <a:t> hiệu quả. Website có các chức n</a:t>
            </a:r>
            <a:r>
              <a:rPr lang="" altLang="en-US" sz="2000">
                <a:latin typeface="Times New Roman" panose="02020603050405020304" charset="0"/>
                <a:cs typeface="Times New Roman" panose="02020603050405020304" charset="0"/>
              </a:rPr>
              <a:t>ă</a:t>
            </a:r>
            <a:r>
              <a:rPr lang="en-US" altLang="en-US" sz="2000">
                <a:latin typeface="Times New Roman" panose="02020603050405020304" charset="0"/>
                <a:cs typeface="Times New Roman" panose="02020603050405020304" charset="0"/>
              </a:rPr>
              <a:t>ng: hiển thị thực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ơn,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ặt bàn,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ặt món, quản l</a:t>
            </a:r>
            <a:r>
              <a:rPr lang="" altLang="en-US" sz="2000">
                <a:latin typeface="Times New Roman" panose="02020603050405020304" charset="0"/>
                <a:cs typeface="Times New Roman" panose="02020603050405020304" charset="0"/>
              </a:rPr>
              <a:t>ý</a:t>
            </a:r>
            <a:r>
              <a:rPr lang="en-US" altLang="en-US" sz="2000">
                <a:latin typeface="Times New Roman" panose="02020603050405020304" charset="0"/>
                <a:cs typeface="Times New Roman" panose="02020603050405020304" charset="0"/>
              </a:rPr>
              <a:t> hóa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ơn và món </a:t>
            </a:r>
            <a:r>
              <a:rPr lang="" altLang="en-US" sz="2000">
                <a:latin typeface="Times New Roman" panose="02020603050405020304" charset="0"/>
                <a:cs typeface="Times New Roman" panose="02020603050405020304" charset="0"/>
              </a:rPr>
              <a:t>ă</a:t>
            </a:r>
            <a:r>
              <a:rPr lang="en-US" altLang="en-US" sz="2000">
                <a:latin typeface="Times New Roman" panose="02020603050405020304" charset="0"/>
                <a:cs typeface="Times New Roman" panose="02020603050405020304" charset="0"/>
              </a:rPr>
              <a:t>n từ giao diện admin. Giao diện thân thiện, responsive, sử dụng HTML, CSS (hoặc Tailwind CSS).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ồ án giúp sinh viên r</a:t>
            </a:r>
            <a:r>
              <a:rPr lang="" altLang="en-US" sz="2000">
                <a:latin typeface="Times New Roman" panose="02020603050405020304" charset="0"/>
                <a:cs typeface="Times New Roman" panose="02020603050405020304" charset="0"/>
              </a:rPr>
              <a:t>è</a:t>
            </a:r>
            <a:r>
              <a:rPr lang="en-US" altLang="en-US" sz="2000">
                <a:latin typeface="Times New Roman" panose="02020603050405020304" charset="0"/>
                <a:cs typeface="Times New Roman" panose="02020603050405020304" charset="0"/>
              </a:rPr>
              <a:t>n kỹ n</a:t>
            </a:r>
            <a:r>
              <a:rPr lang="" altLang="en-US" sz="2000">
                <a:latin typeface="Times New Roman" panose="02020603050405020304" charset="0"/>
                <a:cs typeface="Times New Roman" panose="02020603050405020304" charset="0"/>
              </a:rPr>
              <a:t>ă</a:t>
            </a:r>
            <a:r>
              <a:rPr lang="en-US" altLang="en-US" sz="2000">
                <a:latin typeface="Times New Roman" panose="02020603050405020304" charset="0"/>
                <a:cs typeface="Times New Roman" panose="02020603050405020304" charset="0"/>
              </a:rPr>
              <a:t>ng lập trình web, thiết kế hệ thống và là b</a:t>
            </a:r>
            <a:r>
              <a:rPr lang="" altLang="en-US" sz="2000">
                <a:latin typeface="Times New Roman" panose="02020603050405020304" charset="0"/>
                <a:cs typeface="Times New Roman" panose="02020603050405020304" charset="0"/>
              </a:rPr>
              <a:t>ư</a:t>
            </a:r>
            <a:r>
              <a:rPr lang="en-US" altLang="en-US" sz="2000">
                <a:latin typeface="Times New Roman" panose="02020603050405020304" charset="0"/>
                <a:cs typeface="Times New Roman" panose="02020603050405020304" charset="0"/>
              </a:rPr>
              <a:t>ớc </a:t>
            </a:r>
            <a:r>
              <a:rPr lang="" altLang="en-US" sz="2000">
                <a:latin typeface="Times New Roman" panose="02020603050405020304" charset="0"/>
                <a:cs typeface="Times New Roman" panose="02020603050405020304" charset="0"/>
              </a:rPr>
              <a:t>đ</a:t>
            </a:r>
            <a:r>
              <a:rPr lang="en-US" altLang="en-US" sz="2000">
                <a:latin typeface="Times New Roman" panose="02020603050405020304" charset="0"/>
                <a:cs typeface="Times New Roman" panose="02020603050405020304" charset="0"/>
              </a:rPr>
              <a:t>ệm cho các dự án lớn hơn.</a:t>
            </a:r>
            <a:endParaRPr lang="en-US" altLang="en-US" sz="2000">
              <a:latin typeface="Times New Roman" panose="02020603050405020304" charset="0"/>
              <a:cs typeface="Times New Roman" panose="02020603050405020304" charset="0"/>
            </a:endParaRPr>
          </a:p>
        </p:txBody>
      </p:sp>
      <p:pic>
        <p:nvPicPr>
          <p:cNvPr id="4" name="Picture 3"/>
          <p:cNvPicPr/>
          <p:nvPr/>
        </p:nvPicPr>
        <p:blipFill>
          <a:blip r:embed="rId2"/>
          <a:stretch>
            <a:fillRect/>
          </a:stretch>
        </p:blipFill>
        <p:spPr>
          <a:xfrm>
            <a:off x="20955" y="304800"/>
            <a:ext cx="2734945" cy="1995805"/>
          </a:xfrm>
          <a:prstGeom prst="rect">
            <a:avLst/>
          </a:prstGeom>
        </p:spPr>
      </p:pic>
      <p:pic>
        <p:nvPicPr>
          <p:cNvPr id="5" name="Picture 4"/>
          <p:cNvPicPr/>
          <p:nvPr/>
        </p:nvPicPr>
        <p:blipFill>
          <a:blip r:embed="rId3"/>
          <a:stretch>
            <a:fillRect/>
          </a:stretch>
        </p:blipFill>
        <p:spPr>
          <a:xfrm>
            <a:off x="524510" y="2119630"/>
            <a:ext cx="2314575" cy="2814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4418013" y="879791"/>
            <a:ext cx="4158615"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CHƯƠNG 1: Mở </a:t>
            </a:r>
            <a:r>
              <a:rPr lang="vi-VN" altLang="en-US" sz="3200" b="1" dirty="0">
                <a:solidFill>
                  <a:srgbClr val="288098"/>
                </a:solidFill>
                <a:latin typeface="Arial" panose="020B0604020202020204" pitchFamily="34" charset="0"/>
                <a:ea typeface="Arial" panose="020B0604020202020204" pitchFamily="34" charset="0"/>
              </a:rPr>
              <a:t>Đầu</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3549015" y="2032000"/>
            <a:ext cx="6457315" cy="4192270"/>
          </a:xfrm>
          <a:prstGeom prst="rect">
            <a:avLst/>
          </a:prstGeom>
          <a:ln>
            <a:solidFill>
              <a:schemeClr val="tx1"/>
            </a:solidFill>
          </a:ln>
        </p:spPr>
        <p:txBody>
          <a:bodyPr>
            <a:noAutofit/>
          </a:bodyPr>
          <a:p>
            <a:pPr>
              <a:spcAft>
                <a:spcPct val="0"/>
              </a:spcAft>
            </a:pPr>
            <a:r>
              <a:rPr lang="en-US" altLang="en-US" sz="2400" b="1"/>
              <a:t>Tên dự án</a:t>
            </a:r>
            <a:r>
              <a:rPr lang="en-US" altLang="en-US" sz="2400"/>
              <a:t>: </a:t>
            </a:r>
            <a:r>
              <a:rPr lang="en-US" altLang="en-US" sz="2400" i="1"/>
              <a:t>Website Nhà hàng Ẩm thực Ph</a:t>
            </a:r>
            <a:r>
              <a:rPr lang="" altLang="en-US" sz="2400" i="1"/>
              <a:t>ư</a:t>
            </a:r>
            <a:r>
              <a:rPr lang="en-US" altLang="en-US" sz="2400" i="1"/>
              <a:t>ơng Nam Trà Vinh.</a:t>
            </a:r>
            <a:endParaRPr lang="en-US" altLang="en-US" sz="2400"/>
          </a:p>
          <a:p>
            <a:pPr>
              <a:spcAft>
                <a:spcPct val="0"/>
              </a:spcAft>
            </a:pPr>
            <a:endParaRPr lang="en-US" altLang="en-US" sz="2400"/>
          </a:p>
          <a:p>
            <a:pPr>
              <a:spcAft>
                <a:spcPct val="0"/>
              </a:spcAft>
            </a:pPr>
            <a:r>
              <a:rPr lang="en-US" altLang="en-US" sz="2400" b="1"/>
              <a:t>Bối cảnh:</a:t>
            </a:r>
            <a:r>
              <a:rPr lang="en-US" altLang="en-US" sz="2400"/>
              <a:t> Trong xu thế chuyển </a:t>
            </a:r>
            <a:r>
              <a:rPr lang="" altLang="en-US" sz="2400"/>
              <a:t>đ</a:t>
            </a:r>
            <a:r>
              <a:rPr lang="en-US" altLang="en-US" sz="2400"/>
              <a:t>ổi số của cách mạng công nghiệp 4.0, việc số hóa hoạt </a:t>
            </a:r>
            <a:r>
              <a:rPr lang="" altLang="en-US" sz="2400"/>
              <a:t>đ</a:t>
            </a:r>
            <a:r>
              <a:rPr lang="en-US" altLang="en-US" sz="2400"/>
              <a:t>ộng kinh doanh F&amp;B trở nên cấp thiết. Website là công cụ quan trọng </a:t>
            </a:r>
            <a:r>
              <a:rPr lang="" altLang="en-US" sz="2400"/>
              <a:t>đ</a:t>
            </a:r>
            <a:r>
              <a:rPr lang="en-US" altLang="en-US" sz="2400"/>
              <a:t>ể nhà hàng quảng bá th</a:t>
            </a:r>
            <a:r>
              <a:rPr lang="" altLang="en-US" sz="2400"/>
              <a:t>ư</a:t>
            </a:r>
            <a:r>
              <a:rPr lang="en-US" altLang="en-US" sz="2400"/>
              <a:t>ơng hiệu, tiếp cận khách hàng, tối </a:t>
            </a:r>
            <a:r>
              <a:rPr lang="" altLang="en-US" sz="2400"/>
              <a:t>ư</a:t>
            </a:r>
            <a:r>
              <a:rPr lang="en-US" altLang="en-US" sz="2400"/>
              <a:t>u quy trình vận hành. Dự án </a:t>
            </a:r>
            <a:r>
              <a:rPr lang="" altLang="en-US" sz="2400"/>
              <a:t>đư</a:t>
            </a:r>
            <a:r>
              <a:rPr lang="en-US" altLang="en-US" sz="2400"/>
              <a:t>ợc thực hiện nhằm giúp nhà hàng “Ẩm thực Ph</a:t>
            </a:r>
            <a:r>
              <a:rPr lang="" altLang="en-US" sz="2400"/>
              <a:t>ư</a:t>
            </a:r>
            <a:r>
              <a:rPr lang="en-US" altLang="en-US" sz="2400"/>
              <a:t>ơng Nam” tại Trà Vinh sở hữu một nền tảng trực tuyến chuyên nghiệp.</a:t>
            </a:r>
            <a:endParaRPr lang="en-US" altLang="en-US" sz="2400"/>
          </a:p>
        </p:txBody>
      </p:sp>
      <p:pic>
        <p:nvPicPr>
          <p:cNvPr id="9" name="Picture 8"/>
          <p:cNvPicPr/>
          <p:nvPr/>
        </p:nvPicPr>
        <p:blipFill>
          <a:blip r:embed="rId3"/>
          <a:stretch>
            <a:fillRect/>
          </a:stretch>
        </p:blipFill>
        <p:spPr>
          <a:xfrm>
            <a:off x="1388745" y="2607945"/>
            <a:ext cx="1860550" cy="2661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4418013" y="879791"/>
            <a:ext cx="4158615"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CHƯƠNG 1: Mở </a:t>
            </a:r>
            <a:r>
              <a:rPr lang="vi-VN" altLang="en-US" sz="3200" b="1" dirty="0">
                <a:solidFill>
                  <a:srgbClr val="288098"/>
                </a:solidFill>
                <a:latin typeface="Arial" panose="020B0604020202020204" pitchFamily="34" charset="0"/>
                <a:ea typeface="Arial" panose="020B0604020202020204" pitchFamily="34" charset="0"/>
              </a:rPr>
              <a:t>Đầu</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5" name="Text Box 4"/>
          <p:cNvSpPr txBox="1"/>
          <p:nvPr/>
        </p:nvSpPr>
        <p:spPr>
          <a:xfrm>
            <a:off x="5205095" y="1527810"/>
            <a:ext cx="2294890" cy="422910"/>
          </a:xfrm>
          <a:prstGeom prst="rect">
            <a:avLst/>
          </a:prstGeom>
          <a:ln>
            <a:solidFill>
              <a:schemeClr val="tx1"/>
            </a:solidFill>
          </a:ln>
        </p:spPr>
        <p:txBody>
          <a:bodyPr wrap="square">
            <a:noAutofit/>
          </a:bodyPr>
          <a:p>
            <a:pPr>
              <a:spcAft>
                <a:spcPct val="0"/>
              </a:spcAft>
            </a:pPr>
            <a:r>
              <a:rPr lang="en-US" altLang="en-US" sz="2400" b="1"/>
              <a:t>Mục tiêu dự án:</a:t>
            </a:r>
            <a:endParaRPr lang="en-US" altLang="en-US" sz="2400" b="1"/>
          </a:p>
          <a:p>
            <a:pPr>
              <a:buFont typeface="Arial" panose="020B0604020202020204"/>
              <a:buChar char="•"/>
            </a:pPr>
            <a:endParaRPr lang="en-US" altLang="zh-CN" sz="2400"/>
          </a:p>
        </p:txBody>
      </p:sp>
      <p:sp>
        <p:nvSpPr>
          <p:cNvPr id="2" name="Text Box 1"/>
          <p:cNvSpPr txBox="1"/>
          <p:nvPr/>
        </p:nvSpPr>
        <p:spPr>
          <a:xfrm>
            <a:off x="1172845" y="2823528"/>
            <a:ext cx="5080000" cy="2553335"/>
          </a:xfrm>
          <a:prstGeom prst="rect">
            <a:avLst/>
          </a:prstGeom>
          <a:ln>
            <a:solidFill>
              <a:schemeClr val="tx1"/>
            </a:solidFill>
          </a:ln>
        </p:spPr>
        <p:txBody>
          <a:bodyPr>
            <a:spAutoFit/>
          </a:bodyPr>
          <a:p>
            <a:r>
              <a:rPr lang="en-US" altLang="zh-CN" sz="1600" b="1"/>
              <a:t>Nghiệp vụ:</a:t>
            </a:r>
            <a:endParaRPr lang="en-US" altLang="zh-CN" sz="1600" b="1"/>
          </a:p>
          <a:p>
            <a:endParaRPr lang="en-US" altLang="zh-CN" sz="1600"/>
          </a:p>
          <a:p>
            <a:pPr>
              <a:buFont typeface="Arial" panose="020B0604020202020204"/>
              <a:buChar char="•"/>
            </a:pPr>
            <a:r>
              <a:rPr lang="en-US" altLang="zh-CN" sz="1600"/>
              <a:t>Nâng cao hình ảnh thương hiệu qua website hiện đại.</a:t>
            </a:r>
            <a:endParaRPr lang="en-US" altLang="zh-CN" sz="1600"/>
          </a:p>
          <a:p>
            <a:pPr>
              <a:buFont typeface="Arial" panose="020B0604020202020204"/>
              <a:buChar char="•"/>
            </a:pPr>
            <a:endParaRPr lang="en-US" altLang="zh-CN" sz="1600"/>
          </a:p>
          <a:p>
            <a:pPr>
              <a:buFont typeface="Arial" panose="020B0604020202020204"/>
              <a:buChar char="•"/>
            </a:pPr>
            <a:r>
              <a:rPr lang="en-US" altLang="zh-CN" sz="1600"/>
              <a:t>Tăng hiệu quả kinh doanh nhờ tính năng đặt bàn trực tuyến.</a:t>
            </a:r>
            <a:endParaRPr lang="en-US" altLang="zh-CN" sz="1600"/>
          </a:p>
          <a:p>
            <a:pPr>
              <a:buFont typeface="Arial" panose="020B0604020202020204"/>
              <a:buChar char="•"/>
            </a:pPr>
            <a:endParaRPr lang="en-US" altLang="zh-CN" sz="1600"/>
          </a:p>
          <a:p>
            <a:pPr>
              <a:buFont typeface="Arial" panose="020B0604020202020204"/>
              <a:buChar char="•"/>
            </a:pPr>
            <a:r>
              <a:rPr lang="en-US" altLang="zh-CN" sz="1600"/>
              <a:t>Tối ưu quản lý qua giao diện quản trị thân thiện.</a:t>
            </a:r>
            <a:endParaRPr lang="en-US" altLang="zh-CN" sz="1600"/>
          </a:p>
          <a:p>
            <a:pPr>
              <a:buFont typeface="Arial" panose="020B0604020202020204"/>
              <a:buChar char="•"/>
            </a:pPr>
            <a:endParaRPr lang="en-US" altLang="zh-CN" sz="1600"/>
          </a:p>
          <a:p>
            <a:pPr>
              <a:buFont typeface="Arial" panose="020B0604020202020204"/>
              <a:buChar char="•"/>
            </a:pPr>
            <a:r>
              <a:rPr lang="en-US" altLang="zh-CN" sz="1600"/>
              <a:t>Mở rộng tiếp cận khách hàng thông qua môi trường số.</a:t>
            </a:r>
            <a:endParaRPr lang="en-US" altLang="zh-CN" sz="1600"/>
          </a:p>
        </p:txBody>
      </p:sp>
      <p:sp>
        <p:nvSpPr>
          <p:cNvPr id="3" name="Text Box 2"/>
          <p:cNvSpPr txBox="1"/>
          <p:nvPr/>
        </p:nvSpPr>
        <p:spPr>
          <a:xfrm>
            <a:off x="6717665" y="2823528"/>
            <a:ext cx="5080000" cy="2306955"/>
          </a:xfrm>
          <a:prstGeom prst="rect">
            <a:avLst/>
          </a:prstGeom>
          <a:ln>
            <a:solidFill>
              <a:schemeClr val="tx1"/>
            </a:solidFill>
          </a:ln>
        </p:spPr>
        <p:txBody>
          <a:bodyPr>
            <a:spAutoFit/>
          </a:bodyPr>
          <a:p>
            <a:r>
              <a:rPr lang="en-US" altLang="zh-CN" sz="1600" b="1"/>
              <a:t>Kỹ thuật:</a:t>
            </a:r>
            <a:endParaRPr lang="en-US" altLang="zh-CN" sz="1600" b="1"/>
          </a:p>
          <a:p>
            <a:endParaRPr lang="en-US" altLang="zh-CN" sz="1600"/>
          </a:p>
          <a:p>
            <a:pPr>
              <a:buFont typeface="Arial" panose="020B0604020202020204"/>
              <a:buChar char="•"/>
            </a:pPr>
            <a:r>
              <a:rPr lang="en-US" altLang="zh-CN" sz="1600"/>
              <a:t>Nghiên cứu và áp dụng Node.js, Express.js, MySQL.</a:t>
            </a:r>
            <a:endParaRPr lang="en-US" altLang="zh-CN" sz="1600"/>
          </a:p>
          <a:p>
            <a:pPr>
              <a:buFont typeface="Arial" panose="020B0604020202020204"/>
              <a:buChar char="•"/>
            </a:pPr>
            <a:endParaRPr lang="en-US" altLang="zh-CN" sz="1600"/>
          </a:p>
          <a:p>
            <a:pPr>
              <a:buFont typeface="Arial" panose="020B0604020202020204"/>
              <a:buChar char="•"/>
            </a:pPr>
            <a:r>
              <a:rPr lang="en-US" altLang="zh-CN" sz="1600"/>
              <a:t>Xây dựng hệ thống RESTful API.</a:t>
            </a:r>
            <a:endParaRPr lang="en-US" altLang="zh-CN" sz="1600"/>
          </a:p>
          <a:p>
            <a:pPr>
              <a:buFont typeface="Arial" panose="020B0604020202020204"/>
              <a:buChar char="•"/>
            </a:pPr>
            <a:endParaRPr lang="en-US" altLang="zh-CN" sz="1600"/>
          </a:p>
          <a:p>
            <a:pPr>
              <a:buFont typeface="Arial" panose="020B0604020202020204"/>
              <a:buChar char="•"/>
            </a:pPr>
            <a:r>
              <a:rPr lang="en-US" altLang="zh-CN" sz="1600"/>
              <a:t>Triển khai CI/CD với Docker, GitHub Actions.</a:t>
            </a:r>
            <a:endParaRPr lang="en-US" altLang="zh-CN" sz="1600"/>
          </a:p>
          <a:p>
            <a:pPr>
              <a:buFont typeface="Arial" panose="020B0604020202020204"/>
              <a:buChar char="•"/>
            </a:pPr>
            <a:endParaRPr lang="en-US" altLang="zh-CN" sz="1600"/>
          </a:p>
          <a:p>
            <a:pPr>
              <a:buFont typeface="Arial" panose="020B0604020202020204"/>
              <a:buChar char="•"/>
            </a:pPr>
            <a:r>
              <a:rPr lang="en-US" altLang="zh-CN" sz="1600"/>
              <a:t>Áp dụng quy trình phát triển phần mềm bài bản.</a:t>
            </a:r>
            <a:endParaRPr lang="en-US" altLang="zh-CN" sz="1600"/>
          </a:p>
        </p:txBody>
      </p:sp>
      <p:cxnSp>
        <p:nvCxnSpPr>
          <p:cNvPr id="6" name="Straight Arrow Connector 5"/>
          <p:cNvCxnSpPr>
            <a:stCxn id="5" idx="2"/>
            <a:endCxn id="2" idx="0"/>
          </p:cNvCxnSpPr>
          <p:nvPr/>
        </p:nvCxnSpPr>
        <p:spPr>
          <a:xfrm flipH="1">
            <a:off x="3712845" y="1950720"/>
            <a:ext cx="2639695" cy="8731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Straight Arrow Connector 7"/>
          <p:cNvCxnSpPr>
            <a:stCxn id="5" idx="2"/>
            <a:endCxn id="3" idx="0"/>
          </p:cNvCxnSpPr>
          <p:nvPr/>
        </p:nvCxnSpPr>
        <p:spPr>
          <a:xfrm>
            <a:off x="6352540" y="1950720"/>
            <a:ext cx="2905125" cy="8731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4418013" y="879791"/>
            <a:ext cx="4158615"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CHƯƠNG 1: Mở </a:t>
            </a:r>
            <a:r>
              <a:rPr lang="vi-VN" altLang="en-US" sz="3200" b="1" dirty="0">
                <a:solidFill>
                  <a:srgbClr val="288098"/>
                </a:solidFill>
                <a:latin typeface="Arial" panose="020B0604020202020204" pitchFamily="34" charset="0"/>
                <a:ea typeface="Arial" panose="020B0604020202020204" pitchFamily="34" charset="0"/>
              </a:rPr>
              <a:t>Đầu</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5" name="Text Box 4"/>
          <p:cNvSpPr txBox="1"/>
          <p:nvPr/>
        </p:nvSpPr>
        <p:spPr>
          <a:xfrm>
            <a:off x="4197350" y="2536190"/>
            <a:ext cx="7237095" cy="1938020"/>
          </a:xfrm>
          <a:prstGeom prst="rect">
            <a:avLst/>
          </a:prstGeom>
          <a:ln>
            <a:solidFill>
              <a:schemeClr val="tx1"/>
            </a:solidFill>
          </a:ln>
        </p:spPr>
        <p:txBody>
          <a:bodyPr wrap="square">
            <a:spAutoFit/>
          </a:bodyPr>
          <a:p>
            <a:pPr>
              <a:spcAft>
                <a:spcPct val="0"/>
              </a:spcAft>
            </a:pPr>
            <a:r>
              <a:rPr lang="en-US" altLang="en-US" sz="2400" b="1"/>
              <a:t>L</a:t>
            </a:r>
            <a:r>
              <a:rPr lang="" altLang="en-US" sz="2400" b="1"/>
              <a:t>ý</a:t>
            </a:r>
            <a:r>
              <a:rPr lang="en-US" altLang="en-US" sz="2400" b="1"/>
              <a:t> do chọn </a:t>
            </a:r>
            <a:r>
              <a:rPr lang="" altLang="en-US" sz="2400" b="1"/>
              <a:t>đ</a:t>
            </a:r>
            <a:r>
              <a:rPr lang="en-US" altLang="en-US" sz="2400" b="1"/>
              <a:t>ề tài:</a:t>
            </a:r>
            <a:endParaRPr lang="en-US" altLang="en-US" sz="2400" b="1"/>
          </a:p>
          <a:p>
            <a:pPr indent="457200">
              <a:spcAft>
                <a:spcPct val="0"/>
              </a:spcAft>
            </a:pPr>
            <a:r>
              <a:rPr lang="" altLang="en-US" sz="2400"/>
              <a:t>Đ</a:t>
            </a:r>
            <a:r>
              <a:rPr lang="en-US" altLang="en-US" sz="2400"/>
              <a:t>ề tài mang tính thực tiễn cao, vừa tầm sinh viên, </a:t>
            </a:r>
            <a:r>
              <a:rPr lang="" altLang="en-US" sz="2400"/>
              <a:t>đ</a:t>
            </a:r>
            <a:r>
              <a:rPr lang="en-US" altLang="en-US" sz="2400"/>
              <a:t>ồng thời giúp r</a:t>
            </a:r>
            <a:r>
              <a:rPr lang="" altLang="en-US" sz="2400"/>
              <a:t>è</a:t>
            </a:r>
            <a:r>
              <a:rPr lang="en-US" altLang="en-US" sz="2400"/>
              <a:t>n luyện kỹ n</a:t>
            </a:r>
            <a:r>
              <a:rPr lang="" altLang="en-US" sz="2400"/>
              <a:t>ă</a:t>
            </a:r>
            <a:r>
              <a:rPr lang="en-US" altLang="en-US" sz="2400"/>
              <a:t>ng backend, frontend và DevOps – mô phỏng toàn diện quá trình phát triển phần mềm thực tế.</a:t>
            </a:r>
            <a:endParaRPr lang="en-US" altLang="en-US" sz="2400"/>
          </a:p>
        </p:txBody>
      </p:sp>
      <p:pic>
        <p:nvPicPr>
          <p:cNvPr id="2" name="Picture 1"/>
          <p:cNvPicPr/>
          <p:nvPr/>
        </p:nvPicPr>
        <p:blipFill>
          <a:blip r:embed="rId3"/>
          <a:stretch>
            <a:fillRect/>
          </a:stretch>
        </p:blipFill>
        <p:spPr>
          <a:xfrm>
            <a:off x="668655" y="2103755"/>
            <a:ext cx="3317240" cy="28759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672" y="87630"/>
            <a:ext cx="12858397" cy="7232650"/>
          </a:xfrm>
          <a:prstGeom prst="rect">
            <a:avLst/>
          </a:prstGeom>
        </p:spPr>
      </p:pic>
      <p:sp>
        <p:nvSpPr>
          <p:cNvPr id="7" name="文本框 6"/>
          <p:cNvSpPr txBox="1"/>
          <p:nvPr/>
        </p:nvSpPr>
        <p:spPr>
          <a:xfrm>
            <a:off x="4418013" y="879791"/>
            <a:ext cx="4158615"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CHƯƠNG 1: Mở </a:t>
            </a:r>
            <a:r>
              <a:rPr lang="vi-VN" altLang="en-US" sz="3200" b="1" dirty="0">
                <a:solidFill>
                  <a:srgbClr val="288098"/>
                </a:solidFill>
                <a:latin typeface="Arial" panose="020B0604020202020204" pitchFamily="34" charset="0"/>
                <a:ea typeface="Arial" panose="020B0604020202020204" pitchFamily="34" charset="0"/>
              </a:rPr>
              <a:t>Đầu</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5" name="Text Box 4"/>
          <p:cNvSpPr txBox="1"/>
          <p:nvPr/>
        </p:nvSpPr>
        <p:spPr>
          <a:xfrm>
            <a:off x="812800" y="2752090"/>
            <a:ext cx="4795520" cy="2861310"/>
          </a:xfrm>
          <a:prstGeom prst="rect">
            <a:avLst/>
          </a:prstGeom>
          <a:ln>
            <a:solidFill>
              <a:schemeClr val="tx1"/>
            </a:solidFill>
          </a:ln>
        </p:spPr>
        <p:txBody>
          <a:bodyPr wrap="square">
            <a:spAutoFit/>
          </a:bodyPr>
          <a:p>
            <a:pPr>
              <a:spcAft>
                <a:spcPct val="0"/>
              </a:spcAft>
            </a:pPr>
            <a:r>
              <a:rPr lang="en-US" altLang="en-US" sz="2000" b="1"/>
              <a:t>Trong phạm vi:</a:t>
            </a:r>
            <a:endParaRPr lang="en-US" altLang="en-US" sz="2000" b="1"/>
          </a:p>
          <a:p>
            <a:pPr>
              <a:spcAft>
                <a:spcPct val="0"/>
              </a:spcAft>
            </a:pPr>
            <a:endParaRPr lang="en-US" altLang="en-US" sz="2000"/>
          </a:p>
          <a:p>
            <a:pPr>
              <a:spcAft>
                <a:spcPct val="0"/>
              </a:spcAft>
            </a:pPr>
            <a:r>
              <a:rPr lang="en-US" altLang="en-US" sz="2000"/>
              <a:t>Chức n</a:t>
            </a:r>
            <a:r>
              <a:rPr lang="" altLang="en-US" sz="2000"/>
              <a:t>ă</a:t>
            </a:r>
            <a:r>
              <a:rPr lang="en-US" altLang="en-US" sz="2000"/>
              <a:t>ng: xem thực </a:t>
            </a:r>
            <a:r>
              <a:rPr lang="" altLang="en-US" sz="2000"/>
              <a:t>đ</a:t>
            </a:r>
            <a:r>
              <a:rPr lang="en-US" altLang="en-US" sz="2000"/>
              <a:t>ơn, </a:t>
            </a:r>
            <a:r>
              <a:rPr lang="" altLang="en-US" sz="2000"/>
              <a:t>đ</a:t>
            </a:r>
            <a:r>
              <a:rPr lang="en-US" altLang="en-US" sz="2000"/>
              <a:t>ặt bàn (user); quản l</a:t>
            </a:r>
            <a:r>
              <a:rPr lang="" altLang="en-US" sz="2000"/>
              <a:t>ý</a:t>
            </a:r>
            <a:r>
              <a:rPr lang="en-US" altLang="en-US" sz="2000"/>
              <a:t> thực </a:t>
            </a:r>
            <a:r>
              <a:rPr lang="" altLang="en-US" sz="2000"/>
              <a:t>đ</a:t>
            </a:r>
            <a:r>
              <a:rPr lang="en-US" altLang="en-US" sz="2000"/>
              <a:t>ơn, danh mục, </a:t>
            </a:r>
            <a:r>
              <a:rPr lang="" altLang="en-US" sz="2000"/>
              <a:t>đ</a:t>
            </a:r>
            <a:r>
              <a:rPr lang="en-US" altLang="en-US" sz="2000"/>
              <a:t>ặt bàn (admin).</a:t>
            </a:r>
            <a:endParaRPr lang="en-US" altLang="en-US" sz="2000"/>
          </a:p>
          <a:p>
            <a:pPr>
              <a:spcAft>
                <a:spcPct val="0"/>
              </a:spcAft>
            </a:pPr>
            <a:endParaRPr lang="en-US" altLang="en-US" sz="2000"/>
          </a:p>
          <a:p>
            <a:pPr>
              <a:spcAft>
                <a:spcPct val="0"/>
              </a:spcAft>
            </a:pPr>
            <a:r>
              <a:rPr lang="en-US" altLang="en-US" sz="2000"/>
              <a:t>Triển khai trên máy chủ ảo dùng Docker.</a:t>
            </a:r>
            <a:endParaRPr lang="en-US" altLang="en-US" sz="2000"/>
          </a:p>
          <a:p>
            <a:pPr>
              <a:spcAft>
                <a:spcPct val="0"/>
              </a:spcAft>
            </a:pPr>
            <a:endParaRPr lang="en-US" altLang="en-US" sz="2000"/>
          </a:p>
          <a:p>
            <a:pPr>
              <a:spcAft>
                <a:spcPct val="0"/>
              </a:spcAft>
            </a:pPr>
            <a:r>
              <a:rPr lang="en-US" altLang="en-US" sz="2000"/>
              <a:t>Thiết lập CI/CD cơ bản.</a:t>
            </a:r>
            <a:endParaRPr lang="en-US" altLang="en-US" sz="2000"/>
          </a:p>
        </p:txBody>
      </p:sp>
      <p:sp>
        <p:nvSpPr>
          <p:cNvPr id="2" name="Text Box 1"/>
          <p:cNvSpPr txBox="1"/>
          <p:nvPr/>
        </p:nvSpPr>
        <p:spPr>
          <a:xfrm>
            <a:off x="7365365" y="2679700"/>
            <a:ext cx="4413885" cy="2245360"/>
          </a:xfrm>
          <a:prstGeom prst="rect">
            <a:avLst/>
          </a:prstGeom>
          <a:ln>
            <a:solidFill>
              <a:schemeClr val="tx1"/>
            </a:solidFill>
          </a:ln>
        </p:spPr>
        <p:txBody>
          <a:bodyPr wrap="square">
            <a:spAutoFit/>
          </a:bodyPr>
          <a:p>
            <a:pPr>
              <a:spcAft>
                <a:spcPct val="0"/>
              </a:spcAft>
            </a:pPr>
            <a:r>
              <a:rPr lang="en-US" altLang="en-US" sz="2000" b="1"/>
              <a:t>Ngoài phạm vi:</a:t>
            </a:r>
            <a:endParaRPr lang="en-US" altLang="en-US" sz="2000" b="1"/>
          </a:p>
          <a:p>
            <a:pPr>
              <a:spcAft>
                <a:spcPct val="0"/>
              </a:spcAft>
            </a:pPr>
            <a:endParaRPr lang="en-US" altLang="en-US" sz="2000"/>
          </a:p>
          <a:p>
            <a:pPr>
              <a:spcAft>
                <a:spcPct val="0"/>
              </a:spcAft>
            </a:pPr>
            <a:r>
              <a:rPr lang="en-US" altLang="en-US" sz="2000"/>
              <a:t>Tài khoản khách hàng.</a:t>
            </a:r>
            <a:endParaRPr lang="en-US" altLang="en-US" sz="2000"/>
          </a:p>
          <a:p>
            <a:pPr>
              <a:spcAft>
                <a:spcPct val="0"/>
              </a:spcAft>
            </a:pPr>
            <a:endParaRPr lang="en-US" altLang="en-US" sz="2000"/>
          </a:p>
          <a:p>
            <a:pPr>
              <a:spcAft>
                <a:spcPct val="0"/>
              </a:spcAft>
            </a:pPr>
            <a:r>
              <a:rPr lang="" altLang="en-US" sz="2000"/>
              <a:t>Đ</a:t>
            </a:r>
            <a:r>
              <a:rPr lang="en-US" altLang="en-US" sz="2000"/>
              <a:t>ặt món, giao hàng online.</a:t>
            </a:r>
            <a:endParaRPr lang="en-US" altLang="en-US" sz="2000"/>
          </a:p>
          <a:p>
            <a:pPr>
              <a:spcAft>
                <a:spcPct val="0"/>
              </a:spcAft>
            </a:pPr>
            <a:endParaRPr lang="en-US" altLang="en-US" sz="2000"/>
          </a:p>
          <a:p>
            <a:pPr>
              <a:spcAft>
                <a:spcPct val="0"/>
              </a:spcAft>
            </a:pPr>
            <a:r>
              <a:rPr lang="en-US" altLang="en-US" sz="2000"/>
              <a:t>Cổng thanh toán &amp; </a:t>
            </a:r>
            <a:r>
              <a:rPr lang="" altLang="en-US" sz="2000"/>
              <a:t>đ</a:t>
            </a:r>
            <a:r>
              <a:rPr lang="en-US" altLang="en-US" sz="2000"/>
              <a:t>ánh giá ng</a:t>
            </a:r>
            <a:r>
              <a:rPr lang="" altLang="en-US" sz="2000"/>
              <a:t>ư</a:t>
            </a:r>
            <a:r>
              <a:rPr lang="en-US" altLang="en-US" sz="2000"/>
              <a:t>ời dùng.</a:t>
            </a:r>
            <a:endParaRPr lang="en-US" altLang="en-US" sz="2000"/>
          </a:p>
        </p:txBody>
      </p:sp>
      <p:sp>
        <p:nvSpPr>
          <p:cNvPr id="3" name="Text Box 2"/>
          <p:cNvSpPr txBox="1"/>
          <p:nvPr/>
        </p:nvSpPr>
        <p:spPr>
          <a:xfrm>
            <a:off x="5306695" y="1599565"/>
            <a:ext cx="2381250" cy="460375"/>
          </a:xfrm>
          <a:prstGeom prst="rect">
            <a:avLst/>
          </a:prstGeom>
          <a:ln>
            <a:solidFill>
              <a:schemeClr val="tx1"/>
            </a:solidFill>
          </a:ln>
        </p:spPr>
        <p:txBody>
          <a:bodyPr wrap="square">
            <a:spAutoFit/>
          </a:bodyPr>
          <a:p>
            <a:r>
              <a:rPr lang="en-US" altLang="zh-CN" sz="2400" b="1"/>
              <a:t>Phạm vi dự án</a:t>
            </a:r>
            <a:endParaRPr lang="en-US" altLang="zh-CN" sz="2400" b="1"/>
          </a:p>
        </p:txBody>
      </p:sp>
      <p:cxnSp>
        <p:nvCxnSpPr>
          <p:cNvPr id="6" name="Straight Arrow Connector 5"/>
          <p:cNvCxnSpPr>
            <a:stCxn id="3" idx="2"/>
            <a:endCxn id="5" idx="0"/>
          </p:cNvCxnSpPr>
          <p:nvPr/>
        </p:nvCxnSpPr>
        <p:spPr>
          <a:xfrm flipH="1">
            <a:off x="3210560" y="2059940"/>
            <a:ext cx="3286760" cy="6921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Straight Arrow Connector 7"/>
          <p:cNvCxnSpPr>
            <a:stCxn id="3" idx="2"/>
            <a:endCxn id="2" idx="0"/>
          </p:cNvCxnSpPr>
          <p:nvPr/>
        </p:nvCxnSpPr>
        <p:spPr>
          <a:xfrm>
            <a:off x="6497320" y="2059940"/>
            <a:ext cx="3075305" cy="6197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109913" y="879791"/>
            <a:ext cx="6774815"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2.</a:t>
            </a:r>
            <a:r>
              <a:rPr lang="vi-VN" altLang="en-US" sz="3200" b="1" dirty="0">
                <a:solidFill>
                  <a:srgbClr val="288098"/>
                </a:solidFill>
                <a:latin typeface="Arial" panose="020B0604020202020204" pitchFamily="34" charset="0"/>
                <a:ea typeface="Arial" panose="020B0604020202020204" pitchFamily="34" charset="0"/>
              </a:rPr>
              <a:t> PHÂN TÍCH YÊU </a:t>
            </a:r>
            <a:r>
              <a:rPr lang="vi-VN" altLang="en-US" sz="3200" b="1" dirty="0">
                <a:solidFill>
                  <a:srgbClr val="288098"/>
                </a:solidFill>
                <a:latin typeface="Arial" panose="020B0604020202020204" pitchFamily="34" charset="0"/>
                <a:ea typeface="Arial" panose="020B0604020202020204" pitchFamily="34" charset="0"/>
              </a:rPr>
              <a:t>CẦU</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3" name="Text Box 2"/>
          <p:cNvSpPr txBox="1"/>
          <p:nvPr/>
        </p:nvSpPr>
        <p:spPr>
          <a:xfrm>
            <a:off x="1964690" y="1887855"/>
            <a:ext cx="5080000" cy="1425575"/>
          </a:xfrm>
          <a:prstGeom prst="rect">
            <a:avLst/>
          </a:prstGeom>
          <a:ln>
            <a:solidFill>
              <a:schemeClr val="tx1"/>
            </a:solidFill>
          </a:ln>
        </p:spPr>
        <p:txBody>
          <a:bodyPr>
            <a:noAutofit/>
          </a:bodyPr>
          <a:p>
            <a:pPr>
              <a:spcAft>
                <a:spcPct val="0"/>
              </a:spcAft>
            </a:pPr>
            <a:r>
              <a:rPr lang="en-US" altLang="en-US" sz="2000" b="1"/>
              <a:t>2.1. Giới thiệu</a:t>
            </a:r>
            <a:endParaRPr lang="en-US" altLang="en-US" sz="2000" b="1"/>
          </a:p>
          <a:p>
            <a:pPr>
              <a:spcAft>
                <a:spcPct val="0"/>
              </a:spcAft>
            </a:pPr>
            <a:r>
              <a:rPr lang="en-US" altLang="en-US" sz="1600"/>
              <a:t>Phân tích yêu cầu là b</a:t>
            </a:r>
            <a:r>
              <a:rPr lang="" altLang="en-US" sz="1600"/>
              <a:t>ư</a:t>
            </a:r>
            <a:r>
              <a:rPr lang="en-US" altLang="en-US" sz="1600"/>
              <a:t>ớc nền tảng giúp xác </a:t>
            </a:r>
            <a:r>
              <a:rPr lang="" altLang="en-US" sz="1600"/>
              <a:t>đ</a:t>
            </a:r>
            <a:r>
              <a:rPr lang="en-US" altLang="en-US" sz="1600"/>
              <a:t>ịnh chính xác nhu cầu ng</a:t>
            </a:r>
            <a:r>
              <a:rPr lang="" altLang="en-US" sz="1600"/>
              <a:t>ư</a:t>
            </a:r>
            <a:r>
              <a:rPr lang="en-US" altLang="en-US" sz="1600"/>
              <a:t>ời dùng và </a:t>
            </a:r>
            <a:r>
              <a:rPr lang="" altLang="en-US" sz="1600"/>
              <a:t>đ</a:t>
            </a:r>
            <a:r>
              <a:rPr lang="en-US" altLang="en-US" sz="1600"/>
              <a:t>ịnh h</a:t>
            </a:r>
            <a:r>
              <a:rPr lang="" altLang="en-US" sz="1600"/>
              <a:t>ư</a:t>
            </a:r>
            <a:r>
              <a:rPr lang="en-US" altLang="en-US" sz="1600"/>
              <a:t>ớng thiết kế hệ thống. Dự án tập trung làm r</a:t>
            </a:r>
            <a:r>
              <a:rPr lang="" altLang="en-US" sz="1600"/>
              <a:t>õ</a:t>
            </a:r>
            <a:r>
              <a:rPr lang="en-US" altLang="en-US" sz="1600"/>
              <a:t> yêu cầu chức n</a:t>
            </a:r>
            <a:r>
              <a:rPr lang="" altLang="en-US" sz="1600"/>
              <a:t>ă</a:t>
            </a:r>
            <a:r>
              <a:rPr lang="en-US" altLang="en-US" sz="1600"/>
              <a:t>ng (hệ thống làm gì) và phi chức n</a:t>
            </a:r>
            <a:r>
              <a:rPr lang="" altLang="en-US" sz="1600"/>
              <a:t>ă</a:t>
            </a:r>
            <a:r>
              <a:rPr lang="en-US" altLang="en-US" sz="1600"/>
              <a:t>ng (hệ thống nh</a:t>
            </a:r>
            <a:r>
              <a:rPr lang="" altLang="en-US" sz="1600"/>
              <a:t>ư</a:t>
            </a:r>
            <a:r>
              <a:rPr lang="en-US" altLang="en-US" sz="1600"/>
              <a:t> thế nào).</a:t>
            </a:r>
            <a:endParaRPr lang="en-US" altLang="en-US" sz="1600"/>
          </a:p>
          <a:p>
            <a:pPr>
              <a:spcAft>
                <a:spcPct val="0"/>
              </a:spcAft>
            </a:pPr>
            <a:endParaRPr lang="en-US" altLang="en-US" sz="1600"/>
          </a:p>
          <a:p>
            <a:pPr>
              <a:spcAft>
                <a:spcPct val="0"/>
              </a:spcAft>
            </a:pPr>
            <a:endParaRPr lang="en-US" altLang="en-US" sz="1600"/>
          </a:p>
        </p:txBody>
      </p:sp>
      <p:sp>
        <p:nvSpPr>
          <p:cNvPr id="6" name="Text Box 5"/>
          <p:cNvSpPr txBox="1"/>
          <p:nvPr/>
        </p:nvSpPr>
        <p:spPr>
          <a:xfrm>
            <a:off x="7149465" y="1887855"/>
            <a:ext cx="5080000" cy="2531745"/>
          </a:xfrm>
          <a:prstGeom prst="rect">
            <a:avLst/>
          </a:prstGeom>
          <a:ln>
            <a:solidFill>
              <a:schemeClr val="tx1"/>
            </a:solidFill>
          </a:ln>
        </p:spPr>
        <p:txBody>
          <a:bodyPr>
            <a:noAutofit/>
          </a:bodyPr>
          <a:p>
            <a:pPr>
              <a:lnSpc>
                <a:spcPct val="130000"/>
              </a:lnSpc>
              <a:spcAft>
                <a:spcPct val="0"/>
              </a:spcAft>
            </a:pPr>
            <a:r>
              <a:rPr lang="en-US" altLang="en-US" sz="2000" b="1"/>
              <a:t>2.2. </a:t>
            </a:r>
            <a:r>
              <a:rPr lang="en-US" altLang="en-US" sz="2000" b="1">
                <a:sym typeface="+mn-ea"/>
              </a:rPr>
              <a:t>Khách hàng</a:t>
            </a:r>
            <a:r>
              <a:rPr lang="vi-VN" altLang="en-US" sz="2000" b="1">
                <a:sym typeface="+mn-ea"/>
              </a:rPr>
              <a:t> </a:t>
            </a:r>
            <a:r>
              <a:rPr lang="en-US" altLang="en-US" sz="2000" b="1"/>
              <a:t>&amp; </a:t>
            </a:r>
            <a:r>
              <a:rPr lang="en-US" altLang="en-US" sz="2000" b="1">
                <a:sym typeface="+mn-ea"/>
              </a:rPr>
              <a:t>Quản lý/Nhân viên:</a:t>
            </a:r>
            <a:endParaRPr lang="en-US" altLang="en-US" sz="2000" b="1"/>
          </a:p>
          <a:p>
            <a:pPr>
              <a:lnSpc>
                <a:spcPct val="130000"/>
              </a:lnSpc>
              <a:spcAft>
                <a:spcPct val="0"/>
              </a:spcAft>
            </a:pPr>
            <a:r>
              <a:rPr lang="en-US" altLang="en-US" sz="1600" b="1"/>
              <a:t>Khách hàng:</a:t>
            </a:r>
            <a:endParaRPr lang="en-US" altLang="en-US" sz="1600" b="1"/>
          </a:p>
          <a:p>
            <a:pPr>
              <a:lnSpc>
                <a:spcPct val="130000"/>
              </a:lnSpc>
              <a:spcAft>
                <a:spcPct val="0"/>
              </a:spcAft>
            </a:pPr>
            <a:r>
              <a:rPr lang="en-US" altLang="en-US" sz="1600"/>
              <a:t>Tìm kiếm thông tin, xem thực </a:t>
            </a:r>
            <a:r>
              <a:rPr lang="" altLang="en-US" sz="1600"/>
              <a:t>đ</a:t>
            </a:r>
            <a:r>
              <a:rPr lang="en-US" altLang="en-US" sz="1600"/>
              <a:t>ơn, </a:t>
            </a:r>
            <a:r>
              <a:rPr lang="" altLang="en-US" sz="1600"/>
              <a:t>đ</a:t>
            </a:r>
            <a:r>
              <a:rPr lang="en-US" altLang="en-US" sz="1600"/>
              <a:t>ặt bàn trực tuyến, theo d</a:t>
            </a:r>
            <a:r>
              <a:rPr lang="" altLang="en-US" sz="1600"/>
              <a:t>õ</a:t>
            </a:r>
            <a:r>
              <a:rPr lang="en-US" altLang="en-US" sz="1600"/>
              <a:t>i khuyến mãi.</a:t>
            </a:r>
            <a:endParaRPr lang="en-US" altLang="en-US" sz="1600"/>
          </a:p>
          <a:p>
            <a:pPr>
              <a:lnSpc>
                <a:spcPct val="130000"/>
              </a:lnSpc>
              <a:spcAft>
                <a:spcPct val="0"/>
              </a:spcAft>
            </a:pPr>
            <a:r>
              <a:rPr lang="en-US" altLang="en-US" sz="1600" b="1"/>
              <a:t>Quản l</a:t>
            </a:r>
            <a:r>
              <a:rPr lang="" altLang="en-US" sz="1600" b="1"/>
              <a:t>ý</a:t>
            </a:r>
            <a:r>
              <a:rPr lang="en-US" altLang="en-US" sz="1600" b="1"/>
              <a:t>/Nhân viên:</a:t>
            </a:r>
            <a:endParaRPr lang="en-US" altLang="en-US" sz="1600" b="1"/>
          </a:p>
          <a:p>
            <a:pPr>
              <a:lnSpc>
                <a:spcPct val="130000"/>
              </a:lnSpc>
              <a:spcAft>
                <a:spcPct val="0"/>
              </a:spcAft>
            </a:pPr>
            <a:r>
              <a:rPr lang="en-US" altLang="en-US" sz="1600"/>
              <a:t>Cập nhật thực </a:t>
            </a:r>
            <a:r>
              <a:rPr lang="" altLang="en-US" sz="1600"/>
              <a:t>đ</a:t>
            </a:r>
            <a:r>
              <a:rPr lang="en-US" altLang="en-US" sz="1600"/>
              <a:t>ơn, xử l</a:t>
            </a:r>
            <a:r>
              <a:rPr lang="" altLang="en-US" sz="1600"/>
              <a:t>ý</a:t>
            </a:r>
            <a:r>
              <a:rPr lang="en-US" altLang="en-US" sz="1600"/>
              <a:t> </a:t>
            </a:r>
            <a:r>
              <a:rPr lang="" altLang="en-US" sz="1600"/>
              <a:t>đ</a:t>
            </a:r>
            <a:r>
              <a:rPr lang="en-US" altLang="en-US" sz="1600"/>
              <a:t>ặt bàn, quản l</a:t>
            </a:r>
            <a:r>
              <a:rPr lang="" altLang="en-US" sz="1600"/>
              <a:t>ý</a:t>
            </a:r>
            <a:r>
              <a:rPr lang="en-US" altLang="en-US" sz="1600"/>
              <a:t> danh mục qua admin panel dễ dùng.</a:t>
            </a:r>
            <a:endParaRPr lang="en-US" altLang="en-US" sz="1600"/>
          </a:p>
        </p:txBody>
      </p:sp>
      <p:sp>
        <p:nvSpPr>
          <p:cNvPr id="8" name="Text Box 7"/>
          <p:cNvSpPr txBox="1"/>
          <p:nvPr/>
        </p:nvSpPr>
        <p:spPr>
          <a:xfrm>
            <a:off x="1964690" y="4335780"/>
            <a:ext cx="5080000" cy="2368550"/>
          </a:xfrm>
          <a:prstGeom prst="rect">
            <a:avLst/>
          </a:prstGeom>
          <a:ln>
            <a:solidFill>
              <a:schemeClr val="tx1"/>
            </a:solidFill>
          </a:ln>
        </p:spPr>
        <p:txBody>
          <a:bodyPr>
            <a:spAutoFit/>
          </a:bodyPr>
          <a:p>
            <a:pPr>
              <a:spcAft>
                <a:spcPct val="0"/>
              </a:spcAft>
            </a:pPr>
            <a:r>
              <a:rPr lang="en-US" altLang="en-US" sz="2000" b="1"/>
              <a:t>2.2.1. </a:t>
            </a:r>
            <a:r>
              <a:rPr lang="" altLang="en-US" sz="2000" b="1"/>
              <a:t>Đ</a:t>
            </a:r>
            <a:r>
              <a:rPr lang="en-US" altLang="en-US" sz="2000" b="1"/>
              <a:t>ặc tả nhu cầu (User Stories tiêu biểu):</a:t>
            </a:r>
            <a:endParaRPr lang="en-US" altLang="en-US" sz="2000" b="1"/>
          </a:p>
          <a:p>
            <a:pPr>
              <a:spcAft>
                <a:spcPct val="0"/>
              </a:spcAft>
            </a:pPr>
            <a:r>
              <a:rPr lang="" altLang="en-US" sz="1600"/>
              <a:t>Đ</a:t>
            </a:r>
            <a:r>
              <a:rPr lang="en-US" altLang="en-US" sz="1600"/>
              <a:t>ặt bàn nhanh chóng, không cần gọi </a:t>
            </a:r>
            <a:r>
              <a:rPr lang="" altLang="en-US" sz="1600"/>
              <a:t>đ</a:t>
            </a:r>
            <a:r>
              <a:rPr lang="en-US" altLang="en-US" sz="1600"/>
              <a:t>iện.</a:t>
            </a:r>
            <a:endParaRPr lang="en-US" altLang="en-US" sz="1600"/>
          </a:p>
          <a:p>
            <a:pPr>
              <a:spcAft>
                <a:spcPct val="0"/>
              </a:spcAft>
            </a:pPr>
            <a:endParaRPr lang="en-US" altLang="en-US" sz="1600"/>
          </a:p>
          <a:p>
            <a:pPr>
              <a:spcAft>
                <a:spcPct val="0"/>
              </a:spcAft>
            </a:pPr>
            <a:r>
              <a:rPr lang="en-US" altLang="en-US" sz="1600"/>
              <a:t>Khám phá thực </a:t>
            </a:r>
            <a:r>
              <a:rPr lang="" altLang="en-US" sz="1600"/>
              <a:t>đ</a:t>
            </a:r>
            <a:r>
              <a:rPr lang="en-US" altLang="en-US" sz="1600"/>
              <a:t>ơn dễ dàng với hình ảnh minh họa.</a:t>
            </a:r>
            <a:endParaRPr lang="en-US" altLang="en-US" sz="1600"/>
          </a:p>
          <a:p>
            <a:pPr>
              <a:spcAft>
                <a:spcPct val="0"/>
              </a:spcAft>
            </a:pPr>
            <a:endParaRPr lang="en-US" altLang="en-US" sz="1600"/>
          </a:p>
          <a:p>
            <a:pPr>
              <a:spcAft>
                <a:spcPct val="0"/>
              </a:spcAft>
            </a:pPr>
            <a:r>
              <a:rPr lang="en-US" altLang="en-US" sz="1600"/>
              <a:t>Admin thao tác CRUD món </a:t>
            </a:r>
            <a:r>
              <a:rPr lang="" altLang="en-US" sz="1600"/>
              <a:t>ă</a:t>
            </a:r>
            <a:r>
              <a:rPr lang="en-US" altLang="en-US" sz="1600"/>
              <a:t>n &amp; </a:t>
            </a:r>
            <a:r>
              <a:rPr lang="" altLang="en-US" sz="1600"/>
              <a:t>đ</a:t>
            </a:r>
            <a:r>
              <a:rPr lang="en-US" altLang="en-US" sz="1600"/>
              <a:t>ặt bàn mà không cần biết lập trình.</a:t>
            </a:r>
            <a:endParaRPr lang="en-US" altLang="en-US" sz="1600"/>
          </a:p>
          <a:p>
            <a:pPr>
              <a:spcAft>
                <a:spcPct val="0"/>
              </a:spcAft>
            </a:pPr>
            <a:endParaRPr lang="en-US" altLang="en-US" sz="1600"/>
          </a:p>
          <a:p>
            <a:pPr>
              <a:spcAft>
                <a:spcPct val="0"/>
              </a:spcAft>
            </a:pPr>
            <a:r>
              <a:rPr lang="en-US" altLang="en-US" sz="1600"/>
              <a:t>Website phản hồi m</a:t>
            </a:r>
            <a:r>
              <a:rPr lang="" altLang="en-US" sz="1600"/>
              <a:t>ư</a:t>
            </a:r>
            <a:r>
              <a:rPr lang="en-US" altLang="en-US" sz="1600"/>
              <a:t>ợt, bảo mật tốt, giao diện </a:t>
            </a:r>
            <a:r>
              <a:rPr lang="" altLang="en-US" sz="1600"/>
              <a:t>đ</a:t>
            </a:r>
            <a:r>
              <a:rPr lang="en-US" altLang="en-US" sz="1600"/>
              <a:t>ẹp.</a:t>
            </a:r>
            <a:endParaRPr lang="en-US" altLang="en-US" sz="1600"/>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368676" y="879791"/>
            <a:ext cx="625729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a:t>
            </a:r>
            <a:r>
              <a:rPr lang="en-US" altLang="en-US" sz="3200" b="1" dirty="0">
                <a:solidFill>
                  <a:srgbClr val="288098"/>
                </a:solidFill>
                <a:latin typeface="Arial" panose="020B0604020202020204" pitchFamily="34" charset="0"/>
                <a:ea typeface="Arial" panose="020B0604020202020204" pitchFamily="34" charset="0"/>
              </a:rPr>
              <a:t>ƯƠ</a:t>
            </a:r>
            <a:r>
              <a:rPr lang="en-US" altLang="en-US" sz="3200" b="1" dirty="0">
                <a:solidFill>
                  <a:srgbClr val="288098"/>
                </a:solidFill>
                <a:latin typeface="Arial" panose="020B0604020202020204" pitchFamily="34" charset="0"/>
                <a:ea typeface="Arial" panose="020B0604020202020204" pitchFamily="34" charset="0"/>
              </a:rPr>
              <a:t>NG 2.C</a:t>
            </a:r>
            <a:r>
              <a:rPr lang="en-US" altLang="en-US" sz="3200" b="1" dirty="0">
                <a:solidFill>
                  <a:srgbClr val="288098"/>
                </a:solidFill>
                <a:latin typeface="Arial" panose="020B0604020202020204" pitchFamily="34" charset="0"/>
                <a:ea typeface="Arial" panose="020B0604020202020204" pitchFamily="34" charset="0"/>
              </a:rPr>
              <a:t>Ơ</a:t>
            </a:r>
            <a:r>
              <a:rPr lang="en-US" altLang="en-US" sz="3200" b="1" dirty="0">
                <a:solidFill>
                  <a:srgbClr val="288098"/>
                </a:solidFill>
                <a:latin typeface="Arial" panose="020B0604020202020204" pitchFamily="34" charset="0"/>
                <a:ea typeface="Arial" panose="020B0604020202020204" pitchFamily="34" charset="0"/>
              </a:rPr>
              <a:t> SỞ L</a:t>
            </a:r>
            <a:r>
              <a:rPr lang="en-US" altLang="en-US" sz="3200" b="1" dirty="0">
                <a:solidFill>
                  <a:srgbClr val="288098"/>
                </a:solidFill>
                <a:latin typeface="Arial" panose="020B0604020202020204" pitchFamily="34" charset="0"/>
                <a:ea typeface="Arial" panose="020B0604020202020204" pitchFamily="34" charset="0"/>
              </a:rPr>
              <a:t>Ý</a:t>
            </a:r>
            <a:r>
              <a:rPr lang="en-US" altLang="en-US" sz="3200" b="1" dirty="0">
                <a:solidFill>
                  <a:srgbClr val="288098"/>
                </a:solidFill>
                <a:latin typeface="Arial" panose="020B0604020202020204" pitchFamily="34" charset="0"/>
                <a:ea typeface="Arial" panose="020B0604020202020204" pitchFamily="34" charset="0"/>
              </a:rPr>
              <a:t> THUYẾT</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2670810" y="2032000"/>
            <a:ext cx="7517130" cy="4152900"/>
          </a:xfrm>
          <a:prstGeom prst="rect">
            <a:avLst/>
          </a:prstGeom>
          <a:ln>
            <a:solidFill>
              <a:schemeClr val="tx1"/>
            </a:solidFill>
          </a:ln>
        </p:spPr>
        <p:txBody>
          <a:bodyPr wrap="square">
            <a:noAutofit/>
          </a:bodyPr>
          <a:p>
            <a:pPr>
              <a:spcAft>
                <a:spcPct val="0"/>
              </a:spcAft>
            </a:pPr>
            <a:r>
              <a:rPr lang="en-US" altLang="en-US" sz="2400" b="1"/>
              <a:t>2.3. Tính cần thiết của Microservices &amp; Cloud</a:t>
            </a:r>
            <a:endParaRPr lang="en-US" altLang="en-US" sz="2400" b="1"/>
          </a:p>
          <a:p>
            <a:pPr>
              <a:spcAft>
                <a:spcPct val="0"/>
              </a:spcAft>
            </a:pPr>
            <a:r>
              <a:rPr lang="en-US" altLang="en-US" sz="2400"/>
              <a:t>Scalability: dễ mở rộng khi tải cao.</a:t>
            </a:r>
            <a:endParaRPr lang="en-US" altLang="en-US" sz="2400"/>
          </a:p>
          <a:p>
            <a:pPr>
              <a:spcAft>
                <a:spcPct val="0"/>
              </a:spcAft>
            </a:pPr>
            <a:endParaRPr lang="en-US" altLang="en-US" sz="2400"/>
          </a:p>
          <a:p>
            <a:pPr>
              <a:spcAft>
                <a:spcPct val="0"/>
              </a:spcAft>
            </a:pPr>
            <a:r>
              <a:rPr lang="en-US" altLang="en-US" sz="2400"/>
              <a:t>High Availability: </a:t>
            </a:r>
            <a:r>
              <a:rPr lang="" altLang="en-US" sz="2400"/>
              <a:t>đ</a:t>
            </a:r>
            <a:r>
              <a:rPr lang="en-US" altLang="en-US" sz="2400"/>
              <a:t>ảm bảo luôn hoạt </a:t>
            </a:r>
            <a:r>
              <a:rPr lang="" altLang="en-US" sz="2400"/>
              <a:t>đ</a:t>
            </a:r>
            <a:r>
              <a:rPr lang="en-US" altLang="en-US" sz="2400"/>
              <a:t>ộng ổn </a:t>
            </a:r>
            <a:r>
              <a:rPr lang="" altLang="en-US" sz="2400"/>
              <a:t>đ</a:t>
            </a:r>
            <a:r>
              <a:rPr lang="en-US" altLang="en-US" sz="2400"/>
              <a:t>ịnh.</a:t>
            </a:r>
            <a:endParaRPr lang="en-US" altLang="en-US" sz="2400"/>
          </a:p>
          <a:p>
            <a:pPr>
              <a:spcAft>
                <a:spcPct val="0"/>
              </a:spcAft>
            </a:pPr>
            <a:endParaRPr lang="en-US" altLang="en-US" sz="2400"/>
          </a:p>
          <a:p>
            <a:pPr>
              <a:spcAft>
                <a:spcPct val="0"/>
              </a:spcAft>
            </a:pPr>
            <a:r>
              <a:rPr lang="en-US" altLang="en-US" sz="2400"/>
              <a:t>Modular: dễ bảo trì, nâng cấp từng phần.</a:t>
            </a:r>
            <a:endParaRPr lang="en-US" altLang="en-US" sz="2400"/>
          </a:p>
          <a:p>
            <a:pPr>
              <a:spcAft>
                <a:spcPct val="0"/>
              </a:spcAft>
            </a:pPr>
            <a:endParaRPr lang="en-US" altLang="en-US" sz="2400"/>
          </a:p>
          <a:p>
            <a:pPr>
              <a:spcAft>
                <a:spcPct val="0"/>
              </a:spcAft>
            </a:pPr>
            <a:r>
              <a:rPr lang="en-US" altLang="en-US" sz="2400"/>
              <a:t>CI/CD hiện </a:t>
            </a:r>
            <a:r>
              <a:rPr lang="" altLang="en-US" sz="2400"/>
              <a:t>đ</a:t>
            </a:r>
            <a:r>
              <a:rPr lang="en-US" altLang="en-US" sz="2400"/>
              <a:t>ại: Docker + GitHub Actions giúp triển khai nhanh, tự </a:t>
            </a:r>
            <a:r>
              <a:rPr lang="" altLang="en-US" sz="2400"/>
              <a:t>đ</a:t>
            </a:r>
            <a:r>
              <a:rPr lang="en-US" altLang="en-US" sz="2400"/>
              <a:t>ộng.</a:t>
            </a:r>
            <a:endParaRPr lang="en-US" altLang="en-US" sz="2400"/>
          </a:p>
          <a:p>
            <a:pPr>
              <a:spcAft>
                <a:spcPct val="0"/>
              </a:spcAft>
            </a:pPr>
            <a:endParaRPr lang="en-US" altLang="en-US" sz="2400"/>
          </a:p>
          <a:p>
            <a:pPr>
              <a:spcAft>
                <a:spcPct val="0"/>
              </a:spcAft>
            </a:pPr>
            <a:r>
              <a:rPr lang="en-US" altLang="en-US" sz="2400"/>
              <a:t>T</a:t>
            </a:r>
            <a:r>
              <a:rPr lang="" altLang="en-US" sz="2400"/>
              <a:t>ư</a:t>
            </a:r>
            <a:r>
              <a:rPr lang="en-US" altLang="en-US" sz="2400"/>
              <a:t>ơng lai mở rộng: dễ tích hợp AI, chatbot, mobile app,…</a:t>
            </a:r>
            <a:endParaRPr lang="en-US" altLang="en-US" sz="2400"/>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368676" y="879791"/>
            <a:ext cx="625729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a:t>
            </a:r>
            <a:r>
              <a:rPr lang="en-US" altLang="en-US" sz="3200" b="1" dirty="0">
                <a:solidFill>
                  <a:srgbClr val="288098"/>
                </a:solidFill>
                <a:latin typeface="Arial" panose="020B0604020202020204" pitchFamily="34" charset="0"/>
                <a:ea typeface="Arial" panose="020B0604020202020204" pitchFamily="34" charset="0"/>
              </a:rPr>
              <a:t>ƯƠ</a:t>
            </a:r>
            <a:r>
              <a:rPr lang="en-US" altLang="en-US" sz="3200" b="1" dirty="0">
                <a:solidFill>
                  <a:srgbClr val="288098"/>
                </a:solidFill>
                <a:latin typeface="Arial" panose="020B0604020202020204" pitchFamily="34" charset="0"/>
                <a:ea typeface="Arial" panose="020B0604020202020204" pitchFamily="34" charset="0"/>
              </a:rPr>
              <a:t>NG 2.C</a:t>
            </a:r>
            <a:r>
              <a:rPr lang="en-US" altLang="en-US" sz="3200" b="1" dirty="0">
                <a:solidFill>
                  <a:srgbClr val="288098"/>
                </a:solidFill>
                <a:latin typeface="Arial" panose="020B0604020202020204" pitchFamily="34" charset="0"/>
                <a:ea typeface="Arial" panose="020B0604020202020204" pitchFamily="34" charset="0"/>
              </a:rPr>
              <a:t>Ơ</a:t>
            </a:r>
            <a:r>
              <a:rPr lang="en-US" altLang="en-US" sz="3200" b="1" dirty="0">
                <a:solidFill>
                  <a:srgbClr val="288098"/>
                </a:solidFill>
                <a:latin typeface="Arial" panose="020B0604020202020204" pitchFamily="34" charset="0"/>
                <a:ea typeface="Arial" panose="020B0604020202020204" pitchFamily="34" charset="0"/>
              </a:rPr>
              <a:t> SỞ L</a:t>
            </a:r>
            <a:r>
              <a:rPr lang="en-US" altLang="en-US" sz="3200" b="1" dirty="0">
                <a:solidFill>
                  <a:srgbClr val="288098"/>
                </a:solidFill>
                <a:latin typeface="Arial" panose="020B0604020202020204" pitchFamily="34" charset="0"/>
                <a:ea typeface="Arial" panose="020B0604020202020204" pitchFamily="34" charset="0"/>
              </a:rPr>
              <a:t>Ý</a:t>
            </a:r>
            <a:r>
              <a:rPr lang="en-US" altLang="en-US" sz="3200" b="1" dirty="0">
                <a:solidFill>
                  <a:srgbClr val="288098"/>
                </a:solidFill>
                <a:latin typeface="Arial" panose="020B0604020202020204" pitchFamily="34" charset="0"/>
                <a:ea typeface="Arial" panose="020B0604020202020204" pitchFamily="34" charset="0"/>
              </a:rPr>
              <a:t> THUYẾT</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3" name="Text Box 2"/>
          <p:cNvSpPr txBox="1"/>
          <p:nvPr/>
        </p:nvSpPr>
        <p:spPr>
          <a:xfrm>
            <a:off x="884555" y="2752090"/>
            <a:ext cx="5080000" cy="2799715"/>
          </a:xfrm>
          <a:prstGeom prst="rect">
            <a:avLst/>
          </a:prstGeom>
          <a:ln>
            <a:solidFill>
              <a:schemeClr val="tx1"/>
            </a:solidFill>
          </a:ln>
        </p:spPr>
        <p:txBody>
          <a:bodyPr>
            <a:spAutoFit/>
          </a:bodyPr>
          <a:p>
            <a:pPr algn="ctr">
              <a:spcAft>
                <a:spcPct val="0"/>
              </a:spcAft>
            </a:pPr>
            <a:r>
              <a:rPr lang="en-US" altLang="en-US" sz="1600" b="1"/>
              <a:t>Cho khách hàng:</a:t>
            </a:r>
            <a:endParaRPr lang="en-US" altLang="en-US" sz="1600" b="1"/>
          </a:p>
          <a:p>
            <a:pPr>
              <a:spcAft>
                <a:spcPct val="0"/>
              </a:spcAft>
            </a:pPr>
            <a:r>
              <a:rPr lang="en-US" altLang="en-US" sz="1600"/>
              <a:t>Trang chủ: Banner nổi bật, giới thiệu, món </a:t>
            </a:r>
            <a:r>
              <a:rPr lang="" altLang="en-US" sz="1600"/>
              <a:t>ă</a:t>
            </a:r>
            <a:r>
              <a:rPr lang="en-US" altLang="en-US" sz="1600"/>
              <a:t>n tiêu biểu, khuyến mãi, nút CTA.</a:t>
            </a:r>
            <a:endParaRPr lang="en-US" altLang="en-US" sz="1600"/>
          </a:p>
          <a:p>
            <a:pPr>
              <a:spcAft>
                <a:spcPct val="0"/>
              </a:spcAft>
            </a:pPr>
            <a:endParaRPr lang="en-US" altLang="en-US" sz="1600"/>
          </a:p>
          <a:p>
            <a:pPr>
              <a:spcAft>
                <a:spcPct val="0"/>
              </a:spcAft>
            </a:pPr>
            <a:r>
              <a:rPr lang="en-US" altLang="en-US" sz="1600"/>
              <a:t>Thực </a:t>
            </a:r>
            <a:r>
              <a:rPr lang="" altLang="en-US" sz="1600"/>
              <a:t>đ</a:t>
            </a:r>
            <a:r>
              <a:rPr lang="en-US" altLang="en-US" sz="1600"/>
              <a:t>ơn: Phân loại món </a:t>
            </a:r>
            <a:r>
              <a:rPr lang="" altLang="en-US" sz="1600"/>
              <a:t>ă</a:t>
            </a:r>
            <a:r>
              <a:rPr lang="en-US" altLang="en-US" sz="1600"/>
              <a:t>n, lọc danh mục, tìm kiếm, xem chi tiết món.</a:t>
            </a:r>
            <a:endParaRPr lang="en-US" altLang="en-US" sz="1600"/>
          </a:p>
          <a:p>
            <a:pPr>
              <a:spcAft>
                <a:spcPct val="0"/>
              </a:spcAft>
            </a:pPr>
            <a:endParaRPr lang="en-US" altLang="en-US" sz="1600"/>
          </a:p>
          <a:p>
            <a:pPr>
              <a:spcAft>
                <a:spcPct val="0"/>
              </a:spcAft>
            </a:pPr>
            <a:r>
              <a:rPr lang="" altLang="en-US" sz="1600"/>
              <a:t>Đ</a:t>
            </a:r>
            <a:r>
              <a:rPr lang="en-US" altLang="en-US" sz="1600"/>
              <a:t>ặt bàn: Form trực tuyến, kiểm tra dữ liệu </a:t>
            </a:r>
            <a:r>
              <a:rPr lang="" altLang="en-US" sz="1600"/>
              <a:t>đ</a:t>
            </a:r>
            <a:r>
              <a:rPr lang="en-US" altLang="en-US" sz="1600"/>
              <a:t>ầu vào, phản hồi xác nhận.</a:t>
            </a:r>
            <a:endParaRPr lang="en-US" altLang="en-US" sz="1600"/>
          </a:p>
          <a:p>
            <a:pPr>
              <a:spcAft>
                <a:spcPct val="0"/>
              </a:spcAft>
            </a:pPr>
            <a:endParaRPr lang="en-US" altLang="en-US" sz="1600"/>
          </a:p>
          <a:p>
            <a:pPr>
              <a:spcAft>
                <a:spcPct val="0"/>
              </a:spcAft>
            </a:pPr>
            <a:r>
              <a:rPr lang="en-US" altLang="en-US" sz="1600"/>
              <a:t>Liên hệ: </a:t>
            </a:r>
            <a:r>
              <a:rPr lang="" altLang="en-US" sz="1600"/>
              <a:t>Đ</a:t>
            </a:r>
            <a:r>
              <a:rPr lang="en-US" altLang="en-US" sz="1600"/>
              <a:t>ịa chỉ, giờ mở cửa, Google Maps t</a:t>
            </a:r>
            <a:r>
              <a:rPr lang="" altLang="en-US" sz="1600"/>
              <a:t>ư</a:t>
            </a:r>
            <a:r>
              <a:rPr lang="en-US" altLang="en-US" sz="1600"/>
              <a:t>ơng tác.</a:t>
            </a:r>
            <a:endParaRPr lang="en-US" altLang="en-US" sz="1600"/>
          </a:p>
        </p:txBody>
      </p:sp>
      <p:sp>
        <p:nvSpPr>
          <p:cNvPr id="5" name="Text Box 4"/>
          <p:cNvSpPr txBox="1"/>
          <p:nvPr/>
        </p:nvSpPr>
        <p:spPr>
          <a:xfrm>
            <a:off x="6861175" y="2752090"/>
            <a:ext cx="5080000" cy="1814830"/>
          </a:xfrm>
          <a:prstGeom prst="rect">
            <a:avLst/>
          </a:prstGeom>
          <a:ln>
            <a:solidFill>
              <a:schemeClr val="tx1"/>
            </a:solidFill>
          </a:ln>
        </p:spPr>
        <p:txBody>
          <a:bodyPr>
            <a:spAutoFit/>
          </a:bodyPr>
          <a:p>
            <a:pPr algn="ctr">
              <a:spcAft>
                <a:spcPct val="0"/>
              </a:spcAft>
            </a:pPr>
            <a:r>
              <a:rPr lang="en-US" altLang="en-US" sz="1600"/>
              <a:t> </a:t>
            </a:r>
            <a:r>
              <a:rPr lang="en-US" altLang="en-US" sz="1600" b="1"/>
              <a:t>Cho quản trị viên:</a:t>
            </a:r>
            <a:endParaRPr lang="en-US" altLang="en-US" sz="1600"/>
          </a:p>
          <a:p>
            <a:pPr>
              <a:spcAft>
                <a:spcPct val="0"/>
              </a:spcAft>
            </a:pPr>
            <a:r>
              <a:rPr lang="en-US" altLang="en-US" sz="1600"/>
              <a:t>Quản l</a:t>
            </a:r>
            <a:r>
              <a:rPr lang="" altLang="en-US" sz="1600"/>
              <a:t>ý</a:t>
            </a:r>
            <a:r>
              <a:rPr lang="en-US" altLang="en-US" sz="1600"/>
              <a:t> thực </a:t>
            </a:r>
            <a:r>
              <a:rPr lang="" altLang="en-US" sz="1600"/>
              <a:t>đ</a:t>
            </a:r>
            <a:r>
              <a:rPr lang="en-US" altLang="en-US" sz="1600"/>
              <a:t>ơn (CRUD): Thêm, sửa, xóa món </a:t>
            </a:r>
            <a:r>
              <a:rPr lang="" altLang="en-US" sz="1600"/>
              <a:t>ă</a:t>
            </a:r>
            <a:r>
              <a:rPr lang="en-US" altLang="en-US" sz="1600"/>
              <a:t>n.</a:t>
            </a:r>
            <a:endParaRPr lang="en-US" altLang="en-US" sz="1600"/>
          </a:p>
          <a:p>
            <a:pPr>
              <a:spcAft>
                <a:spcPct val="0"/>
              </a:spcAft>
            </a:pPr>
            <a:endParaRPr lang="en-US" altLang="en-US" sz="1600"/>
          </a:p>
          <a:p>
            <a:pPr>
              <a:spcAft>
                <a:spcPct val="0"/>
              </a:spcAft>
            </a:pPr>
            <a:r>
              <a:rPr lang="en-US" altLang="en-US" sz="1600"/>
              <a:t>Quản l</a:t>
            </a:r>
            <a:r>
              <a:rPr lang="" altLang="en-US" sz="1600"/>
              <a:t>ý</a:t>
            </a:r>
            <a:r>
              <a:rPr lang="en-US" altLang="en-US" sz="1600"/>
              <a:t> danh mục (CRUD): Tạo và chỉnh sửa danh mục món.</a:t>
            </a:r>
            <a:endParaRPr lang="en-US" altLang="en-US" sz="1600"/>
          </a:p>
          <a:p>
            <a:pPr>
              <a:spcAft>
                <a:spcPct val="0"/>
              </a:spcAft>
            </a:pPr>
            <a:endParaRPr lang="en-US" altLang="en-US" sz="1600"/>
          </a:p>
          <a:p>
            <a:pPr>
              <a:spcAft>
                <a:spcPct val="0"/>
              </a:spcAft>
            </a:pPr>
            <a:r>
              <a:rPr lang="en-US" altLang="en-US" sz="1600"/>
              <a:t>Quản l</a:t>
            </a:r>
            <a:r>
              <a:rPr lang="" altLang="en-US" sz="1600"/>
              <a:t>ý</a:t>
            </a:r>
            <a:r>
              <a:rPr lang="en-US" altLang="en-US" sz="1600"/>
              <a:t> </a:t>
            </a:r>
            <a:r>
              <a:rPr lang="" altLang="en-US" sz="1600"/>
              <a:t>đ</a:t>
            </a:r>
            <a:r>
              <a:rPr lang="en-US" altLang="en-US" sz="1600"/>
              <a:t>ặt bàn: Theo d</a:t>
            </a:r>
            <a:r>
              <a:rPr lang="" altLang="en-US" sz="1600"/>
              <a:t>õ</a:t>
            </a:r>
            <a:r>
              <a:rPr lang="en-US" altLang="en-US" sz="1600"/>
              <a:t>i, thay </a:t>
            </a:r>
            <a:r>
              <a:rPr lang="" altLang="en-US" sz="1600"/>
              <a:t>đ</a:t>
            </a:r>
            <a:r>
              <a:rPr lang="en-US" altLang="en-US" sz="1600"/>
              <a:t>ổi trạng thái yêu cầu </a:t>
            </a:r>
            <a:r>
              <a:rPr lang="" altLang="en-US" sz="1600"/>
              <a:t>đ</a:t>
            </a:r>
            <a:r>
              <a:rPr lang="en-US" altLang="en-US" sz="1600"/>
              <a:t>ặt bàn, lọc theo ngày/trạng thái.</a:t>
            </a:r>
            <a:endParaRPr lang="en-US" altLang="en-US" sz="1600"/>
          </a:p>
        </p:txBody>
      </p:sp>
      <p:sp>
        <p:nvSpPr>
          <p:cNvPr id="2" name="Text Box 1"/>
          <p:cNvSpPr txBox="1"/>
          <p:nvPr/>
        </p:nvSpPr>
        <p:spPr>
          <a:xfrm>
            <a:off x="4959985" y="1599565"/>
            <a:ext cx="2658745" cy="460375"/>
          </a:xfrm>
          <a:prstGeom prst="rect">
            <a:avLst/>
          </a:prstGeom>
          <a:ln>
            <a:solidFill>
              <a:schemeClr val="tx1"/>
            </a:solidFill>
          </a:ln>
        </p:spPr>
        <p:txBody>
          <a:bodyPr wrap="square">
            <a:spAutoFit/>
          </a:bodyPr>
          <a:p>
            <a:r>
              <a:rPr lang="en-US" altLang="zh-CN" sz="2400" b="1"/>
              <a:t>Yêu cầu chức năng</a:t>
            </a:r>
            <a:endParaRPr lang="en-US" altLang="zh-CN" sz="2400" b="1"/>
          </a:p>
        </p:txBody>
      </p:sp>
      <p:cxnSp>
        <p:nvCxnSpPr>
          <p:cNvPr id="10" name="Straight Arrow Connector 9"/>
          <p:cNvCxnSpPr>
            <a:stCxn id="2" idx="2"/>
            <a:endCxn id="3" idx="0"/>
          </p:cNvCxnSpPr>
          <p:nvPr/>
        </p:nvCxnSpPr>
        <p:spPr>
          <a:xfrm flipH="1">
            <a:off x="3424555" y="2059940"/>
            <a:ext cx="2865120" cy="6921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Straight Arrow Connector 11"/>
          <p:cNvCxnSpPr>
            <a:stCxn id="2" idx="2"/>
            <a:endCxn id="5" idx="0"/>
          </p:cNvCxnSpPr>
          <p:nvPr/>
        </p:nvCxnSpPr>
        <p:spPr>
          <a:xfrm>
            <a:off x="6289675" y="2059940"/>
            <a:ext cx="3111500" cy="6921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368676" y="879791"/>
            <a:ext cx="625729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a:t>
            </a:r>
            <a:r>
              <a:rPr lang="en-US" altLang="en-US" sz="3200" b="1" dirty="0">
                <a:solidFill>
                  <a:srgbClr val="288098"/>
                </a:solidFill>
                <a:latin typeface="Arial" panose="020B0604020202020204" pitchFamily="34" charset="0"/>
                <a:ea typeface="Arial" panose="020B0604020202020204" pitchFamily="34" charset="0"/>
              </a:rPr>
              <a:t>ƯƠ</a:t>
            </a:r>
            <a:r>
              <a:rPr lang="en-US" altLang="en-US" sz="3200" b="1" dirty="0">
                <a:solidFill>
                  <a:srgbClr val="288098"/>
                </a:solidFill>
                <a:latin typeface="Arial" panose="020B0604020202020204" pitchFamily="34" charset="0"/>
                <a:ea typeface="Arial" panose="020B0604020202020204" pitchFamily="34" charset="0"/>
              </a:rPr>
              <a:t>NG 2.C</a:t>
            </a:r>
            <a:r>
              <a:rPr lang="en-US" altLang="en-US" sz="3200" b="1" dirty="0">
                <a:solidFill>
                  <a:srgbClr val="288098"/>
                </a:solidFill>
                <a:latin typeface="Arial" panose="020B0604020202020204" pitchFamily="34" charset="0"/>
                <a:ea typeface="Arial" panose="020B0604020202020204" pitchFamily="34" charset="0"/>
              </a:rPr>
              <a:t>Ơ</a:t>
            </a:r>
            <a:r>
              <a:rPr lang="en-US" altLang="en-US" sz="3200" b="1" dirty="0">
                <a:solidFill>
                  <a:srgbClr val="288098"/>
                </a:solidFill>
                <a:latin typeface="Arial" panose="020B0604020202020204" pitchFamily="34" charset="0"/>
                <a:ea typeface="Arial" panose="020B0604020202020204" pitchFamily="34" charset="0"/>
              </a:rPr>
              <a:t> SỞ L</a:t>
            </a:r>
            <a:r>
              <a:rPr lang="en-US" altLang="en-US" sz="3200" b="1" dirty="0">
                <a:solidFill>
                  <a:srgbClr val="288098"/>
                </a:solidFill>
                <a:latin typeface="Arial" panose="020B0604020202020204" pitchFamily="34" charset="0"/>
                <a:ea typeface="Arial" panose="020B0604020202020204" pitchFamily="34" charset="0"/>
              </a:rPr>
              <a:t>Ý</a:t>
            </a:r>
            <a:r>
              <a:rPr lang="en-US" altLang="en-US" sz="3200" b="1" dirty="0">
                <a:solidFill>
                  <a:srgbClr val="288098"/>
                </a:solidFill>
                <a:latin typeface="Arial" panose="020B0604020202020204" pitchFamily="34" charset="0"/>
                <a:ea typeface="Arial" panose="020B0604020202020204" pitchFamily="34" charset="0"/>
              </a:rPr>
              <a:t> THUYẾT</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3" name="Text Box 2"/>
          <p:cNvSpPr txBox="1"/>
          <p:nvPr>
            <p:custDataLst>
              <p:tags r:id="rId3"/>
            </p:custDataLst>
          </p:nvPr>
        </p:nvSpPr>
        <p:spPr>
          <a:xfrm>
            <a:off x="731520" y="2242820"/>
            <a:ext cx="5080000" cy="1329055"/>
          </a:xfrm>
          <a:prstGeom prst="rect">
            <a:avLst/>
          </a:prstGeom>
          <a:ln>
            <a:solidFill>
              <a:schemeClr val="tx1"/>
            </a:solidFill>
          </a:ln>
        </p:spPr>
        <p:txBody>
          <a:bodyPr>
            <a:noAutofit/>
          </a:bodyPr>
          <a:p>
            <a:pPr algn="ctr">
              <a:spcAft>
                <a:spcPct val="0"/>
              </a:spcAft>
            </a:pPr>
            <a:r>
              <a:rPr lang="en-US" altLang="en-US" sz="1600" b="1"/>
              <a:t>1. Hiệu n</a:t>
            </a:r>
            <a:r>
              <a:rPr lang="" altLang="en-US" sz="1600" b="1"/>
              <a:t>ă</a:t>
            </a:r>
            <a:r>
              <a:rPr lang="en-US" altLang="en-US" sz="1600" b="1"/>
              <a:t>ng (Performance)</a:t>
            </a:r>
            <a:endParaRPr lang="en-US" altLang="en-US" sz="1600" b="1"/>
          </a:p>
          <a:p>
            <a:pPr algn="ctr">
              <a:spcAft>
                <a:spcPct val="0"/>
              </a:spcAft>
            </a:pPr>
            <a:r>
              <a:rPr lang="en-US" altLang="en-US" sz="1600"/>
              <a:t>Hệ thống phải phản hồi nhanh chóng (&lt;1 giây với các thao tác cơ bản nh</a:t>
            </a:r>
            <a:r>
              <a:rPr lang="" altLang="en-US" sz="1600"/>
              <a:t>ư</a:t>
            </a:r>
            <a:r>
              <a:rPr lang="en-US" altLang="en-US" sz="1600"/>
              <a:t> </a:t>
            </a:r>
            <a:r>
              <a:rPr lang="" altLang="en-US" sz="1600"/>
              <a:t>đ</a:t>
            </a:r>
            <a:r>
              <a:rPr lang="en-US" altLang="en-US" sz="1600"/>
              <a:t>ặt bàn, xem thực </a:t>
            </a:r>
            <a:r>
              <a:rPr lang="" altLang="en-US" sz="1600"/>
              <a:t>đ</a:t>
            </a:r>
            <a:r>
              <a:rPr lang="en-US" altLang="en-US" sz="1600"/>
              <a:t>ơn).</a:t>
            </a:r>
            <a:endParaRPr lang="en-US" altLang="en-US" sz="1600"/>
          </a:p>
          <a:p>
            <a:pPr algn="ctr">
              <a:spcAft>
                <a:spcPct val="0"/>
              </a:spcAft>
            </a:pPr>
            <a:r>
              <a:rPr lang="en-US" altLang="en-US" sz="1600"/>
              <a:t>Website hoạt </a:t>
            </a:r>
            <a:r>
              <a:rPr lang="" altLang="en-US" sz="1600"/>
              <a:t>đ</a:t>
            </a:r>
            <a:r>
              <a:rPr lang="en-US" altLang="en-US" sz="1600"/>
              <a:t>ộng ổn </a:t>
            </a:r>
            <a:r>
              <a:rPr lang="" altLang="en-US" sz="1600"/>
              <a:t>đ</a:t>
            </a:r>
            <a:r>
              <a:rPr lang="en-US" altLang="en-US" sz="1600"/>
              <a:t>ịnh kể cả khi có l</a:t>
            </a:r>
            <a:r>
              <a:rPr lang="" altLang="en-US" sz="1600"/>
              <a:t>ư</a:t>
            </a:r>
            <a:r>
              <a:rPr lang="en-US" altLang="en-US" sz="1600"/>
              <a:t>ợng truy cập cao vào giờ cao </a:t>
            </a:r>
            <a:r>
              <a:rPr lang="" altLang="en-US" sz="1600"/>
              <a:t>đ</a:t>
            </a:r>
            <a:r>
              <a:rPr lang="en-US" altLang="en-US" sz="1600"/>
              <a:t>iểm.</a:t>
            </a:r>
            <a:endParaRPr lang="en-US" altLang="en-US" sz="1600"/>
          </a:p>
          <a:p>
            <a:pPr algn="ctr">
              <a:spcAft>
                <a:spcPct val="0"/>
              </a:spcAft>
            </a:pPr>
            <a:endParaRPr lang="en-US" altLang="en-US" sz="1600"/>
          </a:p>
          <a:p>
            <a:pPr algn="ctr">
              <a:spcAft>
                <a:spcPct val="0"/>
              </a:spcAft>
            </a:pPr>
            <a:endParaRPr lang="en-US" altLang="en-US" sz="1600"/>
          </a:p>
        </p:txBody>
      </p:sp>
      <p:sp>
        <p:nvSpPr>
          <p:cNvPr id="5" name="Text Box 4"/>
          <p:cNvSpPr txBox="1"/>
          <p:nvPr>
            <p:custDataLst>
              <p:tags r:id="rId4"/>
            </p:custDataLst>
          </p:nvPr>
        </p:nvSpPr>
        <p:spPr>
          <a:xfrm>
            <a:off x="6348095" y="2242820"/>
            <a:ext cx="5080000" cy="1295400"/>
          </a:xfrm>
          <a:prstGeom prst="rect">
            <a:avLst/>
          </a:prstGeom>
          <a:ln>
            <a:solidFill>
              <a:schemeClr val="tx1"/>
            </a:solidFill>
          </a:ln>
        </p:spPr>
        <p:txBody>
          <a:bodyPr>
            <a:noAutofit/>
          </a:bodyPr>
          <a:p>
            <a:pPr algn="ctr">
              <a:spcAft>
                <a:spcPct val="0"/>
              </a:spcAft>
            </a:pPr>
            <a:r>
              <a:rPr lang="en-US" altLang="en-US" sz="1600" b="1"/>
              <a:t>2. Tính t</a:t>
            </a:r>
            <a:r>
              <a:rPr lang="" altLang="en-US" sz="1600" b="1"/>
              <a:t>ư</a:t>
            </a:r>
            <a:r>
              <a:rPr lang="en-US" altLang="en-US" sz="1600" b="1"/>
              <a:t>ơng thích thiết bị (Responsive Design)</a:t>
            </a:r>
            <a:endParaRPr lang="en-US" altLang="en-US" sz="1600" b="1"/>
          </a:p>
          <a:p>
            <a:pPr algn="ctr">
              <a:spcAft>
                <a:spcPct val="0"/>
              </a:spcAft>
            </a:pPr>
            <a:r>
              <a:rPr lang="en-US" altLang="en-US" sz="1600"/>
              <a:t>Giao diện phải hiển thị tốt trên mọi thiết bị: PC, tablet, </a:t>
            </a:r>
            <a:r>
              <a:rPr lang="" altLang="en-US" sz="1600"/>
              <a:t>đ</a:t>
            </a:r>
            <a:r>
              <a:rPr lang="en-US" altLang="en-US" sz="1600"/>
              <a:t>iện thoại.</a:t>
            </a:r>
            <a:endParaRPr lang="en-US" altLang="en-US" sz="1600"/>
          </a:p>
          <a:p>
            <a:pPr algn="ctr">
              <a:spcAft>
                <a:spcPct val="0"/>
              </a:spcAft>
            </a:pPr>
            <a:r>
              <a:rPr lang="en-US" altLang="en-US" sz="1600"/>
              <a:t>Các thành phần (form, ảnh, nút) phải tự </a:t>
            </a:r>
            <a:r>
              <a:rPr lang="" altLang="en-US" sz="1600"/>
              <a:t>đ</a:t>
            </a:r>
            <a:r>
              <a:rPr lang="en-US" altLang="en-US" sz="1600"/>
              <a:t>ộng co giãn theo màn hình.</a:t>
            </a:r>
            <a:endParaRPr lang="en-US" altLang="en-US" sz="1600"/>
          </a:p>
          <a:p>
            <a:pPr algn="ctr">
              <a:spcAft>
                <a:spcPct val="0"/>
              </a:spcAft>
            </a:pPr>
            <a:endParaRPr lang="en-US" altLang="en-US" sz="1600"/>
          </a:p>
          <a:p>
            <a:pPr algn="ctr">
              <a:spcAft>
                <a:spcPct val="0"/>
              </a:spcAft>
            </a:pPr>
            <a:endParaRPr lang="en-US" altLang="en-US" sz="1600"/>
          </a:p>
        </p:txBody>
      </p:sp>
      <p:sp>
        <p:nvSpPr>
          <p:cNvPr id="2" name="Text Box 1"/>
          <p:cNvSpPr txBox="1"/>
          <p:nvPr/>
        </p:nvSpPr>
        <p:spPr>
          <a:xfrm>
            <a:off x="4415790" y="1599565"/>
            <a:ext cx="4023995" cy="460375"/>
          </a:xfrm>
          <a:prstGeom prst="rect">
            <a:avLst/>
          </a:prstGeom>
          <a:ln>
            <a:solidFill>
              <a:schemeClr val="tx1"/>
            </a:solidFill>
          </a:ln>
        </p:spPr>
        <p:txBody>
          <a:bodyPr wrap="square">
            <a:spAutoFit/>
          </a:bodyPr>
          <a:p>
            <a:r>
              <a:rPr lang="en-US" altLang="zh-CN" sz="2400" b="1"/>
              <a:t>Yêu cầu</a:t>
            </a:r>
            <a:r>
              <a:rPr lang="vi-VN" altLang="en-US" sz="2400" b="1"/>
              <a:t> phi chức</a:t>
            </a:r>
            <a:r>
              <a:rPr lang="en-US" altLang="zh-CN" sz="2400" b="1"/>
              <a:t> chức năng</a:t>
            </a:r>
            <a:endParaRPr lang="en-US" altLang="zh-CN" sz="2400" b="1"/>
          </a:p>
        </p:txBody>
      </p:sp>
      <p:sp>
        <p:nvSpPr>
          <p:cNvPr id="6" name="Text Box 5"/>
          <p:cNvSpPr txBox="1"/>
          <p:nvPr>
            <p:custDataLst>
              <p:tags r:id="rId5"/>
            </p:custDataLst>
          </p:nvPr>
        </p:nvSpPr>
        <p:spPr>
          <a:xfrm>
            <a:off x="731520" y="3735070"/>
            <a:ext cx="5080000" cy="1322070"/>
          </a:xfrm>
          <a:prstGeom prst="rect">
            <a:avLst/>
          </a:prstGeom>
          <a:ln>
            <a:solidFill>
              <a:schemeClr val="tx1"/>
            </a:solidFill>
          </a:ln>
        </p:spPr>
        <p:txBody>
          <a:bodyPr>
            <a:spAutoFit/>
          </a:bodyPr>
          <a:p>
            <a:pPr algn="ctr">
              <a:spcAft>
                <a:spcPct val="0"/>
              </a:spcAft>
            </a:pPr>
            <a:r>
              <a:rPr lang="en-US" altLang="zh-CN" sz="1600" b="1"/>
              <a:t>3. Bảo mật (Security)</a:t>
            </a:r>
            <a:endParaRPr lang="en-US" altLang="zh-CN" sz="2200" b="1"/>
          </a:p>
          <a:p>
            <a:pPr>
              <a:buFont typeface="Arial" panose="020B0604020202020204"/>
              <a:buChar char="•"/>
            </a:pPr>
            <a:r>
              <a:rPr lang="en-US" altLang="zh-CN" sz="1600"/>
              <a:t>Giao tiếp qua HTTPS để bảo vệ dữ liệu người dùng.</a:t>
            </a:r>
            <a:endParaRPr lang="en-US" altLang="zh-CN" sz="1600"/>
          </a:p>
          <a:p>
            <a:pPr>
              <a:buFont typeface="Arial" panose="020B0604020202020204"/>
              <a:buChar char="•"/>
            </a:pPr>
            <a:r>
              <a:rPr lang="en-US" altLang="zh-CN" sz="1600"/>
              <a:t>Dữ liệu người dùng như số điện thoại, thông tin đặt bàn phải được bảo vệ an toàn.</a:t>
            </a:r>
            <a:endParaRPr lang="en-US" altLang="zh-CN" sz="1600"/>
          </a:p>
          <a:p>
            <a:pPr>
              <a:buFont typeface="Arial" panose="020B0604020202020204"/>
              <a:buChar char="•"/>
            </a:pPr>
            <a:r>
              <a:rPr lang="en-US" altLang="zh-CN" sz="1600"/>
              <a:t>Xác thực người quản trị bằng JWT hoặc session token.</a:t>
            </a:r>
            <a:endParaRPr lang="en-US" altLang="zh-CN" sz="1600"/>
          </a:p>
        </p:txBody>
      </p:sp>
      <p:sp>
        <p:nvSpPr>
          <p:cNvPr id="8" name="Text Box 7"/>
          <p:cNvSpPr txBox="1"/>
          <p:nvPr>
            <p:custDataLst>
              <p:tags r:id="rId6"/>
            </p:custDataLst>
          </p:nvPr>
        </p:nvSpPr>
        <p:spPr>
          <a:xfrm>
            <a:off x="6348095" y="3611245"/>
            <a:ext cx="5080000" cy="1568450"/>
          </a:xfrm>
          <a:prstGeom prst="rect">
            <a:avLst/>
          </a:prstGeom>
          <a:ln>
            <a:solidFill>
              <a:schemeClr val="tx1"/>
            </a:solidFill>
          </a:ln>
        </p:spPr>
        <p:txBody>
          <a:bodyPr>
            <a:spAutoFit/>
          </a:bodyPr>
          <a:p>
            <a:pPr>
              <a:spcAft>
                <a:spcPct val="0"/>
              </a:spcAft>
            </a:pPr>
            <a:r>
              <a:rPr lang="en-US" altLang="zh-CN" sz="1600" b="1"/>
              <a:t> 4. Khả năng mở rộng (Scalability)</a:t>
            </a:r>
            <a:endParaRPr lang="en-US" altLang="zh-CN" sz="2200" b="1"/>
          </a:p>
          <a:p>
            <a:pPr>
              <a:buFont typeface="Arial" panose="020B0604020202020204"/>
              <a:buChar char="•"/>
            </a:pPr>
            <a:r>
              <a:rPr lang="en-US" altLang="zh-CN" sz="1600"/>
              <a:t>Hệ thống được thiết kế để dễ dàng mở rộng (thêm chức năng như đặt món, thanh toán online, đăng nhập người dùng).</a:t>
            </a:r>
            <a:endParaRPr lang="en-US" altLang="zh-CN" sz="1600"/>
          </a:p>
          <a:p>
            <a:pPr>
              <a:buFont typeface="Arial" panose="020B0604020202020204"/>
              <a:buChar char="•"/>
            </a:pPr>
            <a:r>
              <a:rPr lang="en-US" altLang="zh-CN" sz="1600"/>
              <a:t>Cấu trúc cơ sở dữ liệu và mã nguồn đảm bảo không bị “đóng khung”.</a:t>
            </a:r>
            <a:endParaRPr lang="en-US" altLang="zh-CN" sz="1600"/>
          </a:p>
        </p:txBody>
      </p:sp>
      <p:sp>
        <p:nvSpPr>
          <p:cNvPr id="13" name="Text Box 12"/>
          <p:cNvSpPr txBox="1"/>
          <p:nvPr/>
        </p:nvSpPr>
        <p:spPr>
          <a:xfrm>
            <a:off x="2037080" y="5272405"/>
            <a:ext cx="4498340" cy="1437005"/>
          </a:xfrm>
          <a:prstGeom prst="rect">
            <a:avLst/>
          </a:prstGeom>
          <a:ln>
            <a:solidFill>
              <a:schemeClr val="tx1"/>
            </a:solidFill>
          </a:ln>
        </p:spPr>
        <p:txBody>
          <a:bodyPr>
            <a:noAutofit/>
          </a:bodyPr>
          <a:p>
            <a:pPr>
              <a:spcAft>
                <a:spcPct val="0"/>
              </a:spcAft>
            </a:pPr>
            <a:r>
              <a:rPr lang="en-US" altLang="zh-CN" sz="2200" b="1"/>
              <a:t> </a:t>
            </a:r>
            <a:r>
              <a:rPr lang="en-US" altLang="zh-CN" sz="1600" b="1"/>
              <a:t>5. Dễ bảo trì &amp; nâng cấp (Maintainability)</a:t>
            </a:r>
            <a:endParaRPr lang="en-US" altLang="zh-CN" sz="2200" b="1"/>
          </a:p>
          <a:p>
            <a:pPr>
              <a:buFont typeface="Arial" panose="020B0604020202020204"/>
              <a:buChar char="•"/>
            </a:pPr>
            <a:r>
              <a:rPr lang="en-US" altLang="zh-CN" sz="1600"/>
              <a:t>Mã nguồn được tổ chức rõ ràng theo chuẩn MVC (Model-View-Controller).</a:t>
            </a:r>
            <a:endParaRPr lang="en-US" altLang="zh-CN" sz="1600"/>
          </a:p>
          <a:p>
            <a:pPr>
              <a:buFont typeface="Arial" panose="020B0604020202020204"/>
              <a:buChar char="•"/>
            </a:pPr>
            <a:r>
              <a:rPr lang="en-US" altLang="zh-CN" sz="1600"/>
              <a:t>Các chức năng được tách biệt (theo hướng modular/microservices), giúp dễ bảo trì.</a:t>
            </a:r>
            <a:endParaRPr lang="en-US" altLang="zh-CN" sz="1600"/>
          </a:p>
        </p:txBody>
      </p:sp>
      <p:sp>
        <p:nvSpPr>
          <p:cNvPr id="14" name="Text Box 13"/>
          <p:cNvSpPr txBox="1"/>
          <p:nvPr/>
        </p:nvSpPr>
        <p:spPr>
          <a:xfrm>
            <a:off x="6861175" y="5415598"/>
            <a:ext cx="5080000" cy="1076325"/>
          </a:xfrm>
          <a:prstGeom prst="rect">
            <a:avLst/>
          </a:prstGeom>
          <a:ln>
            <a:solidFill>
              <a:schemeClr val="tx1"/>
            </a:solidFill>
          </a:ln>
        </p:spPr>
        <p:txBody>
          <a:bodyPr>
            <a:spAutoFit/>
          </a:bodyPr>
          <a:p>
            <a:pPr>
              <a:spcAft>
                <a:spcPct val="0"/>
              </a:spcAft>
            </a:pPr>
            <a:r>
              <a:rPr lang="en-US" altLang="zh-CN" sz="1600" b="1"/>
              <a:t> 6. Tự động triển khai &amp; kiểm thử (CI/CD)</a:t>
            </a:r>
            <a:endParaRPr lang="en-US" altLang="zh-CN" sz="2200" b="1"/>
          </a:p>
          <a:p>
            <a:pPr>
              <a:buFont typeface="Arial" panose="020B0604020202020204"/>
              <a:buChar char="•"/>
            </a:pPr>
            <a:r>
              <a:rPr lang="en-US" altLang="zh-CN" sz="1600"/>
              <a:t>Áp dụng GitHub Actions để tự động kiểm tra code, triển khai lên server qua Docker.</a:t>
            </a:r>
            <a:endParaRPr lang="en-US" altLang="zh-CN" sz="1600"/>
          </a:p>
          <a:p>
            <a:pPr>
              <a:buFont typeface="Arial" panose="020B0604020202020204"/>
              <a:buChar char="•"/>
            </a:pPr>
            <a:r>
              <a:rPr lang="en-US" altLang="zh-CN" sz="1600"/>
              <a:t>Đảm bảo quá trình cập nhật không gây gián đoạn dịch vụ.</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140711" y="879791"/>
            <a:ext cx="671322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3</a:t>
            </a:r>
            <a:r>
              <a:rPr lang="en-US" altLang="en-US" sz="3200" b="1" dirty="0">
                <a:solidFill>
                  <a:srgbClr val="288098"/>
                </a:solidFill>
                <a:latin typeface="Arial" panose="020B0604020202020204" pitchFamily="34" charset="0"/>
                <a:ea typeface="Arial" panose="020B0604020202020204" pitchFamily="34" charset="0"/>
              </a:rPr>
              <a:t>.KẾT QUẢ THỰC HIỆN</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2108835" y="1671955"/>
            <a:ext cx="10086340" cy="5022215"/>
          </a:xfrm>
          <a:prstGeom prst="rect">
            <a:avLst/>
          </a:prstGeom>
        </p:spPr>
        <p:txBody>
          <a:bodyPr wrap="square">
            <a:noAutofit/>
          </a:bodyPr>
          <a:p>
            <a:pPr marL="0" indent="0" algn="ctr" defTabSz="266700">
              <a:spcBef>
                <a:spcPct val="0"/>
              </a:spcBef>
              <a:spcAft>
                <a:spcPct val="0"/>
              </a:spcAft>
            </a:pPr>
            <a:r>
              <a:rPr lang="en-US" altLang="en-US" sz="2000" b="1">
                <a:latin typeface="Times New Roman" panose="02020603050405020304"/>
                <a:ea typeface="Times New Roman" panose="02020603050405020304"/>
              </a:rPr>
              <a:t>Xây dựng model:</a:t>
            </a:r>
            <a:endParaRPr lang="en-US" altLang="en-US" sz="2000" b="1">
              <a:latin typeface="Times New Roman" panose="02020603050405020304"/>
              <a:ea typeface="Times New Roman" panose="02020603050405020304"/>
            </a:endParaRPr>
          </a:p>
          <a:p>
            <a:pPr marL="0" indent="0" defTabSz="266700">
              <a:spcBef>
                <a:spcPct val="0"/>
              </a:spcBef>
              <a:spcAft>
                <a:spcPct val="0"/>
              </a:spcAft>
            </a:pPr>
            <a:r>
              <a:rPr lang="en-US" altLang="en-US" sz="2000" b="1">
                <a:latin typeface="Times New Roman" panose="02020603050405020304"/>
                <a:ea typeface="Times New Roman" panose="02020603050405020304"/>
              </a:rPr>
              <a:t>base_model = MobileNetV2(weights='imagenet', include_top=False, input_shape=(IMAGE_SIZE[0], IMAGE_SIZE[1], 3)):</a:t>
            </a:r>
            <a:r>
              <a:rPr lang="en-US" altLang="en-US" sz="2000" b="1">
                <a:latin typeface="Times New Roman" panose="02020603050405020304"/>
                <a:ea typeface="Times New Roman" panose="02020603050405020304"/>
              </a:rPr>
              <a:t> </a:t>
            </a:r>
            <a:r>
              <a:rPr lang="en-US" altLang="en-US" sz="2000">
                <a:latin typeface="Times New Roman" panose="02020603050405020304"/>
                <a:ea typeface="Times New Roman" panose="02020603050405020304"/>
              </a:rPr>
              <a:t>Tạo một thể hiện của mô hình MobileNetV2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ã </a:t>
            </a:r>
            <a:r>
              <a:rPr lang="en-US" altLang="en-US" sz="2000">
                <a:latin typeface="Times New Roman" panose="02020603050405020304"/>
                <a:ea typeface="Times New Roman" panose="02020603050405020304"/>
              </a:rPr>
              <a:t>đư</a:t>
            </a:r>
            <a:r>
              <a:rPr lang="en-US" altLang="en-US" sz="2000">
                <a:latin typeface="Times New Roman" panose="02020603050405020304"/>
                <a:ea typeface="Times New Roman" panose="02020603050405020304"/>
              </a:rPr>
              <a:t>ợc huấn luyện tr</a:t>
            </a:r>
            <a:r>
              <a:rPr lang="en-US" altLang="en-US" sz="2000">
                <a:latin typeface="Times New Roman" panose="02020603050405020304"/>
                <a:ea typeface="Times New Roman" panose="02020603050405020304"/>
              </a:rPr>
              <a:t>ư</a:t>
            </a:r>
            <a:r>
              <a:rPr lang="en-US" altLang="en-US" sz="2000">
                <a:latin typeface="Times New Roman" panose="02020603050405020304"/>
                <a:ea typeface="Times New Roman" panose="02020603050405020304"/>
              </a:rPr>
              <a:t>ớc trên ImageNet.</a:t>
            </a:r>
            <a:endParaRPr lang="en-US" altLang="en-US" sz="2000">
              <a:latin typeface="Times New Roman" panose="02020603050405020304"/>
              <a:ea typeface="Times New Roman" panose="02020603050405020304"/>
            </a:endParaRPr>
          </a:p>
          <a:p>
            <a:pPr marL="0" indent="0" defTabSz="266700">
              <a:spcBef>
                <a:spcPct val="0"/>
              </a:spcBef>
              <a:spcAft>
                <a:spcPct val="0"/>
              </a:spcAft>
            </a:pPr>
            <a:endParaRPr lang="en-US" altLang="en-US" sz="2000">
              <a:latin typeface="Times New Roman" panose="02020603050405020304"/>
              <a:ea typeface="Times New Roman" panose="02020603050405020304"/>
            </a:endParaRPr>
          </a:p>
          <a:p>
            <a:pPr marL="0" indent="0" defTabSz="266700">
              <a:spcBef>
                <a:spcPct val="0"/>
              </a:spcBef>
              <a:spcAft>
                <a:spcPct val="0"/>
              </a:spcAft>
            </a:pPr>
            <a:r>
              <a:rPr lang="en-US" altLang="en-US" sz="2000" b="1">
                <a:latin typeface="Times New Roman" panose="02020603050405020304"/>
                <a:ea typeface="Times New Roman" panose="02020603050405020304"/>
              </a:rPr>
              <a:t>weights='imagenet':</a:t>
            </a:r>
            <a:r>
              <a:rPr lang="en-US" altLang="en-US" sz="2000" b="1">
                <a:latin typeface="Times New Roman" panose="02020603050405020304"/>
                <a:ea typeface="Times New Roman" panose="02020603050405020304"/>
              </a:rPr>
              <a:t> </a:t>
            </a:r>
            <a:r>
              <a:rPr lang="en-US" altLang="en-US" sz="2000">
                <a:latin typeface="Times New Roman" panose="02020603050405020304"/>
                <a:ea typeface="Times New Roman" panose="02020603050405020304"/>
              </a:rPr>
              <a:t>Sử dụng trọng số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ã </a:t>
            </a:r>
            <a:r>
              <a:rPr lang="en-US" altLang="en-US" sz="2000">
                <a:latin typeface="Times New Roman" panose="02020603050405020304"/>
                <a:ea typeface="Times New Roman" panose="02020603050405020304"/>
              </a:rPr>
              <a:t>đư</a:t>
            </a:r>
            <a:r>
              <a:rPr lang="en-US" altLang="en-US" sz="2000">
                <a:latin typeface="Times New Roman" panose="02020603050405020304"/>
                <a:ea typeface="Times New Roman" panose="02020603050405020304"/>
              </a:rPr>
              <a:t>ợc huấn luyện tr</a:t>
            </a:r>
            <a:r>
              <a:rPr lang="en-US" altLang="en-US" sz="2000">
                <a:latin typeface="Times New Roman" panose="02020603050405020304"/>
                <a:ea typeface="Times New Roman" panose="02020603050405020304"/>
              </a:rPr>
              <a:t>ư</a:t>
            </a:r>
            <a:r>
              <a:rPr lang="en-US" altLang="en-US" sz="2000">
                <a:latin typeface="Times New Roman" panose="02020603050405020304"/>
                <a:ea typeface="Times New Roman" panose="02020603050405020304"/>
              </a:rPr>
              <a:t>ớc trên bộ dữ liệu ImageNet.</a:t>
            </a:r>
            <a:endParaRPr lang="en-US" altLang="en-US" sz="2000">
              <a:latin typeface="Times New Roman" panose="02020603050405020304"/>
              <a:ea typeface="Times New Roman" panose="02020603050405020304"/>
            </a:endParaRPr>
          </a:p>
          <a:p>
            <a:pPr marL="0" indent="0" defTabSz="266700">
              <a:spcBef>
                <a:spcPct val="0"/>
              </a:spcBef>
              <a:spcAft>
                <a:spcPct val="0"/>
              </a:spcAft>
            </a:pPr>
            <a:endParaRPr lang="en-US" altLang="en-US" sz="2000">
              <a:latin typeface="Times New Roman" panose="02020603050405020304"/>
              <a:ea typeface="Times New Roman" panose="02020603050405020304"/>
            </a:endParaRPr>
          </a:p>
          <a:p>
            <a:pPr marL="0" indent="0" defTabSz="266700">
              <a:spcBef>
                <a:spcPct val="0"/>
              </a:spcBef>
              <a:spcAft>
                <a:spcPct val="0"/>
              </a:spcAft>
            </a:pPr>
            <a:r>
              <a:rPr lang="en-US" altLang="en-US" sz="2000" b="1">
                <a:latin typeface="Times New Roman" panose="02020603050405020304"/>
                <a:ea typeface="Times New Roman" panose="02020603050405020304"/>
              </a:rPr>
              <a:t>include_top=False:</a:t>
            </a:r>
            <a:r>
              <a:rPr lang="en-US" altLang="en-US" sz="2000">
                <a:latin typeface="Times New Roman" panose="02020603050405020304"/>
                <a:ea typeface="Times New Roman" panose="02020603050405020304"/>
              </a:rPr>
              <a:t> </a:t>
            </a:r>
            <a:r>
              <a:rPr lang="en-US" altLang="en-US" sz="2000">
                <a:latin typeface="Times New Roman" panose="02020603050405020304"/>
                <a:ea typeface="Times New Roman" panose="02020603050405020304"/>
              </a:rPr>
              <a:t>Loại bỏ lớp fully-connected ở cuối mô hình, vì chúng ta sẽ thay thế bằng các lớp phù hợp với bài toán của mình.</a:t>
            </a:r>
            <a:endParaRPr lang="en-US" altLang="en-US" sz="2000">
              <a:latin typeface="Times New Roman" panose="02020603050405020304"/>
              <a:ea typeface="Times New Roman" panose="02020603050405020304"/>
            </a:endParaRPr>
          </a:p>
          <a:p>
            <a:pPr marL="0" indent="0" defTabSz="266700">
              <a:spcBef>
                <a:spcPct val="0"/>
              </a:spcBef>
              <a:spcAft>
                <a:spcPct val="0"/>
              </a:spcAft>
            </a:pPr>
            <a:endParaRPr lang="en-US" altLang="en-US" sz="2000">
              <a:latin typeface="Times New Roman" panose="02020603050405020304"/>
              <a:ea typeface="Times New Roman" panose="02020603050405020304"/>
            </a:endParaRPr>
          </a:p>
          <a:p>
            <a:pPr marL="0" indent="0" defTabSz="266700">
              <a:spcBef>
                <a:spcPct val="0"/>
              </a:spcBef>
              <a:spcAft>
                <a:spcPct val="0"/>
              </a:spcAft>
            </a:pPr>
            <a:r>
              <a:rPr lang="en-US" altLang="en-US" sz="2000" b="1">
                <a:latin typeface="Times New Roman" panose="02020603050405020304"/>
                <a:ea typeface="Times New Roman" panose="02020603050405020304"/>
              </a:rPr>
              <a:t>input_shape=(IMAGE_SIZE[0], IMAGE_SIZE[1], 3):</a:t>
            </a:r>
            <a:r>
              <a:rPr lang="en-US" altLang="en-US" sz="2000">
                <a:latin typeface="Times New Roman" panose="02020603050405020304"/>
                <a:ea typeface="Times New Roman" panose="02020603050405020304"/>
              </a:rPr>
              <a:t> </a:t>
            </a:r>
            <a:r>
              <a:rPr lang="en-US" altLang="en-US" sz="2000">
                <a:latin typeface="Times New Roman" panose="02020603050405020304"/>
                <a:ea typeface="Times New Roman" panose="02020603050405020304"/>
              </a:rPr>
              <a:t>Xác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ịnh kích th</a:t>
            </a:r>
            <a:r>
              <a:rPr lang="en-US" altLang="en-US" sz="2000">
                <a:latin typeface="Times New Roman" panose="02020603050405020304"/>
                <a:ea typeface="Times New Roman" panose="02020603050405020304"/>
              </a:rPr>
              <a:t>ư</a:t>
            </a:r>
            <a:r>
              <a:rPr lang="en-US" altLang="en-US" sz="2000">
                <a:latin typeface="Times New Roman" panose="02020603050405020304"/>
                <a:ea typeface="Times New Roman" panose="02020603050405020304"/>
              </a:rPr>
              <a:t>ớc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ầu vào của mô hình.</a:t>
            </a:r>
            <a:endParaRPr lang="en-US" altLang="en-US" sz="2000">
              <a:latin typeface="Times New Roman" panose="02020603050405020304"/>
              <a:ea typeface="Times New Roman" panose="02020603050405020304"/>
            </a:endParaRPr>
          </a:p>
          <a:p>
            <a:pPr marL="0" indent="0" defTabSz="266700">
              <a:spcBef>
                <a:spcPct val="0"/>
              </a:spcBef>
              <a:spcAft>
                <a:spcPct val="0"/>
              </a:spcAft>
            </a:pPr>
            <a:endParaRPr lang="en-US" altLang="en-US" sz="2000">
              <a:latin typeface="Times New Roman" panose="02020603050405020304"/>
              <a:ea typeface="Times New Roman" panose="02020603050405020304"/>
            </a:endParaRPr>
          </a:p>
          <a:p>
            <a:pPr marL="0" indent="0" defTabSz="266700">
              <a:spcBef>
                <a:spcPct val="0"/>
              </a:spcBef>
              <a:spcAft>
                <a:spcPct val="0"/>
              </a:spcAft>
            </a:pPr>
            <a:r>
              <a:rPr lang="en-US" altLang="en-US" sz="2000" b="1">
                <a:latin typeface="Times New Roman" panose="02020603050405020304"/>
                <a:ea typeface="Times New Roman" panose="02020603050405020304"/>
              </a:rPr>
              <a:t>base_model.trainable = False:</a:t>
            </a:r>
            <a:r>
              <a:rPr lang="en-US" altLang="en-US" sz="2000">
                <a:latin typeface="Times New Roman" panose="02020603050405020304"/>
                <a:ea typeface="Times New Roman" panose="02020603050405020304"/>
              </a:rPr>
              <a:t> Đ</a:t>
            </a:r>
            <a:r>
              <a:rPr lang="en-US" altLang="en-US" sz="2000">
                <a:latin typeface="Times New Roman" panose="02020603050405020304"/>
                <a:ea typeface="Times New Roman" panose="02020603050405020304"/>
              </a:rPr>
              <a:t>óng b</a:t>
            </a:r>
            <a:r>
              <a:rPr lang="en-US" altLang="en-US" sz="2000">
                <a:latin typeface="Times New Roman" panose="02020603050405020304"/>
                <a:ea typeface="Times New Roman" panose="02020603050405020304"/>
              </a:rPr>
              <a:t>ă</a:t>
            </a:r>
            <a:r>
              <a:rPr lang="en-US" altLang="en-US" sz="2000">
                <a:latin typeface="Times New Roman" panose="02020603050405020304"/>
                <a:ea typeface="Times New Roman" panose="02020603050405020304"/>
              </a:rPr>
              <a:t>ng các lớp của</a:t>
            </a:r>
            <a:r>
              <a:rPr lang="en-US" altLang="en-US" sz="2000">
                <a:latin typeface="Times New Roman" panose="02020603050405020304"/>
                <a:ea typeface="Times New Roman" panose="02020603050405020304"/>
              </a:rPr>
              <a:t> </a:t>
            </a:r>
            <a:r>
              <a:rPr lang="en-US" altLang="en-US" sz="2000">
                <a:latin typeface="Times New Roman" panose="02020603050405020304"/>
                <a:ea typeface="Times New Roman" panose="02020603050405020304"/>
              </a:rPr>
              <a:t>base_model, ng</a:t>
            </a:r>
            <a:r>
              <a:rPr lang="en-US" altLang="en-US" sz="2000">
                <a:latin typeface="Times New Roman" panose="02020603050405020304"/>
                <a:ea typeface="Times New Roman" panose="02020603050405020304"/>
              </a:rPr>
              <a:t>ă</a:t>
            </a:r>
            <a:r>
              <a:rPr lang="en-US" altLang="en-US" sz="2000">
                <a:latin typeface="Times New Roman" panose="02020603050405020304"/>
                <a:ea typeface="Times New Roman" panose="02020603050405020304"/>
              </a:rPr>
              <a:t>n không cho chúng bị huấn luyện lại trong giai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oạn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ầu.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iều này giúp tiết kiệm thời gian và tránh làm hỏng các trọng số </a:t>
            </a:r>
            <a:r>
              <a:rPr lang="en-US" altLang="en-US" sz="2000">
                <a:latin typeface="Times New Roman" panose="02020603050405020304"/>
                <a:ea typeface="Times New Roman" panose="02020603050405020304"/>
              </a:rPr>
              <a:t>đ</a:t>
            </a:r>
            <a:r>
              <a:rPr lang="en-US" altLang="en-US" sz="2000">
                <a:latin typeface="Times New Roman" panose="02020603050405020304"/>
                <a:ea typeface="Times New Roman" panose="02020603050405020304"/>
              </a:rPr>
              <a:t>ã </a:t>
            </a:r>
            <a:r>
              <a:rPr lang="en-US" altLang="en-US" sz="2000">
                <a:latin typeface="Times New Roman" panose="02020603050405020304"/>
                <a:ea typeface="Times New Roman" panose="02020603050405020304"/>
              </a:rPr>
              <a:t>đư</a:t>
            </a:r>
            <a:r>
              <a:rPr lang="en-US" altLang="en-US" sz="2000">
                <a:latin typeface="Times New Roman" panose="02020603050405020304"/>
                <a:ea typeface="Times New Roman" panose="02020603050405020304"/>
              </a:rPr>
              <a:t>ợc huấn luyện tốt.</a:t>
            </a:r>
            <a:endParaRPr lang="en-US" altLang="en-US" sz="2000">
              <a:latin typeface="Times New Roman" panose="02020603050405020304"/>
              <a:ea typeface="Times New Roman" panose="02020603050405020304"/>
            </a:endParaRPr>
          </a:p>
          <a:p>
            <a:pPr marL="0" indent="0" defTabSz="266700">
              <a:spcBef>
                <a:spcPct val="0"/>
              </a:spcBef>
              <a:spcAft>
                <a:spcPct val="0"/>
              </a:spcAft>
            </a:pPr>
            <a:endParaRPr lang="en-US" altLang="en-US" sz="2000">
              <a:latin typeface="Times New Roman" panose="02020603050405020304"/>
              <a:ea typeface="Times New Roman" panose="02020603050405020304"/>
            </a:endParaRPr>
          </a:p>
          <a:p>
            <a:pPr marL="0" indent="0" defTabSz="266700">
              <a:spcBef>
                <a:spcPct val="0"/>
              </a:spcBef>
              <a:spcAft>
                <a:spcPct val="0"/>
              </a:spcAft>
            </a:pPr>
            <a:endParaRPr lang="en-US" altLang="en-US" sz="2000" b="1">
              <a:latin typeface="Times New Roman" panose="02020603050405020304"/>
              <a:ea typeface="Times New Roman" panose="02020603050405020304"/>
            </a:endParaRPr>
          </a:p>
          <a:p>
            <a:pPr marL="0" indent="0" defTabSz="266700">
              <a:spcBef>
                <a:spcPct val="0"/>
              </a:spcBef>
              <a:spcAft>
                <a:spcPct val="0"/>
              </a:spcAft>
            </a:pPr>
            <a:endParaRPr lang="en-US" altLang="en-US" sz="2000" b="1">
              <a:latin typeface="Times New Roman" panose="02020603050405020304"/>
              <a:ea typeface="Times New Roman" panose="02020603050405020304"/>
            </a:endParaRPr>
          </a:p>
          <a:p>
            <a:pPr marL="0" indent="0" defTabSz="266700">
              <a:spcBef>
                <a:spcPct val="0"/>
              </a:spcBef>
              <a:spcAft>
                <a:spcPct val="0"/>
              </a:spcAft>
            </a:pPr>
            <a:endParaRPr lang="en-US" altLang="zh-CN" sz="2000" b="1">
              <a:latin typeface="Times New Roman" panose="02020603050405020304"/>
              <a:ea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140711" y="736281"/>
            <a:ext cx="671322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3</a:t>
            </a:r>
            <a:r>
              <a:rPr lang="en-US" altLang="en-US" sz="3200" b="1" dirty="0">
                <a:solidFill>
                  <a:srgbClr val="288098"/>
                </a:solidFill>
                <a:latin typeface="Arial" panose="020B0604020202020204" pitchFamily="34" charset="0"/>
                <a:ea typeface="Arial" panose="020B0604020202020204" pitchFamily="34" charset="0"/>
              </a:rPr>
              <a:t>.KẾT QUẢ THỰC HIỆN</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2036445" y="1240155"/>
            <a:ext cx="10125710" cy="5022215"/>
          </a:xfrm>
          <a:prstGeom prst="rect">
            <a:avLst/>
          </a:prstGeom>
        </p:spPr>
        <p:txBody>
          <a:bodyPr wrap="square">
            <a:noAutofit/>
          </a:bodyPr>
          <a:p>
            <a:pPr marL="0" indent="0" algn="ctr" defTabSz="266700">
              <a:spcBef>
                <a:spcPct val="0"/>
              </a:spcBef>
              <a:spcAft>
                <a:spcPct val="0"/>
              </a:spcAft>
            </a:pPr>
            <a:r>
              <a:rPr lang="en-US" altLang="en-US" sz="1800" b="1">
                <a:latin typeface="Times New Roman" panose="02020603050405020304"/>
                <a:ea typeface="Times New Roman" panose="02020603050405020304"/>
              </a:rPr>
              <a:t>Xây dựng phần "head" của model:</a:t>
            </a:r>
            <a:endParaRPr lang="en-US" altLang="en-US" sz="1800" b="1">
              <a:latin typeface="Times New Roman" panose="02020603050405020304"/>
              <a:ea typeface="Times New Roman" panose="02020603050405020304"/>
            </a:endParaRPr>
          </a:p>
          <a:p>
            <a:pPr marL="0" indent="0" defTabSz="266700">
              <a:spcBef>
                <a:spcPct val="0"/>
              </a:spcBef>
              <a:spcAft>
                <a:spcPct val="0"/>
              </a:spcAft>
            </a:pPr>
            <a:r>
              <a:rPr lang="en-US" altLang="en-US" sz="1800" b="1">
                <a:latin typeface="Times New Roman" panose="02020603050405020304"/>
                <a:ea typeface="Times New Roman" panose="02020603050405020304"/>
              </a:rPr>
              <a:t>inputs = Input(shape=(IMAGE_SIZE[0], IMAGE_SIZE[1], 3)):</a:t>
            </a:r>
            <a:r>
              <a:rPr lang="en-US" altLang="en-US" sz="1800" b="1">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Tạo lớp</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Input</a:t>
            </a:r>
            <a:r>
              <a:rPr lang="en-US" altLang="en-US" sz="1800">
                <a:latin typeface="Times New Roman" panose="02020603050405020304"/>
                <a:ea typeface="Times New Roman" panose="02020603050405020304"/>
              </a:rPr>
              <a:t> đ</a:t>
            </a:r>
            <a:r>
              <a:rPr lang="en-US" altLang="en-US" sz="1800">
                <a:latin typeface="Times New Roman" panose="02020603050405020304"/>
                <a:ea typeface="Times New Roman" panose="02020603050405020304"/>
              </a:rPr>
              <a:t>ể xác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ịnh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ầu vào của model.</a:t>
            </a:r>
            <a:endParaRPr lang="en-US" altLang="en-US" sz="1800">
              <a:latin typeface="Times New Roman" panose="02020603050405020304"/>
              <a:ea typeface="Times New Roman" panose="02020603050405020304"/>
            </a:endParaRPr>
          </a:p>
          <a:p>
            <a:pPr marL="0" indent="0" defTabSz="266700">
              <a:spcBef>
                <a:spcPct val="0"/>
              </a:spcBef>
              <a:spcAft>
                <a:spcPct val="0"/>
              </a:spcAft>
            </a:pP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b="1">
                <a:latin typeface="Times New Roman" panose="02020603050405020304"/>
                <a:ea typeface="Times New Roman" panose="02020603050405020304"/>
              </a:rPr>
              <a:t>x = base_model(inputs, training=False)</a:t>
            </a:r>
            <a:r>
              <a:rPr lang="en-US" altLang="en-US" sz="1800">
                <a:latin typeface="Times New Roman" panose="02020603050405020304"/>
                <a:ea typeface="Times New Roman" panose="02020603050405020304"/>
              </a:rPr>
              <a:t>:</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Truyền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ầu vào qua</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base_model.</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training=False</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rất quan trọng ở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ây, nó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ảm bảo rằng các lớp BatchNormalization trong</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base_model</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hoạt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ộng ở chế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ộ inference (sử dụng thống kê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ã học </a:t>
            </a:r>
            <a:r>
              <a:rPr lang="en-US" altLang="en-US" sz="1800">
                <a:latin typeface="Times New Roman" panose="02020603050405020304"/>
                <a:ea typeface="Times New Roman" panose="02020603050405020304"/>
              </a:rPr>
              <a:t>đư</a:t>
            </a:r>
            <a:r>
              <a:rPr lang="en-US" altLang="en-US" sz="1800">
                <a:latin typeface="Times New Roman" panose="02020603050405020304"/>
                <a:ea typeface="Times New Roman" panose="02020603050405020304"/>
              </a:rPr>
              <a:t>ợc trong quá trình huấn luyện tr</a:t>
            </a:r>
            <a:r>
              <a:rPr lang="en-US" altLang="en-US" sz="1800">
                <a:latin typeface="Times New Roman" panose="02020603050405020304"/>
                <a:ea typeface="Times New Roman" panose="02020603050405020304"/>
              </a:rPr>
              <a:t>ư</a:t>
            </a:r>
            <a:r>
              <a:rPr lang="en-US" altLang="en-US" sz="1800">
                <a:latin typeface="Times New Roman" panose="02020603050405020304"/>
                <a:ea typeface="Times New Roman" panose="02020603050405020304"/>
              </a:rPr>
              <a:t>ớc), thay vì cố gắng cập nhật các thống kê này dựa trên dữ liệu mới.</a:t>
            </a:r>
            <a:endParaRPr lang="en-US" altLang="en-US" sz="1800">
              <a:latin typeface="Times New Roman" panose="02020603050405020304"/>
              <a:ea typeface="Times New Roman" panose="02020603050405020304"/>
            </a:endParaRPr>
          </a:p>
          <a:p>
            <a:pPr marL="0" indent="0" defTabSz="266700">
              <a:spcBef>
                <a:spcPct val="0"/>
              </a:spcBef>
              <a:spcAft>
                <a:spcPct val="0"/>
              </a:spcAft>
            </a:pP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b="1">
                <a:latin typeface="Times New Roman" panose="02020603050405020304"/>
                <a:ea typeface="Times New Roman" panose="02020603050405020304"/>
              </a:rPr>
              <a:t>x = GlobalAveragePooling2D()(x):</a:t>
            </a:r>
            <a:r>
              <a:rPr lang="en-US" altLang="en-US" sz="1800" b="1">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Á</a:t>
            </a:r>
            <a:r>
              <a:rPr lang="en-US" altLang="en-US" sz="1800">
                <a:latin typeface="Times New Roman" panose="02020603050405020304"/>
                <a:ea typeface="Times New Roman" panose="02020603050405020304"/>
              </a:rPr>
              <a:t>p dụng lớp</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GlobalAveragePooling2D</a:t>
            </a:r>
            <a:r>
              <a:rPr lang="en-US" altLang="en-US" sz="1800">
                <a:latin typeface="Times New Roman" panose="02020603050405020304"/>
                <a:ea typeface="Times New Roman" panose="02020603050405020304"/>
              </a:rPr>
              <a:t> đ</a:t>
            </a:r>
            <a:r>
              <a:rPr lang="en-US" altLang="en-US" sz="1800">
                <a:latin typeface="Times New Roman" panose="02020603050405020304"/>
                <a:ea typeface="Times New Roman" panose="02020603050405020304"/>
              </a:rPr>
              <a:t>ể giảm số l</a:t>
            </a:r>
            <a:r>
              <a:rPr lang="en-US" altLang="en-US" sz="1800">
                <a:latin typeface="Times New Roman" panose="02020603050405020304"/>
                <a:ea typeface="Times New Roman" panose="02020603050405020304"/>
              </a:rPr>
              <a:t>ư</a:t>
            </a:r>
            <a:r>
              <a:rPr lang="en-US" altLang="en-US" sz="1800">
                <a:latin typeface="Times New Roman" panose="02020603050405020304"/>
                <a:ea typeface="Times New Roman" panose="02020603050405020304"/>
              </a:rPr>
              <a:t>ợng tham số và trích xuất các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ặc tr</a:t>
            </a:r>
            <a:r>
              <a:rPr lang="en-US" altLang="en-US" sz="1800">
                <a:latin typeface="Times New Roman" panose="02020603050405020304"/>
                <a:ea typeface="Times New Roman" panose="02020603050405020304"/>
              </a:rPr>
              <a:t>ư</a:t>
            </a:r>
            <a:r>
              <a:rPr lang="en-US" altLang="en-US" sz="1800">
                <a:latin typeface="Times New Roman" panose="02020603050405020304"/>
                <a:ea typeface="Times New Roman" panose="02020603050405020304"/>
              </a:rPr>
              <a:t>ng quan trọng.</a:t>
            </a:r>
            <a:endParaRPr lang="en-US" altLang="en-US" sz="1800">
              <a:latin typeface="Times New Roman" panose="02020603050405020304"/>
              <a:ea typeface="Times New Roman" panose="02020603050405020304"/>
            </a:endParaRPr>
          </a:p>
          <a:p>
            <a:pPr marL="0" indent="0" defTabSz="266700">
              <a:spcBef>
                <a:spcPct val="0"/>
              </a:spcBef>
              <a:spcAft>
                <a:spcPct val="0"/>
              </a:spcAft>
            </a:pP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b="1">
                <a:latin typeface="Times New Roman" panose="02020603050405020304"/>
                <a:ea typeface="Times New Roman" panose="02020603050405020304"/>
              </a:rPr>
              <a:t>x = Dense(256, activation='relu')(x):</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Thêm một lớp fully-connected với 256 nơ-ron và hàm kích hoạt ReLU.</a:t>
            </a:r>
            <a:endParaRPr lang="en-US" altLang="en-US" sz="1800">
              <a:latin typeface="Times New Roman" panose="02020603050405020304"/>
              <a:ea typeface="Times New Roman" panose="02020603050405020304"/>
            </a:endParaRPr>
          </a:p>
          <a:p>
            <a:pPr marL="0" indent="0" defTabSz="266700">
              <a:spcBef>
                <a:spcPct val="0"/>
              </a:spcBef>
              <a:spcAft>
                <a:spcPct val="0"/>
              </a:spcAft>
            </a:pP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b="1">
                <a:latin typeface="Times New Roman" panose="02020603050405020304"/>
                <a:ea typeface="Times New Roman" panose="02020603050405020304"/>
              </a:rPr>
              <a:t>x = Dropout(0.5)(x):</a:t>
            </a:r>
            <a:r>
              <a:rPr lang="en-US" altLang="en-US" sz="1800">
                <a:latin typeface="Times New Roman" panose="02020603050405020304"/>
                <a:ea typeface="Times New Roman" panose="02020603050405020304"/>
              </a:rPr>
              <a:t> Á</a:t>
            </a:r>
            <a:r>
              <a:rPr lang="en-US" altLang="en-US" sz="1800">
                <a:latin typeface="Times New Roman" panose="02020603050405020304"/>
                <a:ea typeface="Times New Roman" panose="02020603050405020304"/>
              </a:rPr>
              <a:t>p dụng dropout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ể giảm overfitting.</a:t>
            </a: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b="1">
                <a:latin typeface="Times New Roman" panose="02020603050405020304"/>
                <a:ea typeface="Times New Roman" panose="02020603050405020304"/>
              </a:rPr>
              <a:t>outputs = Dense(num_classes, activation='softmax')(x):</a:t>
            </a:r>
            <a:r>
              <a:rPr lang="en-US" altLang="en-US" sz="1800" b="1">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Thêm lớp fully-connected cuối cùng với số l</a:t>
            </a:r>
            <a:r>
              <a:rPr lang="en-US" altLang="en-US" sz="1800">
                <a:latin typeface="Times New Roman" panose="02020603050405020304"/>
                <a:ea typeface="Times New Roman" panose="02020603050405020304"/>
              </a:rPr>
              <a:t>ư</a:t>
            </a:r>
            <a:r>
              <a:rPr lang="en-US" altLang="en-US" sz="1800">
                <a:latin typeface="Times New Roman" panose="02020603050405020304"/>
                <a:ea typeface="Times New Roman" panose="02020603050405020304"/>
              </a:rPr>
              <a:t>ợng nơ-ron bằng số l</a:t>
            </a:r>
            <a:r>
              <a:rPr lang="en-US" altLang="en-US" sz="1800">
                <a:latin typeface="Times New Roman" panose="02020603050405020304"/>
                <a:ea typeface="Times New Roman" panose="02020603050405020304"/>
              </a:rPr>
              <a:t>ư</a:t>
            </a:r>
            <a:r>
              <a:rPr lang="en-US" altLang="en-US" sz="1800">
                <a:latin typeface="Times New Roman" panose="02020603050405020304"/>
                <a:ea typeface="Times New Roman" panose="02020603050405020304"/>
              </a:rPr>
              <a:t>ợng lớp và hàm kích hoạt softmax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ể </a:t>
            </a:r>
            <a:r>
              <a:rPr lang="en-US" altLang="en-US" sz="1800">
                <a:latin typeface="Times New Roman" panose="02020603050405020304"/>
                <a:ea typeface="Times New Roman" panose="02020603050405020304"/>
              </a:rPr>
              <a:t>đư</a:t>
            </a:r>
            <a:r>
              <a:rPr lang="en-US" altLang="en-US" sz="1800">
                <a:latin typeface="Times New Roman" panose="02020603050405020304"/>
                <a:ea typeface="Times New Roman" panose="02020603050405020304"/>
              </a:rPr>
              <a:t>a ra dự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oán xác suất cho mỗi lớp.</a:t>
            </a: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a:latin typeface="Times New Roman" panose="02020603050405020304"/>
                <a:ea typeface="Times New Roman" panose="02020603050405020304"/>
              </a:rPr>
              <a:t>model = Model(inputs, outputs):</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Tạo model từ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ầu vào và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ầu ra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ã </a:t>
            </a:r>
            <a:r>
              <a:rPr lang="en-US" altLang="en-US" sz="1800">
                <a:latin typeface="Times New Roman" panose="02020603050405020304"/>
                <a:ea typeface="Times New Roman" panose="02020603050405020304"/>
              </a:rPr>
              <a:t>đ</a:t>
            </a:r>
            <a:r>
              <a:rPr lang="en-US" altLang="en-US" sz="1800">
                <a:latin typeface="Times New Roman" panose="02020603050405020304"/>
                <a:ea typeface="Times New Roman" panose="02020603050405020304"/>
              </a:rPr>
              <a:t>ịnh ngh</a:t>
            </a:r>
            <a:r>
              <a:rPr lang="en-US" altLang="en-US" sz="1800">
                <a:latin typeface="Times New Roman" panose="02020603050405020304"/>
                <a:ea typeface="Times New Roman" panose="02020603050405020304"/>
              </a:rPr>
              <a:t>ĩ</a:t>
            </a:r>
            <a:r>
              <a:rPr lang="en-US" altLang="en-US" sz="1800">
                <a:latin typeface="Times New Roman" panose="02020603050405020304"/>
                <a:ea typeface="Times New Roman" panose="02020603050405020304"/>
              </a:rPr>
              <a:t>a.</a:t>
            </a:r>
            <a:endParaRPr lang="en-US" altLang="en-US" sz="1800">
              <a:latin typeface="Times New Roman" panose="02020603050405020304"/>
              <a:ea typeface="Times New Roman" panose="02020603050405020304"/>
            </a:endParaRPr>
          </a:p>
          <a:p>
            <a:pPr marL="0" indent="0" defTabSz="266700">
              <a:spcBef>
                <a:spcPct val="0"/>
              </a:spcBef>
              <a:spcAft>
                <a:spcPct val="0"/>
              </a:spcAft>
            </a:pPr>
            <a:r>
              <a:rPr lang="en-US" altLang="en-US" sz="1800">
                <a:latin typeface="Times New Roman" panose="02020603050405020304"/>
                <a:ea typeface="Times New Roman" panose="02020603050405020304"/>
              </a:rPr>
              <a:t>model.summary():</a:t>
            </a:r>
            <a:r>
              <a:rPr lang="en-US" altLang="en-US" sz="1800">
                <a:latin typeface="Times New Roman" panose="02020603050405020304"/>
                <a:ea typeface="Times New Roman" panose="02020603050405020304"/>
              </a:rPr>
              <a:t> </a:t>
            </a:r>
            <a:r>
              <a:rPr lang="en-US" altLang="en-US" sz="1800">
                <a:latin typeface="Times New Roman" panose="02020603050405020304"/>
                <a:ea typeface="Times New Roman" panose="02020603050405020304"/>
              </a:rPr>
              <a:t>In ra tóm tắt kiến trúc của model.</a:t>
            </a:r>
            <a:endParaRPr lang="en-US" altLang="en-US" sz="1800">
              <a:latin typeface="Times New Roman" panose="02020603050405020304"/>
              <a:ea typeface="Times New Roman" panose="02020603050405020304"/>
            </a:endParaRPr>
          </a:p>
          <a:p>
            <a:pPr marL="0" indent="0" defTabSz="266700">
              <a:spcBef>
                <a:spcPct val="0"/>
              </a:spcBef>
              <a:spcAft>
                <a:spcPct val="0"/>
              </a:spcAft>
            </a:pPr>
            <a:endParaRPr lang="en-US" altLang="en-US" sz="1800">
              <a:latin typeface="Times New Roman" panose="02020603050405020304"/>
              <a:ea typeface="Times New Roman" panose="02020603050405020304"/>
            </a:endParaRPr>
          </a:p>
          <a:p>
            <a:pPr marL="0" indent="0" defTabSz="266700">
              <a:spcBef>
                <a:spcPct val="0"/>
              </a:spcBef>
              <a:spcAft>
                <a:spcPct val="0"/>
              </a:spcAft>
            </a:pPr>
            <a:endParaRPr lang="en-US" altLang="en-US" sz="1800" b="1">
              <a:latin typeface="Times New Roman" panose="02020603050405020304"/>
              <a:ea typeface="Times New Roman" panose="02020603050405020304"/>
            </a:endParaRPr>
          </a:p>
          <a:p>
            <a:pPr marL="0" indent="0" defTabSz="266700">
              <a:spcBef>
                <a:spcPct val="0"/>
              </a:spcBef>
              <a:spcAft>
                <a:spcPct val="0"/>
              </a:spcAft>
            </a:pPr>
            <a:endParaRPr lang="en-US" altLang="en-US" sz="1800" b="1">
              <a:latin typeface="Times New Roman" panose="02020603050405020304"/>
              <a:ea typeface="Times New Roman" panose="02020603050405020304"/>
            </a:endParaRPr>
          </a:p>
          <a:p>
            <a:pPr marL="0" indent="0" defTabSz="266700">
              <a:spcBef>
                <a:spcPct val="0"/>
              </a:spcBef>
              <a:spcAft>
                <a:spcPct val="0"/>
              </a:spcAft>
            </a:pPr>
            <a:endParaRPr lang="en-US" altLang="en-US" sz="1800" b="1">
              <a:latin typeface="Times New Roman" panose="02020603050405020304"/>
              <a:ea typeface="Times New Roman" panose="02020603050405020304"/>
            </a:endParaRPr>
          </a:p>
          <a:p>
            <a:pPr marL="0" indent="0" defTabSz="266700">
              <a:spcBef>
                <a:spcPct val="0"/>
              </a:spcBef>
              <a:spcAft>
                <a:spcPct val="0"/>
              </a:spcAft>
            </a:pPr>
            <a:endParaRPr lang="en-US" altLang="en-US" sz="1800" b="1">
              <a:latin typeface="Times New Roman" panose="02020603050405020304"/>
              <a:ea typeface="Times New Roman" panose="02020603050405020304"/>
            </a:endParaRPr>
          </a:p>
          <a:p>
            <a:pPr marL="0" indent="0" defTabSz="266700">
              <a:spcBef>
                <a:spcPct val="0"/>
              </a:spcBef>
              <a:spcAft>
                <a:spcPct val="0"/>
              </a:spcAft>
            </a:pPr>
            <a:endParaRPr lang="en-US" altLang="en-US" sz="1800" b="1">
              <a:latin typeface="Times New Roman" panose="02020603050405020304"/>
              <a:ea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140711" y="736281"/>
            <a:ext cx="671322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3</a:t>
            </a:r>
            <a:r>
              <a:rPr lang="en-US" altLang="en-US" sz="3200" b="1" dirty="0">
                <a:solidFill>
                  <a:srgbClr val="288098"/>
                </a:solidFill>
                <a:latin typeface="Arial" panose="020B0604020202020204" pitchFamily="34" charset="0"/>
                <a:ea typeface="Arial" panose="020B0604020202020204" pitchFamily="34" charset="0"/>
              </a:rPr>
              <a:t>.KẾT QUẢ THỰC HIỆN</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2756535" y="1491615"/>
            <a:ext cx="10125710" cy="5022215"/>
          </a:xfrm>
          <a:prstGeom prst="rect">
            <a:avLst/>
          </a:prstGeom>
        </p:spPr>
        <p:txBody>
          <a:bodyPr wrap="square">
            <a:noAutofit/>
          </a:bodyPr>
          <a:p>
            <a:pPr marL="0" indent="0" defTabSz="266700">
              <a:spcBef>
                <a:spcPct val="0"/>
              </a:spcBef>
              <a:spcAft>
                <a:spcPct val="0"/>
              </a:spcAft>
            </a:pPr>
            <a:endParaRPr lang="en-US" altLang="en-US" sz="1800" b="1">
              <a:latin typeface="Times New Roman" panose="02020603050405020304"/>
              <a:ea typeface="Times New Roman" panose="02020603050405020304"/>
            </a:endParaRPr>
          </a:p>
        </p:txBody>
      </p:sp>
      <p:sp>
        <p:nvSpPr>
          <p:cNvPr id="6" name="Text Box 5"/>
          <p:cNvSpPr txBox="1"/>
          <p:nvPr/>
        </p:nvSpPr>
        <p:spPr>
          <a:xfrm>
            <a:off x="1676400" y="2032000"/>
            <a:ext cx="4622800" cy="4300855"/>
          </a:xfrm>
          <a:prstGeom prst="rect">
            <a:avLst/>
          </a:prstGeom>
          <a:ln>
            <a:solidFill>
              <a:schemeClr val="tx1"/>
            </a:solidFill>
          </a:ln>
        </p:spPr>
        <p:txBody>
          <a:bodyPr>
            <a:noAutofit/>
          </a:bodyPr>
          <a:p>
            <a:pPr marL="0" indent="0" defTabSz="266700">
              <a:spcBef>
                <a:spcPct val="0"/>
              </a:spcBef>
              <a:spcAft>
                <a:spcPct val="0"/>
              </a:spcAft>
            </a:pPr>
            <a:r>
              <a:rPr lang="en-US" altLang="zh-CN" sz="1600" b="1">
                <a:latin typeface="Calibri" panose="020F0502020204030204"/>
                <a:ea typeface="等线"/>
              </a:rPr>
              <a:t> Biên dịch mô hình ở giai đoạn 1 </a:t>
            </a:r>
            <a:endParaRPr lang="en-US" altLang="zh-CN" sz="1600" b="1">
              <a:latin typeface="Calibri" panose="020F0502020204030204"/>
              <a:ea typeface="等线"/>
            </a:endParaRPr>
          </a:p>
          <a:p>
            <a:pPr algn="just" defTabSz="266700">
              <a:lnSpc>
                <a:spcPct val="150000"/>
              </a:lnSpc>
            </a:pPr>
            <a:r>
              <a:rPr lang="en-US" altLang="zh-CN" sz="1600" b="1" u="sng">
                <a:latin typeface="Calibri" panose="020F0502020204030204"/>
                <a:ea typeface="等线"/>
              </a:rPr>
              <a:t>Biên dịch model:</a:t>
            </a:r>
            <a:endParaRPr lang="en-US" altLang="zh-CN" sz="1600" b="1" u="sng">
              <a:latin typeface="Calibri" panose="020F0502020204030204"/>
              <a:ea typeface="等线"/>
            </a:endParaRPr>
          </a:p>
          <a:p>
            <a:pPr algn="just" defTabSz="266700">
              <a:lnSpc>
                <a:spcPct val="150000"/>
              </a:lnSpc>
            </a:pPr>
            <a:r>
              <a:rPr lang="en-US" altLang="zh-CN" sz="1600" b="1">
                <a:latin typeface="Calibri" panose="020F0502020204030204"/>
                <a:ea typeface="等线"/>
              </a:rPr>
              <a:t>optimizer_head = AdamW(learning_rate=0.001): </a:t>
            </a:r>
            <a:r>
              <a:rPr lang="en-US" altLang="zh-CN" sz="1600">
                <a:latin typeface="Calibri" panose="020F0502020204030204"/>
                <a:ea typeface="等线"/>
              </a:rPr>
              <a:t>Tạo một optimizer AdamW với learning rate là 0.001. Learning rate này thường cao hơn so với giai đoạn fine-tuning, vì chúng ta chỉ huấn luyện phần "head" của model.</a:t>
            </a:r>
            <a:endParaRPr lang="en-US" altLang="zh-CN" sz="1600">
              <a:latin typeface="Calibri" panose="020F0502020204030204"/>
              <a:ea typeface="等线"/>
            </a:endParaRPr>
          </a:p>
          <a:p>
            <a:pPr algn="just" defTabSz="266700">
              <a:lnSpc>
                <a:spcPct val="150000"/>
              </a:lnSpc>
            </a:pPr>
            <a:r>
              <a:rPr lang="en-US" altLang="zh-CN" sz="1600" b="1">
                <a:latin typeface="Calibri" panose="020F0502020204030204"/>
                <a:ea typeface="等线"/>
              </a:rPr>
              <a:t>model.compile(optimizer=optimizer_head, loss='categorical_crossentropy', metrics=['accuracy']):</a:t>
            </a:r>
            <a:r>
              <a:rPr lang="en-US" altLang="zh-CN" sz="1600">
                <a:latin typeface="Calibri" panose="020F0502020204030204"/>
                <a:ea typeface="等线"/>
              </a:rPr>
              <a:t> Biên dịch model với optimizer, hàm mất mát categorical_crossentropy (phù hợp cho bài toán phân loại đa lớp), và metric accuracy.</a:t>
            </a:r>
            <a:endParaRPr lang="en-US" altLang="zh-CN" sz="1600">
              <a:latin typeface="Calibri" panose="020F0502020204030204"/>
              <a:ea typeface="等线"/>
            </a:endParaRPr>
          </a:p>
        </p:txBody>
      </p:sp>
      <p:sp>
        <p:nvSpPr>
          <p:cNvPr id="9" name="Text Box 8"/>
          <p:cNvSpPr txBox="1"/>
          <p:nvPr/>
        </p:nvSpPr>
        <p:spPr>
          <a:xfrm>
            <a:off x="7077710" y="1815783"/>
            <a:ext cx="5080000" cy="4892675"/>
          </a:xfrm>
          <a:prstGeom prst="rect">
            <a:avLst/>
          </a:prstGeom>
          <a:ln>
            <a:solidFill>
              <a:schemeClr val="tx1"/>
            </a:solidFill>
          </a:ln>
        </p:spPr>
        <p:txBody>
          <a:bodyPr>
            <a:spAutoFit/>
          </a:bodyPr>
          <a:p>
            <a:pPr algn="just" defTabSz="266700">
              <a:lnSpc>
                <a:spcPct val="150000"/>
              </a:lnSpc>
            </a:pPr>
            <a:r>
              <a:rPr lang="en-US" altLang="zh-CN" sz="1600" b="1">
                <a:latin typeface="Calibri" panose="020F0502020204030204"/>
                <a:ea typeface="等线"/>
                <a:sym typeface="+mn-ea"/>
              </a:rPr>
              <a:t>Biên dịch mô hình ở giai đoạn </a:t>
            </a:r>
            <a:r>
              <a:rPr lang="vi-VN" altLang="en-US" sz="1600" b="1">
                <a:latin typeface="Calibri" panose="020F0502020204030204"/>
                <a:ea typeface="等线"/>
                <a:sym typeface="+mn-ea"/>
              </a:rPr>
              <a:t>2 </a:t>
            </a:r>
            <a:endParaRPr lang="en-US" altLang="zh-CN" sz="1600" b="1">
              <a:latin typeface="Calibri" panose="020F0502020204030204"/>
              <a:ea typeface="等线"/>
              <a:sym typeface="+mn-ea"/>
            </a:endParaRPr>
          </a:p>
          <a:p>
            <a:pPr algn="just" defTabSz="266700">
              <a:lnSpc>
                <a:spcPct val="150000"/>
              </a:lnSpc>
            </a:pPr>
            <a:r>
              <a:rPr lang="en-US" altLang="zh-CN" sz="1600" b="1" u="sng">
                <a:latin typeface="Calibri" panose="020F0502020204030204"/>
                <a:ea typeface="等线"/>
              </a:rPr>
              <a:t>Mở băng (Unfreeze) các lớp:</a:t>
            </a:r>
            <a:endParaRPr lang="en-US" altLang="zh-CN" sz="1600" b="1" u="sng">
              <a:latin typeface="Calibri" panose="020F0502020204030204"/>
              <a:ea typeface="等线"/>
            </a:endParaRPr>
          </a:p>
          <a:p>
            <a:pPr algn="just" defTabSz="266700">
              <a:lnSpc>
                <a:spcPct val="150000"/>
              </a:lnSpc>
            </a:pPr>
            <a:r>
              <a:rPr lang="en-US" altLang="zh-CN" sz="1600" b="1">
                <a:latin typeface="Calibri" panose="020F0502020204030204"/>
                <a:ea typeface="等线"/>
              </a:rPr>
              <a:t>base_model.trainable = True:</a:t>
            </a:r>
            <a:r>
              <a:rPr lang="en-US" altLang="zh-CN" sz="1600">
                <a:latin typeface="Calibri" panose="020F0502020204030204"/>
                <a:ea typeface="等线"/>
              </a:rPr>
              <a:t> Cho phép huấn luyện tất cả các lớp của base_model</a:t>
            </a:r>
            <a:endParaRPr lang="en-US" altLang="zh-CN" sz="1600">
              <a:latin typeface="Calibri" panose="020F0502020204030204"/>
              <a:ea typeface="等线"/>
            </a:endParaRPr>
          </a:p>
          <a:p>
            <a:pPr algn="just" defTabSz="266700">
              <a:lnSpc>
                <a:spcPct val="150000"/>
              </a:lnSpc>
            </a:pPr>
            <a:r>
              <a:rPr lang="en-US" altLang="zh-CN" sz="1600" b="1">
                <a:latin typeface="Calibri" panose="020F0502020204030204"/>
                <a:ea typeface="等线"/>
              </a:rPr>
              <a:t>fine_tune_at_layer_index = 100: </a:t>
            </a:r>
            <a:r>
              <a:rPr lang="en-US" altLang="zh-CN" sz="1600">
                <a:latin typeface="Calibri" panose="020F0502020204030204"/>
                <a:ea typeface="等线"/>
              </a:rPr>
              <a:t>Xác định lớp bắt đầu fine-tuning.</a:t>
            </a:r>
            <a:endParaRPr lang="en-US" altLang="zh-CN" sz="1600">
              <a:latin typeface="Calibri" panose="020F0502020204030204"/>
              <a:ea typeface="等线"/>
            </a:endParaRPr>
          </a:p>
          <a:p>
            <a:pPr algn="just" defTabSz="266700">
              <a:lnSpc>
                <a:spcPct val="150000"/>
              </a:lnSpc>
            </a:pPr>
            <a:r>
              <a:rPr lang="en-US" altLang="zh-CN" sz="1600" b="1">
                <a:latin typeface="Calibri" panose="020F0502020204030204"/>
                <a:ea typeface="等线"/>
              </a:rPr>
              <a:t>Vòng lặp for layer in base_model.layers[:fine_tune_at_layer_index]: layer.trainable</a:t>
            </a:r>
            <a:r>
              <a:rPr lang="en-US" altLang="zh-CN" sz="1600">
                <a:latin typeface="Calibri" panose="020F0502020204030204"/>
                <a:ea typeface="等线"/>
              </a:rPr>
              <a:t> = False: Đóng băng các lớp từ đầu đến lớp fine_tune_at_layer_index.</a:t>
            </a:r>
            <a:endParaRPr lang="en-US" altLang="zh-CN" sz="1600">
              <a:latin typeface="Calibri" panose="020F0502020204030204"/>
              <a:ea typeface="等线"/>
            </a:endParaRPr>
          </a:p>
          <a:p>
            <a:pPr algn="just" defTabSz="266700">
              <a:lnSpc>
                <a:spcPct val="150000"/>
              </a:lnSpc>
            </a:pPr>
            <a:r>
              <a:rPr lang="en-US" altLang="zh-CN" sz="1600" b="1">
                <a:latin typeface="Calibri" panose="020F0502020204030204"/>
                <a:ea typeface="等线"/>
              </a:rPr>
              <a:t>Vòng lặp for layer in base_model.layers[fine_tune_at_layer_index:]: </a:t>
            </a:r>
            <a:r>
              <a:rPr lang="en-US" altLang="zh-CN" sz="1600">
                <a:latin typeface="Calibri" panose="020F0502020204030204"/>
                <a:ea typeface="等线"/>
              </a:rPr>
              <a:t>layer.trainable = True: Mở băng các lớp từ lớp `fine_</a:t>
            </a:r>
            <a:endParaRPr lang="en-US" altLang="zh-CN" sz="1600">
              <a:latin typeface="Calibri" panose="020F0502020204030204"/>
              <a:ea typeface="等线"/>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140711" y="736281"/>
            <a:ext cx="671322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3</a:t>
            </a:r>
            <a:r>
              <a:rPr lang="en-US" altLang="en-US" sz="3200" b="1" dirty="0">
                <a:solidFill>
                  <a:srgbClr val="288098"/>
                </a:solidFill>
                <a:latin typeface="Arial" panose="020B0604020202020204" pitchFamily="34" charset="0"/>
                <a:ea typeface="Arial" panose="020B0604020202020204" pitchFamily="34" charset="0"/>
              </a:rPr>
              <a:t>.KẾT QUẢ THỰC HIỆN</a:t>
            </a:r>
            <a:endParaRPr lang="en-US"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2756535" y="1491615"/>
            <a:ext cx="10125710" cy="5022215"/>
          </a:xfrm>
          <a:prstGeom prst="rect">
            <a:avLst/>
          </a:prstGeom>
        </p:spPr>
        <p:txBody>
          <a:bodyPr wrap="square">
            <a:noAutofit/>
          </a:bodyPr>
          <a:p>
            <a:pPr marL="0" indent="0" defTabSz="266700">
              <a:spcBef>
                <a:spcPct val="0"/>
              </a:spcBef>
              <a:spcAft>
                <a:spcPct val="0"/>
              </a:spcAft>
            </a:pPr>
            <a:endParaRPr lang="en-US" altLang="en-US" sz="1800" b="1">
              <a:latin typeface="Times New Roman" panose="02020603050405020304"/>
              <a:ea typeface="Times New Roman" panose="02020603050405020304"/>
            </a:endParaRPr>
          </a:p>
        </p:txBody>
      </p:sp>
      <p:sp>
        <p:nvSpPr>
          <p:cNvPr id="3" name="Text Box 2"/>
          <p:cNvSpPr txBox="1"/>
          <p:nvPr/>
        </p:nvSpPr>
        <p:spPr>
          <a:xfrm>
            <a:off x="2181225" y="1671955"/>
            <a:ext cx="9851390" cy="5046345"/>
          </a:xfrm>
          <a:prstGeom prst="rect">
            <a:avLst/>
          </a:prstGeom>
          <a:ln>
            <a:solidFill>
              <a:schemeClr val="tx1"/>
            </a:solidFill>
          </a:ln>
        </p:spPr>
        <p:txBody>
          <a:bodyPr wrap="square">
            <a:spAutoFit/>
          </a:bodyPr>
          <a:p>
            <a:pPr algn="just" defTabSz="266700">
              <a:lnSpc>
                <a:spcPct val="150000"/>
              </a:lnSpc>
            </a:pPr>
            <a:r>
              <a:rPr lang="en-US" altLang="zh-CN" sz="1400" b="1" u="sng">
                <a:latin typeface="Calibri" panose="020F0502020204030204"/>
                <a:ea typeface="等线"/>
              </a:rPr>
              <a:t>Huấn luyện model:</a:t>
            </a:r>
            <a:endParaRPr lang="en-US" altLang="zh-CN" sz="1400" b="1" u="sng">
              <a:latin typeface="Calibri" panose="020F0502020204030204"/>
              <a:ea typeface="等线"/>
            </a:endParaRPr>
          </a:p>
          <a:p>
            <a:pPr algn="just" defTabSz="266700">
              <a:lnSpc>
                <a:spcPct val="150000"/>
              </a:lnSpc>
            </a:pPr>
            <a:r>
              <a:rPr lang="en-US" altLang="zh-CN" sz="1400" b="1">
                <a:latin typeface="Calibri" panose="020F0502020204030204"/>
                <a:ea typeface="等线"/>
              </a:rPr>
              <a:t>epochs_head = 30:</a:t>
            </a:r>
            <a:r>
              <a:rPr lang="en-US" altLang="zh-CN" sz="1400">
                <a:latin typeface="Calibri" panose="020F0502020204030204"/>
                <a:ea typeface="等线"/>
              </a:rPr>
              <a:t> Số lượng epochs cho giai đoạn huấn luyện này.</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batch_size_count = 32:</a:t>
            </a:r>
            <a:r>
              <a:rPr lang="en-US" altLang="zh-CN" sz="1400">
                <a:latin typeface="Calibri" panose="020F0502020204030204"/>
                <a:ea typeface="等线"/>
              </a:rPr>
              <a:t> Kích thước batch.</a:t>
            </a:r>
            <a:endParaRPr lang="en-US" altLang="zh-CN" sz="1400">
              <a:latin typeface="Calibri" panose="020F0502020204030204"/>
              <a:ea typeface="等线"/>
            </a:endParaRPr>
          </a:p>
          <a:p>
            <a:pPr algn="just" defTabSz="266700">
              <a:lnSpc>
                <a:spcPct val="150000"/>
              </a:lnSpc>
            </a:pPr>
            <a:r>
              <a:rPr lang="en-US" altLang="zh-CN" sz="1400" b="1" u="sng">
                <a:latin typeface="Calibri" panose="020F0502020204030204"/>
                <a:ea typeface="等线"/>
              </a:rPr>
              <a:t>Callbacks:</a:t>
            </a:r>
            <a:endParaRPr lang="en-US" altLang="zh-CN" sz="1400" b="1" u="sng">
              <a:latin typeface="Calibri" panose="020F0502020204030204"/>
              <a:ea typeface="等线"/>
            </a:endParaRPr>
          </a:p>
          <a:p>
            <a:pPr algn="just" defTabSz="266700">
              <a:lnSpc>
                <a:spcPct val="150000"/>
              </a:lnSpc>
            </a:pPr>
            <a:r>
              <a:rPr lang="en-US" altLang="zh-CN" sz="1400" b="1">
                <a:latin typeface="Calibri" panose="020F0502020204030204"/>
                <a:ea typeface="等线"/>
              </a:rPr>
              <a:t>EarlyStopping:</a:t>
            </a:r>
            <a:r>
              <a:rPr lang="en-US" altLang="zh-CN" sz="1400">
                <a:latin typeface="Calibri" panose="020F0502020204030204"/>
                <a:ea typeface="等线"/>
              </a:rPr>
              <a:t> Dừng huấn luyện nếu độ chính xác trên tập validation không cải thiện trong 10 epochs. restore_best_weights=True đảm bảo rằng model sẽ được trả về trạng thái có độ chính xác tốt nhất trên tập validation.</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ReduceLROnPlateau:</a:t>
            </a:r>
            <a:r>
              <a:rPr lang="en-US" altLang="zh-CN" sz="1400">
                <a:latin typeface="Calibri" panose="020F0502020204030204"/>
                <a:ea typeface="等线"/>
              </a:rPr>
              <a:t> Giảm learning rate nếu độ mất mát trên tập validation không giảm trong 5 epochs.</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ModelCheckpoint: </a:t>
            </a:r>
            <a:r>
              <a:rPr lang="en-US" altLang="zh-CN" sz="1400">
                <a:latin typeface="Calibri" panose="020F0502020204030204"/>
                <a:ea typeface="等线"/>
              </a:rPr>
              <a:t>Lưu model có độ chính xác tốt nhất trên tập validation vào file best_fruit_model_mobilenetv2.keras.</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steps_per_epoch_count = max(1, len(X_train) // batch_size_count):</a:t>
            </a:r>
            <a:r>
              <a:rPr lang="en-US" altLang="zh-CN" sz="1400">
                <a:latin typeface="Calibri" panose="020F0502020204030204"/>
                <a:ea typeface="等线"/>
              </a:rPr>
              <a:t> Tính số lượng steps trên mỗi epoch.</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datagen.flow(X_train, y_train, batch_size=batch_size_count): </a:t>
            </a:r>
            <a:r>
              <a:rPr lang="en-US" altLang="zh-CN" sz="1400">
                <a:latin typeface="Calibri" panose="020F0502020204030204"/>
                <a:ea typeface="等线"/>
              </a:rPr>
              <a:t>Tạo một generator dữ liệu từ ImageDataGenerator để cung cấp dữ liệu đã được tăng cường cho model.</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model.fit(...): </a:t>
            </a:r>
            <a:r>
              <a:rPr lang="en-US" altLang="zh-CN" sz="1400">
                <a:latin typeface="Calibri" panose="020F0502020204030204"/>
                <a:ea typeface="等线"/>
              </a:rPr>
              <a:t>Huấn luyện model với dữ liệu từ generator.</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validation_data=(X_val_processed, y_val): </a:t>
            </a:r>
            <a:r>
              <a:rPr lang="en-US" altLang="zh-CN" sz="1400">
                <a:latin typeface="Calibri" panose="020F0502020204030204"/>
                <a:ea typeface="等线"/>
              </a:rPr>
              <a:t>Sử dụng tập validation đã được chuẩn hóa để đánh giá model trong quá trình huấn luyện.</a:t>
            </a:r>
            <a:endParaRPr lang="en-US" altLang="zh-CN" sz="1400">
              <a:latin typeface="Calibri" panose="020F0502020204030204"/>
              <a:ea typeface="等线"/>
            </a:endParaRPr>
          </a:p>
          <a:p>
            <a:pPr algn="just" defTabSz="266700">
              <a:lnSpc>
                <a:spcPct val="150000"/>
              </a:lnSpc>
            </a:pPr>
            <a:r>
              <a:rPr lang="en-US" altLang="zh-CN" sz="1400" b="1">
                <a:latin typeface="Calibri" panose="020F0502020204030204"/>
                <a:ea typeface="等线"/>
              </a:rPr>
              <a:t>callbacks=[...]: </a:t>
            </a:r>
            <a:r>
              <a:rPr lang="en-US" altLang="zh-CN" sz="1400">
                <a:latin typeface="Calibri" panose="020F0502020204030204"/>
                <a:ea typeface="等线"/>
              </a:rPr>
              <a:t>Sử dụng các callbacks đã định nghĩa để kiểm soát quá trình huấn luyện.</a:t>
            </a:r>
            <a:endParaRPr lang="en-US" altLang="zh-CN" sz="1400">
              <a:latin typeface="Calibri" panose="020F0502020204030204"/>
              <a:ea typeface="等线"/>
            </a:endParaRPr>
          </a:p>
          <a:p>
            <a:pPr marL="0" indent="0" defTabSz="266700">
              <a:spcBef>
                <a:spcPct val="0"/>
              </a:spcBef>
              <a:spcAft>
                <a:spcPct val="0"/>
              </a:spcAft>
            </a:pPr>
            <a:r>
              <a:rPr lang="en-US" altLang="zh-CN" sz="1400" b="1">
                <a:latin typeface="Calibri" panose="020F0502020204030204"/>
                <a:ea typeface="等线"/>
              </a:rPr>
              <a:t>history_head = model.fit(...):</a:t>
            </a:r>
            <a:r>
              <a:rPr lang="en-US" altLang="zh-CN" sz="1400">
                <a:latin typeface="Calibri" panose="020F0502020204030204"/>
                <a:ea typeface="等线"/>
              </a:rPr>
              <a:t> Lưu trữ lịch sử huấn luyện để vẽ đồ thị sau này</a:t>
            </a:r>
            <a:endParaRPr lang="en-US" altLang="zh-CN" sz="1400">
              <a:latin typeface="Calibri" panose="020F0502020204030204"/>
              <a:ea typeface="等线"/>
            </a:endParaRPr>
          </a:p>
          <a:p>
            <a:pPr marL="0" indent="0" defTabSz="266700">
              <a:spcBef>
                <a:spcPct val="0"/>
              </a:spcBef>
              <a:spcAft>
                <a:spcPct val="0"/>
              </a:spcAft>
            </a:pPr>
            <a:r>
              <a:rPr lang="en-US" altLang="zh-CN" sz="1400">
                <a:latin typeface="Calibri" panose="020F0502020204030204"/>
                <a:ea typeface="等线"/>
              </a:rPr>
              <a:t> </a:t>
            </a:r>
            <a:endParaRPr lang="en-US" altLang="zh-CN" sz="1400">
              <a:latin typeface="Calibri" panose="020F0502020204030204"/>
              <a:ea typeface="等线"/>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2836546" y="736281"/>
            <a:ext cx="732155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4. DỮ LIỆU THỰC </a:t>
            </a:r>
            <a:r>
              <a:rPr lang="vi-VN" altLang="en-US" sz="3200" b="1" dirty="0">
                <a:solidFill>
                  <a:srgbClr val="288098"/>
                </a:solidFill>
                <a:latin typeface="Arial" panose="020B0604020202020204" pitchFamily="34" charset="0"/>
                <a:ea typeface="Arial" panose="020B0604020202020204" pitchFamily="34" charset="0"/>
              </a:rPr>
              <a:t>NGHIỆM</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5" name="Text Box 4"/>
          <p:cNvSpPr txBox="1"/>
          <p:nvPr/>
        </p:nvSpPr>
        <p:spPr>
          <a:xfrm>
            <a:off x="4196715" y="1383983"/>
            <a:ext cx="5080000" cy="460375"/>
          </a:xfrm>
          <a:prstGeom prst="rect">
            <a:avLst/>
          </a:prstGeom>
        </p:spPr>
        <p:txBody>
          <a:bodyPr>
            <a:spAutoFit/>
          </a:bodyPr>
          <a:p>
            <a:pPr marL="457200" lvl="1" indent="0" defTabSz="266700">
              <a:lnSpc>
                <a:spcPct val="150000"/>
              </a:lnSpc>
              <a:spcAft>
                <a:spcPct val="0"/>
              </a:spcAft>
              <a:buFont typeface="Times New Roman" panose="02020603050405020304"/>
              <a:buNone/>
            </a:pPr>
            <a:r>
              <a:rPr lang="vi-VN" altLang="en-US" sz="1600" b="1">
                <a:solidFill>
                  <a:srgbClr val="000000"/>
                </a:solidFill>
                <a:latin typeface="Times New Roman" panose="02020603050405020304"/>
                <a:ea typeface="Times New Roman" panose="02020603050405020304"/>
              </a:rPr>
              <a:t>Kết quả kiểm thử bằng dữ liệu thực </a:t>
            </a:r>
            <a:r>
              <a:rPr lang="vi-VN" altLang="en-US" sz="1600" b="1">
                <a:solidFill>
                  <a:srgbClr val="000000"/>
                </a:solidFill>
                <a:latin typeface="Times New Roman" panose="02020603050405020304"/>
                <a:ea typeface="Times New Roman" panose="02020603050405020304"/>
              </a:rPr>
              <a:t>tế</a:t>
            </a:r>
            <a:endParaRPr lang="vi-VN" altLang="en-US" sz="1600" b="1">
              <a:solidFill>
                <a:srgbClr val="000000"/>
              </a:solidFill>
              <a:latin typeface="Times New Roman" panose="02020603050405020304"/>
              <a:ea typeface="Times New Roman" panose="02020603050405020304"/>
            </a:endParaRPr>
          </a:p>
        </p:txBody>
      </p:sp>
      <p:pic>
        <p:nvPicPr>
          <p:cNvPr id="62" name="Picture 1" descr="IMG_256"/>
          <p:cNvPicPr>
            <a:picLocks noChangeAspect="1"/>
          </p:cNvPicPr>
          <p:nvPr/>
        </p:nvPicPr>
        <p:blipFill>
          <a:blip r:embed="rId3"/>
          <a:stretch>
            <a:fillRect/>
          </a:stretch>
        </p:blipFill>
        <p:spPr>
          <a:xfrm>
            <a:off x="740410" y="2247900"/>
            <a:ext cx="3517265" cy="2638425"/>
          </a:xfrm>
          <a:prstGeom prst="rect">
            <a:avLst/>
          </a:prstGeom>
          <a:noFill/>
          <a:ln w="9525">
            <a:solidFill>
              <a:schemeClr val="tx1"/>
            </a:solidFill>
          </a:ln>
        </p:spPr>
      </p:pic>
      <p:pic>
        <p:nvPicPr>
          <p:cNvPr id="63" name="Picture 2"/>
          <p:cNvPicPr>
            <a:picLocks noChangeAspect="1"/>
          </p:cNvPicPr>
          <p:nvPr/>
        </p:nvPicPr>
        <p:blipFill>
          <a:blip r:embed="rId4"/>
          <a:stretch>
            <a:fillRect/>
          </a:stretch>
        </p:blipFill>
        <p:spPr>
          <a:xfrm>
            <a:off x="4700905" y="2288540"/>
            <a:ext cx="3575685" cy="2637790"/>
          </a:xfrm>
          <a:prstGeom prst="rect">
            <a:avLst/>
          </a:prstGeom>
          <a:noFill/>
          <a:ln>
            <a:solidFill>
              <a:schemeClr val="tx1"/>
            </a:solidFill>
          </a:ln>
        </p:spPr>
      </p:pic>
      <p:pic>
        <p:nvPicPr>
          <p:cNvPr id="64" name="Picture 3"/>
          <p:cNvPicPr>
            <a:picLocks noChangeAspect="1"/>
          </p:cNvPicPr>
          <p:nvPr/>
        </p:nvPicPr>
        <p:blipFill>
          <a:blip r:embed="rId5"/>
          <a:stretch>
            <a:fillRect/>
          </a:stretch>
        </p:blipFill>
        <p:spPr>
          <a:xfrm>
            <a:off x="8589645" y="2299970"/>
            <a:ext cx="3459480" cy="2602230"/>
          </a:xfrm>
          <a:prstGeom prst="rect">
            <a:avLst/>
          </a:prstGeom>
          <a:noFill/>
          <a:ln>
            <a:solidFill>
              <a:schemeClr val="tx1"/>
            </a:solidFill>
          </a:ln>
        </p:spPr>
      </p:pic>
      <p:sp>
        <p:nvSpPr>
          <p:cNvPr id="13" name="Text Box 12"/>
          <p:cNvSpPr txBox="1"/>
          <p:nvPr/>
        </p:nvSpPr>
        <p:spPr>
          <a:xfrm>
            <a:off x="1748790" y="5219065"/>
            <a:ext cx="1795145" cy="612140"/>
          </a:xfrm>
          <a:prstGeom prst="rect">
            <a:avLst/>
          </a:prstGeom>
          <a:ln>
            <a:solidFill>
              <a:schemeClr val="tx1"/>
            </a:solidFill>
          </a:ln>
        </p:spPr>
        <p:txBody>
          <a:bodyPr wrap="square">
            <a:noAutofit/>
            <a:scene3d>
              <a:camera prst="orthographicFront"/>
              <a:lightRig rig="threePt" dir="t"/>
            </a:scene3d>
          </a:bodyPr>
          <a:p>
            <a:pPr marL="457200" lvl="1" indent="0" defTabSz="266700">
              <a:lnSpc>
                <a:spcPct val="150000"/>
              </a:lnSpc>
              <a:spcAft>
                <a:spcPct val="0"/>
              </a:spcAft>
              <a:buFont typeface="Times New Roman" panose="02020603050405020304"/>
              <a:buNone/>
            </a:pPr>
            <a:r>
              <a:rPr lang="vi-VN" altLang="en-US" sz="1600" b="1">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rPr>
              <a:t>Dưa hấu</a:t>
            </a:r>
            <a:endParaRPr lang="vi-VN" altLang="en-US" sz="1600" b="1">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endParaRPr>
          </a:p>
        </p:txBody>
      </p:sp>
      <p:sp>
        <p:nvSpPr>
          <p:cNvPr id="14" name="Text Box 13"/>
          <p:cNvSpPr txBox="1"/>
          <p:nvPr/>
        </p:nvSpPr>
        <p:spPr>
          <a:xfrm>
            <a:off x="5532120" y="5128260"/>
            <a:ext cx="1795145" cy="612140"/>
          </a:xfrm>
          <a:prstGeom prst="rect">
            <a:avLst/>
          </a:prstGeom>
          <a:ln>
            <a:solidFill>
              <a:schemeClr val="tx1"/>
            </a:solidFill>
          </a:ln>
        </p:spPr>
        <p:txBody>
          <a:bodyPr wrap="square">
            <a:noAutofit/>
          </a:bodyPr>
          <a:p>
            <a:pPr marL="457200" lvl="1" indent="0" algn="l" defTabSz="266700">
              <a:lnSpc>
                <a:spcPct val="150000"/>
              </a:lnSpc>
              <a:spcAft>
                <a:spcPct val="0"/>
              </a:spcAft>
              <a:buFont typeface="Times New Roman" panose="02020603050405020304"/>
              <a:buNone/>
            </a:pPr>
            <a:r>
              <a:rPr lang="vi-VN" altLang="en-US" sz="1600" b="1">
                <a:solidFill>
                  <a:srgbClr val="000000"/>
                </a:solidFill>
                <a:latin typeface="Times New Roman" panose="02020603050405020304"/>
                <a:ea typeface="Times New Roman" panose="02020603050405020304"/>
              </a:rPr>
              <a:t>Chuối</a:t>
            </a:r>
            <a:endParaRPr lang="vi-VN" altLang="en-US" sz="1600" b="1">
              <a:solidFill>
                <a:srgbClr val="000000"/>
              </a:solidFill>
              <a:latin typeface="Times New Roman" panose="02020603050405020304"/>
              <a:ea typeface="Times New Roman" panose="02020603050405020304"/>
            </a:endParaRPr>
          </a:p>
        </p:txBody>
      </p:sp>
      <p:sp>
        <p:nvSpPr>
          <p:cNvPr id="15" name="Text Box 14"/>
          <p:cNvSpPr txBox="1"/>
          <p:nvPr/>
        </p:nvSpPr>
        <p:spPr>
          <a:xfrm>
            <a:off x="9237345" y="5128260"/>
            <a:ext cx="1795145" cy="612140"/>
          </a:xfrm>
          <a:prstGeom prst="rect">
            <a:avLst/>
          </a:prstGeom>
          <a:ln>
            <a:solidFill>
              <a:schemeClr val="tx1"/>
            </a:solidFill>
          </a:ln>
        </p:spPr>
        <p:txBody>
          <a:bodyPr wrap="square">
            <a:noAutofit/>
            <a:scene3d>
              <a:camera prst="orthographicFront"/>
              <a:lightRig rig="threePt" dir="t"/>
            </a:scene3d>
          </a:bodyPr>
          <a:p>
            <a:pPr marL="457200" lvl="1" indent="0" defTabSz="266700">
              <a:lnSpc>
                <a:spcPct val="150000"/>
              </a:lnSpc>
              <a:spcAft>
                <a:spcPct val="0"/>
              </a:spcAft>
              <a:buFont typeface="Times New Roman" panose="02020603050405020304"/>
              <a:buNone/>
            </a:pPr>
            <a:r>
              <a:rPr lang="vi-VN" altLang="en-US" sz="1600" b="1">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rPr>
              <a:t>Dâu tây</a:t>
            </a:r>
            <a:endParaRPr lang="vi-VN" altLang="en-US" sz="1600" b="1">
              <a:solidFill>
                <a:schemeClr val="tx1"/>
              </a:solidFill>
              <a:effectLst>
                <a:outerShdw blurRad="38100" dist="19050" dir="2700000" algn="tl" rotWithShape="0">
                  <a:schemeClr val="dk1">
                    <a:alpha val="40000"/>
                  </a:schemeClr>
                </a:outerShdw>
              </a:effectLst>
              <a:latin typeface="Times New Roman" panose="02020603050405020304"/>
              <a:ea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2836546" y="736281"/>
            <a:ext cx="7321550" cy="58356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4. DỮ LIỆU THỰC </a:t>
            </a:r>
            <a:r>
              <a:rPr lang="vi-VN" altLang="en-US" sz="3200" b="1" dirty="0">
                <a:solidFill>
                  <a:srgbClr val="288098"/>
                </a:solidFill>
                <a:latin typeface="Arial" panose="020B0604020202020204" pitchFamily="34" charset="0"/>
                <a:ea typeface="Arial" panose="020B0604020202020204" pitchFamily="34" charset="0"/>
              </a:rPr>
              <a:t>NGHIỆM</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5" name="Text Box 4"/>
          <p:cNvSpPr txBox="1"/>
          <p:nvPr/>
        </p:nvSpPr>
        <p:spPr>
          <a:xfrm>
            <a:off x="4196715" y="1383983"/>
            <a:ext cx="5080000" cy="460375"/>
          </a:xfrm>
          <a:prstGeom prst="rect">
            <a:avLst/>
          </a:prstGeom>
        </p:spPr>
        <p:txBody>
          <a:bodyPr>
            <a:spAutoFit/>
          </a:bodyPr>
          <a:p>
            <a:pPr marL="457200" lvl="1" indent="0" defTabSz="266700">
              <a:lnSpc>
                <a:spcPct val="150000"/>
              </a:lnSpc>
              <a:spcAft>
                <a:spcPct val="0"/>
              </a:spcAft>
              <a:buFont typeface="Times New Roman" panose="02020603050405020304"/>
              <a:buNone/>
            </a:pPr>
            <a:r>
              <a:rPr lang="vi-VN" altLang="en-US" sz="1600" b="1">
                <a:solidFill>
                  <a:srgbClr val="000000"/>
                </a:solidFill>
                <a:latin typeface="Times New Roman" panose="02020603050405020304"/>
                <a:ea typeface="Times New Roman" panose="02020603050405020304"/>
              </a:rPr>
              <a:t>Kết quả dự đoán được lưu về </a:t>
            </a:r>
            <a:r>
              <a:rPr lang="vi-VN" altLang="en-US" sz="1600" b="1">
                <a:solidFill>
                  <a:srgbClr val="000000"/>
                </a:solidFill>
                <a:latin typeface="Times New Roman" panose="02020603050405020304"/>
                <a:ea typeface="Times New Roman" panose="02020603050405020304"/>
              </a:rPr>
              <a:t>Excel</a:t>
            </a:r>
            <a:endParaRPr lang="vi-VN" altLang="en-US" sz="1600" b="1">
              <a:solidFill>
                <a:srgbClr val="000000"/>
              </a:solidFill>
              <a:latin typeface="Times New Roman" panose="02020603050405020304"/>
              <a:ea typeface="Times New Roman" panose="02020603050405020304"/>
            </a:endParaRPr>
          </a:p>
        </p:txBody>
      </p:sp>
      <p:pic>
        <p:nvPicPr>
          <p:cNvPr id="66" name="Picture 5"/>
          <p:cNvPicPr>
            <a:picLocks noChangeAspect="1"/>
          </p:cNvPicPr>
          <p:nvPr/>
        </p:nvPicPr>
        <p:blipFill>
          <a:blip r:embed="rId3"/>
          <a:stretch>
            <a:fillRect/>
          </a:stretch>
        </p:blipFill>
        <p:spPr>
          <a:xfrm>
            <a:off x="1460500" y="2247900"/>
            <a:ext cx="10144760" cy="3464560"/>
          </a:xfrm>
          <a:prstGeom prst="rect">
            <a:avLst/>
          </a:prstGeom>
          <a:noFill/>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3760788" y="736281"/>
            <a:ext cx="5473065" cy="1076325"/>
          </a:xfrm>
          <a:prstGeom prst="rect">
            <a:avLst/>
          </a:prstGeom>
          <a:noFill/>
        </p:spPr>
        <p:txBody>
          <a:bodyPr wrap="none" rtlCol="0">
            <a:spAutoFit/>
          </a:bodyPr>
          <a:lstStyle/>
          <a:p>
            <a:pPr algn="ctr"/>
            <a:r>
              <a:rPr lang="en-US" altLang="en-US" sz="3200" b="1" dirty="0">
                <a:solidFill>
                  <a:srgbClr val="288098"/>
                </a:solidFill>
                <a:latin typeface="Arial" panose="020B0604020202020204" pitchFamily="34" charset="0"/>
                <a:ea typeface="Arial" panose="020B0604020202020204" pitchFamily="34" charset="0"/>
              </a:rPr>
              <a:t>CHƯƠNG </a:t>
            </a:r>
            <a:r>
              <a:rPr lang="vi-VN" altLang="en-US" sz="3200" b="1" dirty="0">
                <a:solidFill>
                  <a:srgbClr val="288098"/>
                </a:solidFill>
                <a:latin typeface="Arial" panose="020B0604020202020204" pitchFamily="34" charset="0"/>
                <a:ea typeface="Arial" panose="020B0604020202020204" pitchFamily="34" charset="0"/>
              </a:rPr>
              <a:t>5. KẾT LUẬN VÀ </a:t>
            </a:r>
            <a:endParaRPr lang="vi-VN" altLang="en-US" sz="3200" b="1" dirty="0">
              <a:solidFill>
                <a:srgbClr val="288098"/>
              </a:solidFill>
              <a:latin typeface="Arial" panose="020B0604020202020204" pitchFamily="34" charset="0"/>
              <a:ea typeface="Arial" panose="020B0604020202020204" pitchFamily="34" charset="0"/>
            </a:endParaRPr>
          </a:p>
          <a:p>
            <a:pPr algn="ctr"/>
            <a:r>
              <a:rPr lang="vi-VN" altLang="en-US" sz="3200" b="1" dirty="0">
                <a:solidFill>
                  <a:srgbClr val="288098"/>
                </a:solidFill>
                <a:latin typeface="Arial" panose="020B0604020202020204" pitchFamily="34" charset="0"/>
                <a:ea typeface="Arial" panose="020B0604020202020204" pitchFamily="34" charset="0"/>
              </a:rPr>
              <a:t>HƯỚNG PHÁT </a:t>
            </a:r>
            <a:r>
              <a:rPr lang="vi-VN" altLang="en-US" sz="3200" b="1" dirty="0">
                <a:solidFill>
                  <a:srgbClr val="288098"/>
                </a:solidFill>
                <a:latin typeface="Arial" panose="020B0604020202020204" pitchFamily="34" charset="0"/>
                <a:ea typeface="Arial" panose="020B0604020202020204" pitchFamily="34" charset="0"/>
              </a:rPr>
              <a:t>TRIỂN</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1132840" y="2320290"/>
            <a:ext cx="5080000" cy="1322070"/>
          </a:xfrm>
          <a:prstGeom prst="rect">
            <a:avLst/>
          </a:prstGeom>
          <a:ln>
            <a:solidFill>
              <a:schemeClr val="tx1"/>
            </a:solidFill>
          </a:ln>
        </p:spPr>
        <p:txBody>
          <a:bodyPr>
            <a:spAutoFit/>
          </a:bodyPr>
          <a:p>
            <a:r>
              <a:rPr lang="en-US" altLang="zh-CN" sz="1600" b="1"/>
              <a:t>5.1. Về chuyên môn:</a:t>
            </a:r>
            <a:endParaRPr lang="en-US" altLang="zh-CN" sz="1600" b="1"/>
          </a:p>
          <a:p>
            <a:r>
              <a:rPr lang="en-US" altLang="zh-CN" sz="1600"/>
              <a:t> </a:t>
            </a:r>
            <a:r>
              <a:rPr lang="vi-VN" altLang="en-US" sz="1600"/>
              <a:t>   </a:t>
            </a:r>
            <a:r>
              <a:rPr lang="en-US" altLang="zh-CN" sz="1600"/>
              <a:t>Nhóm đã nghiên cứu và ứng dụng mô hình CNN, cụ thể là MobileNetV2, để xây dựng hệ thống nhận diện trái cây từ hình ảnh. Mô hình được huấn luyện trên tập dữ liệu đa dạng, cho kết quả phân loại chính xác và hiệu quả.</a:t>
            </a:r>
            <a:endParaRPr lang="en-US" altLang="zh-CN" sz="1600"/>
          </a:p>
        </p:txBody>
      </p:sp>
      <p:sp>
        <p:nvSpPr>
          <p:cNvPr id="3" name="Text Box 2"/>
          <p:cNvSpPr txBox="1"/>
          <p:nvPr/>
        </p:nvSpPr>
        <p:spPr>
          <a:xfrm>
            <a:off x="6717030" y="2320290"/>
            <a:ext cx="5080000" cy="1322070"/>
          </a:xfrm>
          <a:prstGeom prst="rect">
            <a:avLst/>
          </a:prstGeom>
          <a:ln>
            <a:solidFill>
              <a:schemeClr val="tx1"/>
            </a:solidFill>
          </a:ln>
        </p:spPr>
        <p:txBody>
          <a:bodyPr>
            <a:spAutoFit/>
          </a:bodyPr>
          <a:p>
            <a:r>
              <a:rPr lang="en-US" altLang="zh-CN" sz="1600" b="1"/>
              <a:t>5.2. Về ứng dụng:</a:t>
            </a:r>
            <a:endParaRPr lang="en-US" altLang="zh-CN" sz="1600" b="1"/>
          </a:p>
          <a:p>
            <a:r>
              <a:rPr lang="en-US" altLang="zh-CN" sz="1600"/>
              <a:t> Hệ thống có thể ứng dụng trong nông nghiệp thông minh, kiểm định chất lượng, và siêu thị bán lẻ với khả năng tự động nhận diện, phân loại trái cây dựa trên hình ảnh camera.</a:t>
            </a:r>
            <a:endParaRPr lang="en-US" altLang="zh-CN" sz="1600"/>
          </a:p>
        </p:txBody>
      </p:sp>
      <p:sp>
        <p:nvSpPr>
          <p:cNvPr id="6" name="Text Box 5"/>
          <p:cNvSpPr txBox="1"/>
          <p:nvPr/>
        </p:nvSpPr>
        <p:spPr>
          <a:xfrm>
            <a:off x="1132840" y="4150360"/>
            <a:ext cx="5080000" cy="1322070"/>
          </a:xfrm>
          <a:prstGeom prst="rect">
            <a:avLst/>
          </a:prstGeom>
          <a:ln>
            <a:solidFill>
              <a:schemeClr val="tx1"/>
            </a:solidFill>
          </a:ln>
        </p:spPr>
        <p:txBody>
          <a:bodyPr>
            <a:spAutoFit/>
          </a:bodyPr>
          <a:p>
            <a:r>
              <a:rPr lang="en-US" altLang="zh-CN" sz="1600" b="1"/>
              <a:t>5.3. Về kỹ năng và tư duy:</a:t>
            </a:r>
            <a:endParaRPr lang="en-US" altLang="zh-CN" sz="1600" b="1"/>
          </a:p>
          <a:p>
            <a:r>
              <a:rPr lang="en-US" altLang="zh-CN" sz="1600"/>
              <a:t> Quá trình thực hiện giúp nhóm nâng cao kỹ năng lập trình Python, sử dụng thư viện học sâu (TensorFlow, Keras, OpenCV), xử lý ảnh, và tối ưu mô hình. Đồng thời phát triển tư duy phân tích và triển khai bài toán thực tế.</a:t>
            </a:r>
            <a:endParaRPr lang="en-US" altLang="zh-CN" sz="1600"/>
          </a:p>
        </p:txBody>
      </p:sp>
      <p:sp>
        <p:nvSpPr>
          <p:cNvPr id="8" name="Text Box 7"/>
          <p:cNvSpPr txBox="1"/>
          <p:nvPr/>
        </p:nvSpPr>
        <p:spPr>
          <a:xfrm>
            <a:off x="6717030" y="4150360"/>
            <a:ext cx="5080000" cy="1322070"/>
          </a:xfrm>
          <a:prstGeom prst="rect">
            <a:avLst/>
          </a:prstGeom>
          <a:ln>
            <a:solidFill>
              <a:schemeClr val="tx1"/>
            </a:solidFill>
          </a:ln>
        </p:spPr>
        <p:txBody>
          <a:bodyPr>
            <a:spAutoFit/>
          </a:bodyPr>
          <a:p>
            <a:r>
              <a:rPr lang="en-US" altLang="zh-CN" sz="1600" b="1"/>
              <a:t>5.4. Hướng phát triển:</a:t>
            </a:r>
            <a:endParaRPr lang="en-US" altLang="zh-CN" sz="1600" b="1"/>
          </a:p>
          <a:p>
            <a:r>
              <a:rPr lang="en-US" altLang="zh-CN" sz="1600"/>
              <a:t> Nhóm dự kiến mở rộng hệ thống bằng cách tăng dữ liệu huấn luyện, triển khai trên thiết bị nhúng, tích hợp nhận diện sâu bệnh, kết nối IoT/Cloud, và phát triển giao diện người dùng thân thiện.</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4261168" y="736281"/>
            <a:ext cx="4472305" cy="583565"/>
          </a:xfrm>
          <a:prstGeom prst="rect">
            <a:avLst/>
          </a:prstGeom>
          <a:noFill/>
        </p:spPr>
        <p:txBody>
          <a:bodyPr wrap="none" rtlCol="0">
            <a:spAutoFit/>
          </a:bodyPr>
          <a:lstStyle/>
          <a:p>
            <a:pPr algn="ctr"/>
            <a:r>
              <a:rPr lang="vi-VN" altLang="en-US" sz="3200" b="1" dirty="0">
                <a:solidFill>
                  <a:srgbClr val="288098"/>
                </a:solidFill>
                <a:latin typeface="Arial" panose="020B0604020202020204" pitchFamily="34" charset="0"/>
                <a:ea typeface="Arial" panose="020B0604020202020204" pitchFamily="34" charset="0"/>
              </a:rPr>
              <a:t>TÀI LIỆU THAM </a:t>
            </a:r>
            <a:r>
              <a:rPr lang="vi-VN" altLang="en-US" sz="3200" b="1" dirty="0">
                <a:solidFill>
                  <a:srgbClr val="288098"/>
                </a:solidFill>
                <a:latin typeface="Arial" panose="020B0604020202020204" pitchFamily="34" charset="0"/>
                <a:ea typeface="Arial" panose="020B0604020202020204" pitchFamily="34" charset="0"/>
              </a:rPr>
              <a:t>KHẢO</a:t>
            </a: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5" name="Text Box 4"/>
          <p:cNvSpPr txBox="1"/>
          <p:nvPr/>
        </p:nvSpPr>
        <p:spPr>
          <a:xfrm>
            <a:off x="3260725" y="2104390"/>
            <a:ext cx="5986145" cy="3470910"/>
          </a:xfrm>
          <a:prstGeom prst="rect">
            <a:avLst/>
          </a:prstGeom>
          <a:ln>
            <a:solidFill>
              <a:schemeClr val="tx1"/>
            </a:solidFill>
          </a:ln>
        </p:spPr>
        <p:txBody>
          <a:bodyPr>
            <a:noAutofit/>
          </a:bodyPr>
          <a:p>
            <a:pPr algn="just" defTabSz="266700">
              <a:lnSpc>
                <a:spcPct val="150000"/>
              </a:lnSpc>
            </a:pPr>
            <a:r>
              <a:rPr lang="en-US" altLang="zh-CN" sz="2000" i="0">
                <a:latin typeface="Times New Roman" panose="02020603050405020304"/>
                <a:ea typeface="Times New Roman" panose="02020603050405020304"/>
              </a:rPr>
              <a:t>[1] Sandler et al., “MobileNetV2: Inverted Residuals and Linear Bottlenecks”, CVPR 2018.</a:t>
            </a:r>
            <a:endParaRPr lang="en-US" altLang="zh-CN" sz="2000" i="0">
              <a:latin typeface="Times New Roman" panose="02020603050405020304"/>
              <a:ea typeface="Times New Roman" panose="02020603050405020304"/>
            </a:endParaRPr>
          </a:p>
          <a:p>
            <a:pPr algn="just" defTabSz="266700">
              <a:lnSpc>
                <a:spcPct val="150000"/>
              </a:lnSpc>
            </a:pPr>
            <a:r>
              <a:rPr lang="en-US" altLang="zh-CN" sz="2000" i="0">
                <a:latin typeface="Times New Roman" panose="02020603050405020304"/>
                <a:ea typeface="Times New Roman" panose="02020603050405020304"/>
              </a:rPr>
              <a:t>[2] https://arxiv.org/abs/1801.04381</a:t>
            </a:r>
            <a:endParaRPr lang="en-US" altLang="zh-CN" sz="2000" i="0">
              <a:latin typeface="Times New Roman" panose="02020603050405020304"/>
              <a:ea typeface="Times New Roman" panose="02020603050405020304"/>
            </a:endParaRPr>
          </a:p>
          <a:p>
            <a:pPr algn="just" defTabSz="266700">
              <a:lnSpc>
                <a:spcPct val="150000"/>
              </a:lnSpc>
            </a:pPr>
            <a:r>
              <a:rPr lang="en-US" altLang="zh-CN" sz="2000" i="0">
                <a:latin typeface="Times New Roman" panose="02020603050405020304"/>
                <a:ea typeface="Times New Roman" panose="02020603050405020304"/>
              </a:rPr>
              <a:t>[3]https://pytorch.org/vision/stable/models/generated/torchvision.models.mobilenet_v2.html</a:t>
            </a:r>
            <a:endParaRPr lang="en-US" altLang="zh-CN" sz="2000" i="0">
              <a:latin typeface="Times New Roman" panose="02020603050405020304"/>
              <a:ea typeface="Times New Roman" panose="02020603050405020304"/>
            </a:endParaRPr>
          </a:p>
          <a:p>
            <a:pPr algn="just" defTabSz="266700">
              <a:lnSpc>
                <a:spcPct val="150000"/>
              </a:lnSpc>
            </a:pPr>
            <a:r>
              <a:rPr lang="en-US" altLang="zh-CN" sz="2000" i="0">
                <a:latin typeface="Times New Roman" panose="02020603050405020304"/>
                <a:ea typeface="Times New Roman" panose="02020603050405020304"/>
              </a:rPr>
              <a:t>[4]https://www.tensorflow.org/api_docs/python/tf/keras/applications/MobileNetV2</a:t>
            </a:r>
            <a:endParaRPr lang="en-US" altLang="zh-CN" sz="2000" i="0">
              <a:latin typeface="Times New Roman" panose="02020603050405020304"/>
              <a:ea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2" y="0"/>
            <a:ext cx="12858397" cy="7232650"/>
          </a:xfrm>
          <a:prstGeom prst="rect">
            <a:avLst/>
          </a:prstGeom>
        </p:spPr>
      </p:pic>
      <p:sp>
        <p:nvSpPr>
          <p:cNvPr id="7" name="文本框 6"/>
          <p:cNvSpPr txBox="1"/>
          <p:nvPr/>
        </p:nvSpPr>
        <p:spPr>
          <a:xfrm>
            <a:off x="6342381" y="736281"/>
            <a:ext cx="309880" cy="583565"/>
          </a:xfrm>
          <a:prstGeom prst="rect">
            <a:avLst/>
          </a:prstGeom>
          <a:noFill/>
        </p:spPr>
        <p:txBody>
          <a:bodyPr wrap="none" rtlCol="0">
            <a:spAutoFit/>
          </a:bodyPr>
          <a:lstStyle/>
          <a:p>
            <a:pPr algn="ctr"/>
            <a:endParaRPr lang="vi-VN" altLang="en-US" sz="3200" b="1" dirty="0">
              <a:solidFill>
                <a:srgbClr val="288098"/>
              </a:solidFill>
              <a:latin typeface="Arial" panose="020B0604020202020204" pitchFamily="34" charset="0"/>
              <a:ea typeface="Arial" panose="020B0604020202020204" pitchFamily="34" charset="0"/>
            </a:endParaRPr>
          </a:p>
        </p:txBody>
      </p:sp>
      <p:pic>
        <p:nvPicPr>
          <p:cNvPr id="4" name="Picture 3"/>
          <p:cNvPicPr/>
          <p:nvPr/>
        </p:nvPicPr>
        <p:blipFill>
          <a:blip r:embed="rId2"/>
          <a:stretch>
            <a:fillRect/>
          </a:stretch>
        </p:blipFill>
        <p:spPr>
          <a:xfrm>
            <a:off x="20955" y="304800"/>
            <a:ext cx="2734945" cy="1995805"/>
          </a:xfrm>
          <a:prstGeom prst="rect">
            <a:avLst/>
          </a:prstGeom>
        </p:spPr>
      </p:pic>
      <p:sp>
        <p:nvSpPr>
          <p:cNvPr id="2" name="Text Box 1"/>
          <p:cNvSpPr txBox="1"/>
          <p:nvPr/>
        </p:nvSpPr>
        <p:spPr>
          <a:xfrm>
            <a:off x="3216910" y="1311910"/>
            <a:ext cx="6426200" cy="4523105"/>
          </a:xfrm>
          <a:prstGeom prst="rect">
            <a:avLst/>
          </a:prstGeom>
          <a:noFill/>
        </p:spPr>
        <p:txBody>
          <a:bodyPr wrap="square" rtlCol="0" anchor="t">
            <a:spAutoFit/>
          </a:bodyPr>
          <a:p>
            <a:pPr algn="ctr"/>
            <a:r>
              <a:rPr lang="vi-VN" altLang="en-US" sz="3200" b="1" dirty="0">
                <a:solidFill>
                  <a:srgbClr val="288098"/>
                </a:solidFill>
                <a:latin typeface="Arial" panose="020B0604020202020204" pitchFamily="34" charset="0"/>
                <a:ea typeface="Arial" panose="020B0604020202020204" pitchFamily="34" charset="0"/>
                <a:sym typeface="+mn-ea"/>
              </a:rPr>
              <a:t>CẢM ƠN THẦY CÔ VÀ </a:t>
            </a:r>
            <a:endParaRPr lang="vi-VN" altLang="en-US" sz="3200" b="1" dirty="0">
              <a:solidFill>
                <a:srgbClr val="288098"/>
              </a:solidFill>
              <a:latin typeface="Arial" panose="020B0604020202020204" pitchFamily="34" charset="0"/>
              <a:ea typeface="Arial" panose="020B0604020202020204" pitchFamily="34" charset="0"/>
              <a:sym typeface="+mn-ea"/>
            </a:endParaRPr>
          </a:p>
          <a:p>
            <a:pPr algn="ctr"/>
            <a:r>
              <a:rPr lang="vi-VN" altLang="en-US" sz="3200" b="1" dirty="0">
                <a:solidFill>
                  <a:srgbClr val="288098"/>
                </a:solidFill>
                <a:latin typeface="Arial" panose="020B0604020202020204" pitchFamily="34" charset="0"/>
                <a:ea typeface="Arial" panose="020B0604020202020204" pitchFamily="34" charset="0"/>
                <a:sym typeface="+mn-ea"/>
              </a:rPr>
              <a:t>CÁC BẠN ĐÃ LẮNG NGHE BÀI THUYẾT TRÌNH CỦA NHÓM CHÚNG TÔI, XIN KÍNH CHÚC THẦY CÔ VÀ TẤT CẢ </a:t>
            </a:r>
            <a:endParaRPr lang="vi-VN" altLang="en-US" sz="3200" b="1" dirty="0">
              <a:solidFill>
                <a:srgbClr val="288098"/>
              </a:solidFill>
              <a:latin typeface="Arial" panose="020B0604020202020204" pitchFamily="34" charset="0"/>
              <a:ea typeface="Arial" panose="020B0604020202020204" pitchFamily="34" charset="0"/>
              <a:sym typeface="+mn-ea"/>
            </a:endParaRPr>
          </a:p>
          <a:p>
            <a:pPr algn="ctr"/>
            <a:r>
              <a:rPr lang="vi-VN" altLang="en-US" sz="3200" b="1" dirty="0">
                <a:solidFill>
                  <a:srgbClr val="288098"/>
                </a:solidFill>
                <a:latin typeface="Arial" panose="020B0604020202020204" pitchFamily="34" charset="0"/>
                <a:ea typeface="Arial" panose="020B0604020202020204" pitchFamily="34" charset="0"/>
                <a:sym typeface="+mn-ea"/>
              </a:rPr>
              <a:t>MỌI NGƯỜI CÓ NGÀY </a:t>
            </a:r>
            <a:endParaRPr lang="vi-VN" altLang="en-US" sz="3200" b="1" dirty="0">
              <a:solidFill>
                <a:srgbClr val="288098"/>
              </a:solidFill>
              <a:latin typeface="Arial" panose="020B0604020202020204" pitchFamily="34" charset="0"/>
              <a:ea typeface="Arial" panose="020B0604020202020204" pitchFamily="34" charset="0"/>
              <a:sym typeface="+mn-ea"/>
            </a:endParaRPr>
          </a:p>
          <a:p>
            <a:pPr algn="ctr"/>
            <a:r>
              <a:rPr lang="vi-VN" altLang="en-US" sz="3200" b="1" dirty="0">
                <a:solidFill>
                  <a:srgbClr val="288098"/>
                </a:solidFill>
                <a:latin typeface="Arial" panose="020B0604020202020204" pitchFamily="34" charset="0"/>
                <a:ea typeface="Arial" panose="020B0604020202020204" pitchFamily="34" charset="0"/>
                <a:sym typeface="+mn-ea"/>
              </a:rPr>
              <a:t>LÀM VIỆC VUI VẺ, HẠNH PHÚC BÊN </a:t>
            </a:r>
            <a:endParaRPr lang="vi-VN" altLang="en-US" sz="3200" b="1" dirty="0">
              <a:solidFill>
                <a:srgbClr val="288098"/>
              </a:solidFill>
              <a:latin typeface="Arial" panose="020B0604020202020204" pitchFamily="34" charset="0"/>
              <a:ea typeface="Arial" panose="020B0604020202020204" pitchFamily="34" charset="0"/>
              <a:sym typeface="+mn-ea"/>
            </a:endParaRPr>
          </a:p>
          <a:p>
            <a:pPr algn="ctr"/>
            <a:r>
              <a:rPr lang="vi-VN" altLang="en-US" sz="3200" b="1" dirty="0">
                <a:solidFill>
                  <a:srgbClr val="288098"/>
                </a:solidFill>
                <a:latin typeface="Arial" panose="020B0604020202020204" pitchFamily="34" charset="0"/>
                <a:ea typeface="Arial" panose="020B0604020202020204" pitchFamily="34" charset="0"/>
                <a:sym typeface="+mn-ea"/>
              </a:rPr>
              <a:t>GIA </a:t>
            </a:r>
            <a:r>
              <a:rPr lang="vi-VN" altLang="en-US" sz="3200" b="1" dirty="0">
                <a:solidFill>
                  <a:srgbClr val="288098"/>
                </a:solidFill>
                <a:latin typeface="Arial" panose="020B0604020202020204" pitchFamily="34" charset="0"/>
                <a:ea typeface="Arial" panose="020B0604020202020204" pitchFamily="34" charset="0"/>
                <a:sym typeface="+mn-ea"/>
              </a:rPr>
              <a:t>ĐÌNH. </a:t>
            </a:r>
            <a:endParaRPr lang="vi-VN" altLang="en-US" sz="3200" b="1" dirty="0">
              <a:solidFill>
                <a:srgbClr val="288098"/>
              </a:solidFill>
              <a:latin typeface="Arial" panose="020B0604020202020204" pitchFamily="34" charset="0"/>
              <a:ea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advClick="0">
        <p:wipe/>
      </p:transition>
    </mc:Choice>
    <mc:Fallback>
      <p:transition spd="med" advClick="0">
        <p:wip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DIAGRAM_VIRTUALLY_FRAME" val="{&quot;height&quot;:231.25000610351563,&quot;left&quot;:57.6,&quot;top&quot;:176.6,&quot;width&quot;:842.25}"/>
</p:tagLst>
</file>

<file path=ppt/tags/tag6.xml><?xml version="1.0" encoding="utf-8"?>
<p:tagLst xmlns:p="http://schemas.openxmlformats.org/presentationml/2006/main">
  <p:tag name="KSO_WM_DIAGRAM_VIRTUALLY_FRAME" val="{&quot;height&quot;:231.25000610351563,&quot;left&quot;:57.6,&quot;top&quot;:176.6,&quot;width&quot;:842.25}"/>
</p:tagLst>
</file>

<file path=ppt/tags/tag7.xml><?xml version="1.0" encoding="utf-8"?>
<p:tagLst xmlns:p="http://schemas.openxmlformats.org/presentationml/2006/main">
  <p:tag name="KSO_WM_DIAGRAM_VIRTUALLY_FRAME" val="{&quot;height&quot;:231.25000610351563,&quot;left&quot;:57.6,&quot;top&quot;:176.6,&quot;width&quot;:842.25}"/>
</p:tagLst>
</file>

<file path=ppt/tags/tag8.xml><?xml version="1.0" encoding="utf-8"?>
<p:tagLst xmlns:p="http://schemas.openxmlformats.org/presentationml/2006/main">
  <p:tag name="KSO_WM_DIAGRAM_VIRTUALLY_FRAME" val="{&quot;height&quot;:231.25000610351563,&quot;left&quot;:57.6,&quot;top&quot;:176.6,&quot;width&quot;:842.25}"/>
</p:tagLst>
</file>

<file path=ppt/theme/theme1.xml><?xml version="1.0" encoding="utf-8"?>
<a:theme xmlns:a="http://schemas.openxmlformats.org/drawingml/2006/main" name="Office Theme">
  <a:themeElements>
    <a:clrScheme name="自定义 182">
      <a:dk1>
        <a:sysClr val="windowText" lastClr="000000"/>
      </a:dk1>
      <a:lt1>
        <a:sysClr val="window" lastClr="FFFFFF"/>
      </a:lt1>
      <a:dk2>
        <a:srgbClr val="44546A"/>
      </a:dk2>
      <a:lt2>
        <a:srgbClr val="E7E6E6"/>
      </a:lt2>
      <a:accent1>
        <a:srgbClr val="2B8303"/>
      </a:accent1>
      <a:accent2>
        <a:srgbClr val="96D624"/>
      </a:accent2>
      <a:accent3>
        <a:srgbClr val="2B8303"/>
      </a:accent3>
      <a:accent4>
        <a:srgbClr val="96D624"/>
      </a:accent4>
      <a:accent5>
        <a:srgbClr val="2B8303"/>
      </a:accent5>
      <a:accent6>
        <a:srgbClr val="96D624"/>
      </a:accent6>
      <a:hlink>
        <a:srgbClr val="2B8303"/>
      </a:hlink>
      <a:folHlink>
        <a:srgbClr val="96D624"/>
      </a:folHlink>
    </a:clrScheme>
    <a:fontScheme name="Office 主题">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10984</Words>
  <Application>WPS Presentation</Application>
  <PresentationFormat>自定义</PresentationFormat>
  <Paragraphs>294</Paragraphs>
  <Slides>20</Slides>
  <Notes>15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SimSun</vt:lpstr>
      <vt:lpstr>Wingdings</vt:lpstr>
      <vt:lpstr>Calibri</vt:lpstr>
      <vt:lpstr>Times New Roman Bold</vt:lpstr>
      <vt:lpstr>Times New Roman</vt:lpstr>
      <vt:lpstr>Times New Roman Regular</vt:lpstr>
      <vt:lpstr>Arial</vt:lpstr>
      <vt:lpstr>Times New Roman</vt:lpstr>
      <vt:lpstr>Calibri</vt:lpstr>
      <vt:lpstr>等线</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bt505</dc:title>
  <dc:creator/>
  <cp:lastModifiedBy>Thuật Thuật</cp:lastModifiedBy>
  <cp:revision>19</cp:revision>
  <dcterms:created xsi:type="dcterms:W3CDTF">2016-12-29T13:10:00Z</dcterms:created>
  <dcterms:modified xsi:type="dcterms:W3CDTF">2025-07-16T17:06:36Z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1033-12.2.0.21931</vt:lpwstr>
  </property>
  <property fmtid="{D5CDD505-2E9C-101B-9397-08002B2CF9AE}" pid="4" name="ICV">
    <vt:lpwstr>AE80C17C89F84803BF7ECE0D42879821_13</vt:lpwstr>
  </property>
</Properties>
</file>