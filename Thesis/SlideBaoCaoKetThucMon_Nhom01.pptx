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media/image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notesMasterIdLst>
    <p:notesMasterId r:id="rId5"/>
  </p:notesMasterIdLst>
  <p:handoutMasterIdLst>
    <p:handoutMasterId r:id="rId27"/>
  </p:handoutMasterIdLst>
  <p:sldIdLst>
    <p:sldId id="264" r:id="rId3"/>
    <p:sldId id="3195" r:id="rId4"/>
    <p:sldId id="3202" r:id="rId6"/>
    <p:sldId id="3203" r:id="rId7"/>
    <p:sldId id="3205" r:id="rId8"/>
    <p:sldId id="3206" r:id="rId9"/>
    <p:sldId id="3207" r:id="rId10"/>
    <p:sldId id="3209" r:id="rId11"/>
    <p:sldId id="3210" r:id="rId12"/>
    <p:sldId id="3212" r:id="rId13"/>
    <p:sldId id="3222" r:id="rId14"/>
    <p:sldId id="3213" r:id="rId15"/>
    <p:sldId id="3223" r:id="rId16"/>
    <p:sldId id="3214" r:id="rId17"/>
    <p:sldId id="3215" r:id="rId18"/>
    <p:sldId id="3216" r:id="rId19"/>
    <p:sldId id="3217" r:id="rId20"/>
    <p:sldId id="3218" r:id="rId21"/>
    <p:sldId id="3219" r:id="rId22"/>
    <p:sldId id="3224" r:id="rId23"/>
    <p:sldId id="3225" r:id="rId24"/>
    <p:sldId id="3220" r:id="rId25"/>
    <p:sldId id="3221" r:id="rId26"/>
  </p:sldIdLst>
  <p:sldSz cx="12858750" cy="7232650"/>
  <p:notesSz cx="6858000" cy="9144000"/>
  <p:embeddedFontLst>
    <p:embeddedFont>
      <p:font typeface="SimSun" panose="02010600030101010101" pitchFamily="2" charset="-122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libri Light" panose="020F0302020204030204" charset="0"/>
      <p:regular r:id="rId36"/>
      <p:italic r:id="rId37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93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4" orient="horz" pos="4232" userDrawn="1">
          <p15:clr>
            <a:srgbClr val="A4A3A4"/>
          </p15:clr>
        </p15:guide>
        <p15:guide id="5" pos="7522" userDrawn="1">
          <p15:clr>
            <a:srgbClr val="A4A3A4"/>
          </p15:clr>
        </p15:guide>
        <p15:guide id="6" pos="6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A3B8"/>
    <a:srgbClr val="FED9B9"/>
    <a:srgbClr val="288098"/>
    <a:srgbClr val="C3D3D3"/>
    <a:srgbClr val="186716"/>
    <a:srgbClr val="55A534"/>
    <a:srgbClr val="FFFFFF"/>
    <a:srgbClr val="501622"/>
    <a:srgbClr val="1686C2"/>
    <a:srgbClr val="C218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10" autoAdjust="0"/>
    <p:restoredTop sz="95317" autoAdjust="0"/>
  </p:normalViewPr>
  <p:slideViewPr>
    <p:cSldViewPr showGuides="1">
      <p:cViewPr>
        <p:scale>
          <a:sx n="66" d="100"/>
          <a:sy n="66" d="100"/>
        </p:scale>
        <p:origin x="2370" y="960"/>
      </p:cViewPr>
      <p:guideLst>
        <p:guide orient="horz" pos="328"/>
        <p:guide pos="4093"/>
        <p:guide pos="557"/>
        <p:guide orient="horz" pos="4232"/>
        <p:guide pos="7522"/>
        <p:guide pos="6891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5pPr>
    <a:lvl6pPr marL="22853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07344" y="1183677"/>
            <a:ext cx="9644063" cy="2518034"/>
          </a:xfrm>
        </p:spPr>
        <p:txBody>
          <a:bodyPr anchor="b"/>
          <a:lstStyle>
            <a:lvl1pPr algn="ctr">
              <a:defRPr sz="63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7344" y="3798816"/>
            <a:ext cx="9644063" cy="1746216"/>
          </a:xfrm>
        </p:spPr>
        <p:txBody>
          <a:bodyPr/>
          <a:lstStyle>
            <a:lvl1pPr marL="0" indent="0" algn="ctr">
              <a:buNone/>
              <a:defRPr sz="2530"/>
            </a:lvl1pPr>
            <a:lvl2pPr marL="481965" indent="0" algn="ctr">
              <a:buNone/>
              <a:defRPr sz="2110"/>
            </a:lvl2pPr>
            <a:lvl3pPr marL="964565" indent="0" algn="ctr">
              <a:buNone/>
              <a:defRPr sz="1900"/>
            </a:lvl3pPr>
            <a:lvl4pPr marL="1446530" indent="0" algn="ctr">
              <a:buNone/>
              <a:defRPr sz="1685"/>
            </a:lvl4pPr>
            <a:lvl5pPr marL="1928495" indent="0" algn="ctr">
              <a:buNone/>
              <a:defRPr sz="1685"/>
            </a:lvl5pPr>
            <a:lvl6pPr marL="2411095" indent="0" algn="ctr">
              <a:buNone/>
              <a:defRPr sz="1685"/>
            </a:lvl6pPr>
            <a:lvl7pPr marL="2893060" indent="0" algn="ctr">
              <a:buNone/>
              <a:defRPr sz="1685"/>
            </a:lvl7pPr>
            <a:lvl8pPr marL="3375025" indent="0" algn="ctr">
              <a:buNone/>
              <a:defRPr sz="1685"/>
            </a:lvl8pPr>
            <a:lvl9pPr marL="3856990" indent="0" algn="ctr">
              <a:buNone/>
              <a:defRPr sz="168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303CA-A366-4AAE-B5F5-A264AC6BBB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20811-97D9-4C5A-9B6B-89C33CCB0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370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039" y="1925358"/>
            <a:ext cx="11090672" cy="458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63930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41300" indent="-241300" algn="l" defTabSz="963930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723265" indent="-241300" algn="l" defTabSz="96393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205230" indent="-241300" algn="l" defTabSz="96393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87830" indent="-241300" algn="l" defTabSz="96393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169795" indent="-241300" algn="l" defTabSz="96393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651760" indent="-241300" algn="l" defTabSz="96393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393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393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393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39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webp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" y="0"/>
            <a:ext cx="12858044" cy="72326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32573" y="1384062"/>
            <a:ext cx="8184515" cy="3107690"/>
          </a:xfrm>
          <a:prstGeom prst="rect">
            <a:avLst/>
          </a:prstGeom>
          <a:noFill/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vi-VN" altLang="en-US" sz="2800" b="1">
                <a:effectLst/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CHÀO MỪNG THẦY CÔ VÀ CÁC BẠN ĐẾN VỚI </a:t>
            </a:r>
            <a:endParaRPr lang="vi-VN" altLang="en-US" sz="2800" b="1">
              <a:solidFill>
                <a:schemeClr val="tx1"/>
              </a:solidFill>
              <a:effectLst/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ctr"/>
            <a:r>
              <a:rPr lang="vi-VN" altLang="en-US" sz="2800" b="1">
                <a:effectLst/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 BÀI BÁO CÁO KẾT THÚC MÔN</a:t>
            </a:r>
            <a:endParaRPr lang="vi-VN" altLang="en-US" sz="2800" b="1">
              <a:effectLst/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algn="ctr"/>
            <a:r>
              <a:rPr lang="vi-V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                Học phần:</a:t>
            </a:r>
            <a:endParaRPr lang="vi-V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  <a:p>
            <a:pPr algn="ctr"/>
            <a:r>
              <a:rPr lang="vi-V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“ Công nghệ phần </a:t>
            </a:r>
            <a:r>
              <a:rPr lang="vi-V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mềm”</a:t>
            </a:r>
            <a:endParaRPr lang="vi-VN" altLang="en-US" sz="2800" dirty="0"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ctr"/>
            <a:r>
              <a:rPr lang="vi-V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endParaRPr lang="vi-VN" altLang="en-US" sz="2800" dirty="0"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ctr"/>
            <a:endParaRPr lang="vi-VN" alt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ctr"/>
            <a:endParaRPr lang="en-US" altLang="zh-CN" sz="28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466330" y="3846195"/>
            <a:ext cx="4687570" cy="19024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vi-VN" altLang="en-US" sz="14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Giảng viên hướng dẫn:</a:t>
            </a:r>
            <a:r>
              <a:rPr lang="vi-VN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T.s Nguyễn bảo Ân</a:t>
            </a:r>
            <a:endParaRPr lang="vi-VN" altLang="en-US" sz="1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l"/>
            <a:r>
              <a:rPr lang="en-US" altLang="en-US" sz="14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Họ tên:</a:t>
            </a:r>
            <a:r>
              <a:rPr lang="en-US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Nguyễn Huỳnh Kỹ Thuật</a:t>
            </a:r>
            <a:endParaRPr lang="en-US" altLang="en-US" sz="1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en-US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MSSV: 110122175</a:t>
            </a:r>
            <a:endParaRPr lang="en-US" altLang="en-US" sz="1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en-US" altLang="en-US" sz="14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Họ tên:</a:t>
            </a:r>
            <a:r>
              <a:rPr lang="en-US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Nguyễn Nhật Trường</a:t>
            </a:r>
            <a:endParaRPr lang="en-US" altLang="en-US" sz="1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en-US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MSSV: 110122197</a:t>
            </a:r>
            <a:endParaRPr lang="en-US" altLang="en-US" sz="1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en-US" altLang="en-US" sz="14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Họ tên:</a:t>
            </a:r>
            <a:r>
              <a:rPr lang="en-US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Hứa Thị Thảo Vy</a:t>
            </a:r>
            <a:endParaRPr lang="en-US" altLang="en-US" sz="1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en-US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MSSV: 110122211</a:t>
            </a:r>
            <a:endParaRPr lang="en-US" altLang="en-US" sz="1400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 lang="en-US" altLang="en-US" sz="14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Lớp:</a:t>
            </a:r>
            <a:r>
              <a:rPr lang="en-US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DA22TTC</a:t>
            </a:r>
            <a:r>
              <a:rPr lang="vi-VN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endParaRPr lang="vi-VN" altLang="en-US" sz="14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r"/>
            <a:r>
              <a:rPr lang="vi-VN" altLang="en-US" sz="14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ea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76400" y="2752090"/>
            <a:ext cx="8025765" cy="11550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endParaRPr lang="vi-VN" altLang="en-US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vi-V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  Đề tài:</a:t>
            </a:r>
            <a:r>
              <a:rPr lang="vi-V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vi-VN" alt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“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TÌM HI</a:t>
            </a:r>
            <a:r>
              <a:rPr lang="vi-V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ỂU VỀ NODE JS VÀ XÂY DỰNG           WEBSITE NHÀ HÀNG ẨM THỰC PHƯƠNG NAM TRÀ VINH</a:t>
            </a:r>
            <a:r>
              <a:rPr lang="vi-VN" altLang="en-US" sz="20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endParaRPr lang="en-US" altLang="zh-CN" sz="2000" spc="316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alphaModFix amt="40000"/>
            <a:lum bright="60000" contrast="-12000"/>
          </a:blip>
          <a:stretch>
            <a:fillRect/>
          </a:stretch>
        </p:blipFill>
        <p:spPr>
          <a:xfrm>
            <a:off x="2613025" y="952500"/>
            <a:ext cx="7154545" cy="5205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 advClick="0">
        <p159:morph option="byObject"/>
      </p:transition>
    </mc:Choice>
    <mc:Fallback>
      <p:transition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22165" y="879791"/>
            <a:ext cx="37503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Nội Dung Báo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Cáo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81450" y="1600200"/>
            <a:ext cx="8124825" cy="505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noAutofit/>
          </a:bodyPr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Tóm tắt đồ án môn học.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Chương 1: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Mở đầu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Chương 2: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Phân tích yêu cầu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Chương 3: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Thiết kế hệ 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thống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Chương 4: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Triển khai và công ngh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ệ sử 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dụng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Chương 5: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Quản lý dự án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Chương 6: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Kiểm thử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Chương 7: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Đánh giá và kết luận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Chương 8:</a:t>
            </a:r>
            <a:r>
              <a:rPr lang="vi-VN" alt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Phụ lục</a:t>
            </a:r>
            <a:endParaRPr lang="vi-VN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vi-VN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Tài liệu tham khảo. </a:t>
            </a:r>
            <a:endParaRPr lang="vi-VN" altLang="en-US" sz="3200" b="1" u="heavy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vi-VN" altLang="en-US" sz="3200" b="1" u="heavy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68655" y="2320290"/>
            <a:ext cx="3004185" cy="2635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46538" y="879791"/>
            <a:ext cx="49015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Tóm Tắt Đồ Án Môn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Học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188970" y="2300605"/>
            <a:ext cx="8256905" cy="2709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noAutofit/>
          </a:bodyPr>
          <a:p>
            <a:pPr algn="ctr"/>
            <a:r>
              <a:rPr lang="vi-VN" sz="2000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ồ án “</a:t>
            </a:r>
            <a:r>
              <a:rPr lang="en-US" altLang="en-US" sz="2000" b="1" i="1">
                <a:latin typeface="Times New Roman" panose="02020603050405020304" charset="0"/>
                <a:cs typeface="Times New Roman" panose="02020603050405020304" charset="0"/>
              </a:rPr>
              <a:t>Tìm hiểu về Node.js và xây dựng website nhà hàng Ẩm Thực Ph</a:t>
            </a:r>
            <a:r>
              <a:rPr lang="en-US" altLang="en-US" sz="2000" b="1" i="1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 b="1" i="1">
                <a:latin typeface="Times New Roman" panose="02020603050405020304" charset="0"/>
                <a:cs typeface="Times New Roman" panose="02020603050405020304" charset="0"/>
              </a:rPr>
              <a:t>ơng Nam Trà Vinh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” nhằm nghiên cứu nền tảng backend hiện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ại Node.js và áp dụng vào xây dựng website quản l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nhà hàng. Nhóm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ã tìm hiểu về Node.js, Express.js và cách kết nối MySQL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ể xây dựng hệ thống xử l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hiệu quả. Website có các chức n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ng: hiển thị thực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ơn,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ặt bàn,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ặt món, quản l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hóa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ơn và món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 từ giao diện admin. Giao diện thân thiện, responsive, sử dụng HTML, CSS (hoặc Tailwind CSS).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ồ án giúp sinh viên r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 kỹ n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ng lập trình web, thiết kế hệ thống và là b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ớc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ệm cho các dự án lớn hơn.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24510" y="2119630"/>
            <a:ext cx="2314575" cy="2814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18013" y="879791"/>
            <a:ext cx="41586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1: Mở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Đầu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549015" y="2032000"/>
            <a:ext cx="6457315" cy="41922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pPr>
              <a:spcAft>
                <a:spcPct val="0"/>
              </a:spcAft>
            </a:pPr>
            <a:r>
              <a:rPr lang="en-US" altLang="en-US" sz="2400" b="1"/>
              <a:t>Tên dự án</a:t>
            </a:r>
            <a:r>
              <a:rPr lang="en-US" altLang="en-US" sz="2400"/>
              <a:t>: </a:t>
            </a:r>
            <a:r>
              <a:rPr lang="en-US" altLang="en-US" sz="2400" i="1"/>
              <a:t>Website Nhà hàng Ẩm thực Ph</a:t>
            </a:r>
            <a:r>
              <a:rPr lang="en-US" altLang="en-US" sz="2400" i="1"/>
              <a:t>ư</a:t>
            </a:r>
            <a:r>
              <a:rPr lang="en-US" altLang="en-US" sz="2400" i="1"/>
              <a:t>ơng Nam Trà Vinh.</a:t>
            </a:r>
            <a:endParaRPr lang="en-US" altLang="en-US" sz="2400"/>
          </a:p>
          <a:p>
            <a:pPr>
              <a:spcAft>
                <a:spcPct val="0"/>
              </a:spcAft>
            </a:pPr>
            <a:endParaRPr lang="en-US" altLang="en-US" sz="2400"/>
          </a:p>
          <a:p>
            <a:pPr>
              <a:spcAft>
                <a:spcPct val="0"/>
              </a:spcAft>
            </a:pPr>
            <a:r>
              <a:rPr lang="en-US" altLang="en-US" sz="2400" b="1"/>
              <a:t>Bối cảnh:</a:t>
            </a:r>
            <a:r>
              <a:rPr lang="en-US" altLang="en-US" sz="2400"/>
              <a:t> Trong xu thế chuyển </a:t>
            </a:r>
            <a:r>
              <a:rPr lang="en-US" altLang="en-US" sz="2400"/>
              <a:t>đ</a:t>
            </a:r>
            <a:r>
              <a:rPr lang="en-US" altLang="en-US" sz="2400"/>
              <a:t>ổi số của cách mạng công nghiệp 4.0, việc số hóa hoạt </a:t>
            </a:r>
            <a:r>
              <a:rPr lang="en-US" altLang="en-US" sz="2400"/>
              <a:t>đ</a:t>
            </a:r>
            <a:r>
              <a:rPr lang="en-US" altLang="en-US" sz="2400"/>
              <a:t>ộng kinh doanh F&amp;B trở nên cấp thiết. Website là công cụ quan trọng </a:t>
            </a:r>
            <a:r>
              <a:rPr lang="en-US" altLang="en-US" sz="2400"/>
              <a:t>đ</a:t>
            </a:r>
            <a:r>
              <a:rPr lang="en-US" altLang="en-US" sz="2400"/>
              <a:t>ể nhà hàng quảng bá th</a:t>
            </a:r>
            <a:r>
              <a:rPr lang="en-US" altLang="en-US" sz="2400"/>
              <a:t>ư</a:t>
            </a:r>
            <a:r>
              <a:rPr lang="en-US" altLang="en-US" sz="2400"/>
              <a:t>ơng hiệu, tiếp cận khách hàng, tối </a:t>
            </a:r>
            <a:r>
              <a:rPr lang="en-US" altLang="en-US" sz="2400"/>
              <a:t>ư</a:t>
            </a:r>
            <a:r>
              <a:rPr lang="en-US" altLang="en-US" sz="2400"/>
              <a:t>u quy trình vận hành. Dự án </a:t>
            </a:r>
            <a:r>
              <a:rPr lang="en-US" altLang="en-US" sz="2400"/>
              <a:t>đư</a:t>
            </a:r>
            <a:r>
              <a:rPr lang="en-US" altLang="en-US" sz="2400"/>
              <a:t>ợc thực hiện nhằm giúp nhà hàng “Ẩm thực Ph</a:t>
            </a:r>
            <a:r>
              <a:rPr lang="en-US" altLang="en-US" sz="2400"/>
              <a:t>ư</a:t>
            </a:r>
            <a:r>
              <a:rPr lang="en-US" altLang="en-US" sz="2400"/>
              <a:t>ơng Nam” tại Trà Vinh sở hữu một nền tảng trực tuyến chuyên nghiệp.</a:t>
            </a:r>
            <a:endParaRPr lang="en-US" altLang="en-US" sz="2400"/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1388745" y="2607945"/>
            <a:ext cx="1860550" cy="266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18013" y="879791"/>
            <a:ext cx="41586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1: Mở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Đầu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205095" y="1527810"/>
            <a:ext cx="2294890" cy="4229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>
              <a:spcAft>
                <a:spcPct val="0"/>
              </a:spcAft>
            </a:pPr>
            <a:r>
              <a:rPr lang="en-US" altLang="en-US" sz="2400" b="1"/>
              <a:t>Mục tiêu dự án:</a:t>
            </a:r>
            <a:endParaRPr lang="en-US" altLang="en-US" sz="2400" b="1"/>
          </a:p>
          <a:p>
            <a:pPr>
              <a:buFont typeface="Arial" panose="020B0604020202020204"/>
              <a:buChar char="•"/>
            </a:pPr>
            <a:endParaRPr lang="en-US" altLang="zh-CN" sz="2400"/>
          </a:p>
        </p:txBody>
      </p:sp>
      <p:sp>
        <p:nvSpPr>
          <p:cNvPr id="2" name="Text Box 1"/>
          <p:cNvSpPr txBox="1"/>
          <p:nvPr/>
        </p:nvSpPr>
        <p:spPr>
          <a:xfrm>
            <a:off x="1172845" y="2823528"/>
            <a:ext cx="5080000" cy="255333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r>
              <a:rPr lang="en-US" altLang="zh-CN" sz="1600" b="1"/>
              <a:t>Nghiệp vụ:</a:t>
            </a:r>
            <a:endParaRPr lang="en-US" altLang="zh-CN" sz="1600" b="1"/>
          </a:p>
          <a:p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Nâng cao hình ảnh thương hiệu qua website hiện đại.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Tăng hiệu quả kinh doanh nhờ tính năng đặt bàn trực tuyến.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Tối ưu quản lý qua giao diện quản trị thân thiện.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Mở rộng tiếp cận khách hàng thông qua môi trường số.</a:t>
            </a:r>
            <a:endParaRPr lang="en-US" altLang="zh-CN" sz="1600"/>
          </a:p>
        </p:txBody>
      </p:sp>
      <p:sp>
        <p:nvSpPr>
          <p:cNvPr id="3" name="Text Box 2"/>
          <p:cNvSpPr txBox="1"/>
          <p:nvPr/>
        </p:nvSpPr>
        <p:spPr>
          <a:xfrm>
            <a:off x="6717665" y="2823528"/>
            <a:ext cx="5080000" cy="23069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r>
              <a:rPr lang="en-US" altLang="zh-CN" sz="1600" b="1"/>
              <a:t>Kỹ thuật:</a:t>
            </a:r>
            <a:endParaRPr lang="en-US" altLang="zh-CN" sz="1600" b="1"/>
          </a:p>
          <a:p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Nghiên cứu và áp dụng Node.js, Express.js, MySQL.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Xây dựng hệ thống RESTful API.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Triển khai CI/CD với Docker, GitHub Actions.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Áp dụng quy trình phát triển phần mềm bài bản.</a:t>
            </a:r>
            <a:endParaRPr lang="en-US" altLang="zh-CN" sz="1600"/>
          </a:p>
        </p:txBody>
      </p:sp>
      <p:cxnSp>
        <p:nvCxnSpPr>
          <p:cNvPr id="6" name="Straight Arrow Connector 5"/>
          <p:cNvCxnSpPr>
            <a:stCxn id="5" idx="2"/>
            <a:endCxn id="2" idx="0"/>
          </p:cNvCxnSpPr>
          <p:nvPr/>
        </p:nvCxnSpPr>
        <p:spPr>
          <a:xfrm flipH="1">
            <a:off x="3712845" y="1950720"/>
            <a:ext cx="2639695" cy="873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5" idx="2"/>
            <a:endCxn id="3" idx="0"/>
          </p:cNvCxnSpPr>
          <p:nvPr/>
        </p:nvCxnSpPr>
        <p:spPr>
          <a:xfrm>
            <a:off x="6352540" y="1950720"/>
            <a:ext cx="2905125" cy="873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18013" y="879791"/>
            <a:ext cx="41586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1: Mở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Đầu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197350" y="2536190"/>
            <a:ext cx="7237095" cy="19380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en-US" sz="2400" b="1"/>
              <a:t>L</a:t>
            </a:r>
            <a:r>
              <a:rPr lang="en-US" altLang="en-US" sz="2400" b="1"/>
              <a:t>ý</a:t>
            </a:r>
            <a:r>
              <a:rPr lang="en-US" altLang="en-US" sz="2400" b="1"/>
              <a:t> do chọn </a:t>
            </a:r>
            <a:r>
              <a:rPr lang="en-US" altLang="en-US" sz="2400" b="1"/>
              <a:t>đ</a:t>
            </a:r>
            <a:r>
              <a:rPr lang="en-US" altLang="en-US" sz="2400" b="1"/>
              <a:t>ề tài:</a:t>
            </a:r>
            <a:endParaRPr lang="en-US" altLang="en-US" sz="2400" b="1"/>
          </a:p>
          <a:p>
            <a:pPr indent="457200">
              <a:spcAft>
                <a:spcPct val="0"/>
              </a:spcAft>
            </a:pPr>
            <a:r>
              <a:rPr lang="en-US" altLang="en-US" sz="2400"/>
              <a:t>Đ</a:t>
            </a:r>
            <a:r>
              <a:rPr lang="en-US" altLang="en-US" sz="2400"/>
              <a:t>ề tài mang tính thực tiễn cao, vừa tầm sinh viên, </a:t>
            </a:r>
            <a:r>
              <a:rPr lang="en-US" altLang="en-US" sz="2400"/>
              <a:t>đ</a:t>
            </a:r>
            <a:r>
              <a:rPr lang="en-US" altLang="en-US" sz="2400"/>
              <a:t>ồng thời giúp r</a:t>
            </a:r>
            <a:r>
              <a:rPr lang="en-US" altLang="en-US" sz="2400"/>
              <a:t>è</a:t>
            </a:r>
            <a:r>
              <a:rPr lang="en-US" altLang="en-US" sz="2400"/>
              <a:t>n luyện kỹ n</a:t>
            </a:r>
            <a:r>
              <a:rPr lang="en-US" altLang="en-US" sz="2400"/>
              <a:t>ă</a:t>
            </a:r>
            <a:r>
              <a:rPr lang="en-US" altLang="en-US" sz="2400"/>
              <a:t>ng backend, frontend và DevOps – mô phỏng toàn diện quá trình phát triển phần mềm thực tế.</a:t>
            </a:r>
            <a:endParaRPr lang="en-US" altLang="en-US" sz="2400"/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68655" y="2103755"/>
            <a:ext cx="3317240" cy="2875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" y="8763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18013" y="879791"/>
            <a:ext cx="41586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1: Mở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Đầu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12800" y="2752090"/>
            <a:ext cx="4795520" cy="28613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en-US" sz="2000" b="1"/>
              <a:t>Trong phạm vi:</a:t>
            </a:r>
            <a:endParaRPr lang="en-US" altLang="en-US" sz="2000" b="1"/>
          </a:p>
          <a:p>
            <a:pPr>
              <a:spcAft>
                <a:spcPct val="0"/>
              </a:spcAft>
            </a:pPr>
            <a:endParaRPr lang="en-US" altLang="en-US" sz="2000"/>
          </a:p>
          <a:p>
            <a:pPr>
              <a:spcAft>
                <a:spcPct val="0"/>
              </a:spcAft>
            </a:pPr>
            <a:r>
              <a:rPr lang="en-US" altLang="en-US" sz="2000"/>
              <a:t>Chức n</a:t>
            </a:r>
            <a:r>
              <a:rPr lang="en-US" altLang="en-US" sz="2000"/>
              <a:t>ă</a:t>
            </a:r>
            <a:r>
              <a:rPr lang="en-US" altLang="en-US" sz="2000"/>
              <a:t>ng: xem thực </a:t>
            </a:r>
            <a:r>
              <a:rPr lang="en-US" altLang="en-US" sz="2000"/>
              <a:t>đ</a:t>
            </a:r>
            <a:r>
              <a:rPr lang="en-US" altLang="en-US" sz="2000"/>
              <a:t>ơn, </a:t>
            </a:r>
            <a:r>
              <a:rPr lang="en-US" altLang="en-US" sz="2000"/>
              <a:t>đ</a:t>
            </a:r>
            <a:r>
              <a:rPr lang="en-US" altLang="en-US" sz="2000"/>
              <a:t>ặt bàn (user); quản l</a:t>
            </a:r>
            <a:r>
              <a:rPr lang="en-US" altLang="en-US" sz="2000"/>
              <a:t>ý</a:t>
            </a:r>
            <a:r>
              <a:rPr lang="en-US" altLang="en-US" sz="2000"/>
              <a:t> thực </a:t>
            </a:r>
            <a:r>
              <a:rPr lang="en-US" altLang="en-US" sz="2000"/>
              <a:t>đ</a:t>
            </a:r>
            <a:r>
              <a:rPr lang="en-US" altLang="en-US" sz="2000"/>
              <a:t>ơn, danh mục, </a:t>
            </a:r>
            <a:r>
              <a:rPr lang="en-US" altLang="en-US" sz="2000"/>
              <a:t>đ</a:t>
            </a:r>
            <a:r>
              <a:rPr lang="en-US" altLang="en-US" sz="2000"/>
              <a:t>ặt bàn (admin).</a:t>
            </a:r>
            <a:endParaRPr lang="en-US" altLang="en-US" sz="2000"/>
          </a:p>
          <a:p>
            <a:pPr>
              <a:spcAft>
                <a:spcPct val="0"/>
              </a:spcAft>
            </a:pPr>
            <a:endParaRPr lang="en-US" altLang="en-US" sz="2000"/>
          </a:p>
          <a:p>
            <a:pPr>
              <a:spcAft>
                <a:spcPct val="0"/>
              </a:spcAft>
            </a:pPr>
            <a:r>
              <a:rPr lang="en-US" altLang="en-US" sz="2000"/>
              <a:t>Triển khai trên máy chủ ảo dùng Docker.</a:t>
            </a:r>
            <a:endParaRPr lang="en-US" altLang="en-US" sz="2000"/>
          </a:p>
          <a:p>
            <a:pPr>
              <a:spcAft>
                <a:spcPct val="0"/>
              </a:spcAft>
            </a:pPr>
            <a:endParaRPr lang="en-US" altLang="en-US" sz="2000"/>
          </a:p>
          <a:p>
            <a:pPr>
              <a:spcAft>
                <a:spcPct val="0"/>
              </a:spcAft>
            </a:pPr>
            <a:r>
              <a:rPr lang="en-US" altLang="en-US" sz="2000"/>
              <a:t>Thiết lập CI/CD cơ bản.</a:t>
            </a:r>
            <a:endParaRPr lang="en-US" altLang="en-US" sz="2000"/>
          </a:p>
        </p:txBody>
      </p:sp>
      <p:sp>
        <p:nvSpPr>
          <p:cNvPr id="2" name="Text Box 1"/>
          <p:cNvSpPr txBox="1"/>
          <p:nvPr/>
        </p:nvSpPr>
        <p:spPr>
          <a:xfrm>
            <a:off x="7365365" y="2679700"/>
            <a:ext cx="4413885" cy="22453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en-US" sz="2000" b="1"/>
              <a:t>Ngoài phạm vi:</a:t>
            </a:r>
            <a:endParaRPr lang="en-US" altLang="en-US" sz="2000" b="1"/>
          </a:p>
          <a:p>
            <a:pPr>
              <a:spcAft>
                <a:spcPct val="0"/>
              </a:spcAft>
            </a:pPr>
            <a:endParaRPr lang="en-US" altLang="en-US" sz="2000"/>
          </a:p>
          <a:p>
            <a:pPr>
              <a:spcAft>
                <a:spcPct val="0"/>
              </a:spcAft>
            </a:pPr>
            <a:r>
              <a:rPr lang="en-US" altLang="en-US" sz="2000"/>
              <a:t>Tài khoản khách hàng.</a:t>
            </a:r>
            <a:endParaRPr lang="en-US" altLang="en-US" sz="2000"/>
          </a:p>
          <a:p>
            <a:pPr>
              <a:spcAft>
                <a:spcPct val="0"/>
              </a:spcAft>
            </a:pPr>
            <a:endParaRPr lang="en-US" altLang="en-US" sz="2000"/>
          </a:p>
          <a:p>
            <a:pPr>
              <a:spcAft>
                <a:spcPct val="0"/>
              </a:spcAft>
            </a:pPr>
            <a:r>
              <a:rPr lang="en-US" altLang="en-US" sz="2000"/>
              <a:t>Đ</a:t>
            </a:r>
            <a:r>
              <a:rPr lang="en-US" altLang="en-US" sz="2000"/>
              <a:t>ặt món, giao hàng online.</a:t>
            </a:r>
            <a:endParaRPr lang="en-US" altLang="en-US" sz="2000"/>
          </a:p>
          <a:p>
            <a:pPr>
              <a:spcAft>
                <a:spcPct val="0"/>
              </a:spcAft>
            </a:pPr>
            <a:endParaRPr lang="en-US" altLang="en-US" sz="2000"/>
          </a:p>
          <a:p>
            <a:pPr>
              <a:spcAft>
                <a:spcPct val="0"/>
              </a:spcAft>
            </a:pPr>
            <a:r>
              <a:rPr lang="en-US" altLang="en-US" sz="2000"/>
              <a:t>Cổng thanh toán &amp; </a:t>
            </a:r>
            <a:r>
              <a:rPr lang="en-US" altLang="en-US" sz="2000"/>
              <a:t>đ</a:t>
            </a:r>
            <a:r>
              <a:rPr lang="en-US" altLang="en-US" sz="2000"/>
              <a:t>ánh giá ng</a:t>
            </a:r>
            <a:r>
              <a:rPr lang="en-US" altLang="en-US" sz="2000"/>
              <a:t>ư</a:t>
            </a:r>
            <a:r>
              <a:rPr lang="en-US" altLang="en-US" sz="2000"/>
              <a:t>ời dùng.</a:t>
            </a:r>
            <a:endParaRPr lang="en-US" altLang="en-US" sz="2000"/>
          </a:p>
        </p:txBody>
      </p:sp>
      <p:sp>
        <p:nvSpPr>
          <p:cNvPr id="3" name="Text Box 2"/>
          <p:cNvSpPr txBox="1"/>
          <p:nvPr/>
        </p:nvSpPr>
        <p:spPr>
          <a:xfrm>
            <a:off x="5306695" y="1599565"/>
            <a:ext cx="2381250" cy="4603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en-US" altLang="zh-CN" sz="2400" b="1"/>
              <a:t>Phạm vi dự án</a:t>
            </a:r>
            <a:endParaRPr lang="en-US" altLang="zh-CN" sz="2400" b="1"/>
          </a:p>
        </p:txBody>
      </p:sp>
      <p:cxnSp>
        <p:nvCxnSpPr>
          <p:cNvPr id="6" name="Straight Arrow Connector 5"/>
          <p:cNvCxnSpPr>
            <a:stCxn id="3" idx="2"/>
            <a:endCxn id="5" idx="0"/>
          </p:cNvCxnSpPr>
          <p:nvPr/>
        </p:nvCxnSpPr>
        <p:spPr>
          <a:xfrm flipH="1">
            <a:off x="3210560" y="2059940"/>
            <a:ext cx="3286760" cy="692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2"/>
            <a:endCxn id="2" idx="0"/>
          </p:cNvCxnSpPr>
          <p:nvPr/>
        </p:nvCxnSpPr>
        <p:spPr>
          <a:xfrm>
            <a:off x="6497320" y="2059940"/>
            <a:ext cx="3075305" cy="619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09913" y="879791"/>
            <a:ext cx="67748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2.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PHÂN TÍCH YÊU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CẦU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964690" y="1887855"/>
            <a:ext cx="5080000" cy="14255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pPr>
              <a:spcAft>
                <a:spcPct val="0"/>
              </a:spcAft>
            </a:pPr>
            <a:r>
              <a:rPr lang="en-US" altLang="en-US" sz="2000" b="1"/>
              <a:t>2.1. Giới thiệu</a:t>
            </a:r>
            <a:endParaRPr lang="en-US" altLang="en-US" sz="2000" b="1"/>
          </a:p>
          <a:p>
            <a:pPr>
              <a:spcAft>
                <a:spcPct val="0"/>
              </a:spcAft>
            </a:pPr>
            <a:r>
              <a:rPr lang="en-US" altLang="en-US" sz="1600"/>
              <a:t>Phân tích yêu cầu là b</a:t>
            </a:r>
            <a:r>
              <a:rPr lang="en-US" altLang="en-US" sz="1600"/>
              <a:t>ư</a:t>
            </a:r>
            <a:r>
              <a:rPr lang="en-US" altLang="en-US" sz="1600"/>
              <a:t>ớc nền tảng giúp xác </a:t>
            </a:r>
            <a:r>
              <a:rPr lang="en-US" altLang="en-US" sz="1600"/>
              <a:t>đ</a:t>
            </a:r>
            <a:r>
              <a:rPr lang="en-US" altLang="en-US" sz="1600"/>
              <a:t>ịnh chính xác nhu cầu ng</a:t>
            </a:r>
            <a:r>
              <a:rPr lang="en-US" altLang="en-US" sz="1600"/>
              <a:t>ư</a:t>
            </a:r>
            <a:r>
              <a:rPr lang="en-US" altLang="en-US" sz="1600"/>
              <a:t>ời dùng và </a:t>
            </a:r>
            <a:r>
              <a:rPr lang="en-US" altLang="en-US" sz="1600"/>
              <a:t>đ</a:t>
            </a:r>
            <a:r>
              <a:rPr lang="en-US" altLang="en-US" sz="1600"/>
              <a:t>ịnh h</a:t>
            </a:r>
            <a:r>
              <a:rPr lang="en-US" altLang="en-US" sz="1600"/>
              <a:t>ư</a:t>
            </a:r>
            <a:r>
              <a:rPr lang="en-US" altLang="en-US" sz="1600"/>
              <a:t>ớng thiết kế hệ thống. Dự án tập trung làm r</a:t>
            </a:r>
            <a:r>
              <a:rPr lang="en-US" altLang="en-US" sz="1600"/>
              <a:t>õ</a:t>
            </a:r>
            <a:r>
              <a:rPr lang="en-US" altLang="en-US" sz="1600"/>
              <a:t> yêu cầu chức n</a:t>
            </a:r>
            <a:r>
              <a:rPr lang="en-US" altLang="en-US" sz="1600"/>
              <a:t>ă</a:t>
            </a:r>
            <a:r>
              <a:rPr lang="en-US" altLang="en-US" sz="1600"/>
              <a:t>ng (hệ thống làm gì) và phi chức n</a:t>
            </a:r>
            <a:r>
              <a:rPr lang="en-US" altLang="en-US" sz="1600"/>
              <a:t>ă</a:t>
            </a:r>
            <a:r>
              <a:rPr lang="en-US" altLang="en-US" sz="1600"/>
              <a:t>ng (hệ thống nh</a:t>
            </a:r>
            <a:r>
              <a:rPr lang="en-US" altLang="en-US" sz="1600"/>
              <a:t>ư</a:t>
            </a:r>
            <a:r>
              <a:rPr lang="en-US" altLang="en-US" sz="1600"/>
              <a:t> thế nào).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7149465" y="1887855"/>
            <a:ext cx="5080000" cy="25317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pPr>
              <a:lnSpc>
                <a:spcPct val="130000"/>
              </a:lnSpc>
              <a:spcAft>
                <a:spcPct val="0"/>
              </a:spcAft>
            </a:pPr>
            <a:r>
              <a:rPr lang="en-US" altLang="en-US" sz="2000" b="1"/>
              <a:t>2.2. </a:t>
            </a:r>
            <a:r>
              <a:rPr lang="en-US" altLang="en-US" sz="2000" b="1">
                <a:sym typeface="+mn-ea"/>
              </a:rPr>
              <a:t>Khách hàng</a:t>
            </a:r>
            <a:r>
              <a:rPr lang="vi-VN" altLang="en-US" sz="2000" b="1">
                <a:sym typeface="+mn-ea"/>
              </a:rPr>
              <a:t> </a:t>
            </a:r>
            <a:r>
              <a:rPr lang="en-US" altLang="en-US" sz="2000" b="1"/>
              <a:t>&amp; </a:t>
            </a:r>
            <a:r>
              <a:rPr lang="en-US" altLang="en-US" sz="2000" b="1">
                <a:sym typeface="+mn-ea"/>
              </a:rPr>
              <a:t>Quản lý/Nhân viên:</a:t>
            </a:r>
            <a:endParaRPr lang="en-US" altLang="en-US" sz="2000" b="1"/>
          </a:p>
          <a:p>
            <a:pPr>
              <a:lnSpc>
                <a:spcPct val="130000"/>
              </a:lnSpc>
              <a:spcAft>
                <a:spcPct val="0"/>
              </a:spcAft>
            </a:pPr>
            <a:r>
              <a:rPr lang="en-US" altLang="en-US" sz="1600" b="1"/>
              <a:t>Khách hàng:</a:t>
            </a:r>
            <a:endParaRPr lang="en-US" altLang="en-US" sz="1600" b="1"/>
          </a:p>
          <a:p>
            <a:pPr>
              <a:lnSpc>
                <a:spcPct val="130000"/>
              </a:lnSpc>
              <a:spcAft>
                <a:spcPct val="0"/>
              </a:spcAft>
            </a:pPr>
            <a:r>
              <a:rPr lang="en-US" altLang="en-US" sz="1600"/>
              <a:t>Tìm kiếm thông tin, xem thực </a:t>
            </a:r>
            <a:r>
              <a:rPr lang="en-US" altLang="en-US" sz="1600"/>
              <a:t>đ</a:t>
            </a:r>
            <a:r>
              <a:rPr lang="en-US" altLang="en-US" sz="1600"/>
              <a:t>ơn, </a:t>
            </a:r>
            <a:r>
              <a:rPr lang="en-US" altLang="en-US" sz="1600"/>
              <a:t>đ</a:t>
            </a:r>
            <a:r>
              <a:rPr lang="en-US" altLang="en-US" sz="1600"/>
              <a:t>ặt bàn trực tuyến, theo d</a:t>
            </a:r>
            <a:r>
              <a:rPr lang="en-US" altLang="en-US" sz="1600"/>
              <a:t>õ</a:t>
            </a:r>
            <a:r>
              <a:rPr lang="en-US" altLang="en-US" sz="1600"/>
              <a:t>i khuyến mãi.</a:t>
            </a:r>
            <a:endParaRPr lang="en-US" altLang="en-US" sz="1600"/>
          </a:p>
          <a:p>
            <a:pPr>
              <a:lnSpc>
                <a:spcPct val="130000"/>
              </a:lnSpc>
              <a:spcAft>
                <a:spcPct val="0"/>
              </a:spcAft>
            </a:pPr>
            <a:r>
              <a:rPr lang="en-US" altLang="en-US" sz="1600" b="1"/>
              <a:t>Quản l</a:t>
            </a:r>
            <a:r>
              <a:rPr lang="en-US" altLang="en-US" sz="1600" b="1"/>
              <a:t>ý</a:t>
            </a:r>
            <a:r>
              <a:rPr lang="en-US" altLang="en-US" sz="1600" b="1"/>
              <a:t>/Nhân viên:</a:t>
            </a:r>
            <a:endParaRPr lang="en-US" altLang="en-US" sz="1600" b="1"/>
          </a:p>
          <a:p>
            <a:pPr>
              <a:lnSpc>
                <a:spcPct val="130000"/>
              </a:lnSpc>
              <a:spcAft>
                <a:spcPct val="0"/>
              </a:spcAft>
            </a:pPr>
            <a:r>
              <a:rPr lang="en-US" altLang="en-US" sz="1600"/>
              <a:t>Cập nhật thực </a:t>
            </a:r>
            <a:r>
              <a:rPr lang="en-US" altLang="en-US" sz="1600"/>
              <a:t>đ</a:t>
            </a:r>
            <a:r>
              <a:rPr lang="en-US" altLang="en-US" sz="1600"/>
              <a:t>ơn, xử l</a:t>
            </a:r>
            <a:r>
              <a:rPr lang="en-US" altLang="en-US" sz="1600"/>
              <a:t>ý</a:t>
            </a:r>
            <a:r>
              <a:rPr lang="en-US" altLang="en-US" sz="1600"/>
              <a:t> </a:t>
            </a:r>
            <a:r>
              <a:rPr lang="en-US" altLang="en-US" sz="1600"/>
              <a:t>đ</a:t>
            </a:r>
            <a:r>
              <a:rPr lang="en-US" altLang="en-US" sz="1600"/>
              <a:t>ặt bàn, quản l</a:t>
            </a:r>
            <a:r>
              <a:rPr lang="en-US" altLang="en-US" sz="1600"/>
              <a:t>ý</a:t>
            </a:r>
            <a:r>
              <a:rPr lang="en-US" altLang="en-US" sz="1600"/>
              <a:t> danh mục qua admin panel dễ dùng.</a:t>
            </a:r>
            <a:endParaRPr lang="en-US" altLang="en-US" sz="1600"/>
          </a:p>
        </p:txBody>
      </p:sp>
      <p:sp>
        <p:nvSpPr>
          <p:cNvPr id="8" name="Text Box 7"/>
          <p:cNvSpPr txBox="1"/>
          <p:nvPr/>
        </p:nvSpPr>
        <p:spPr>
          <a:xfrm>
            <a:off x="1964690" y="4335780"/>
            <a:ext cx="5080000" cy="23685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pPr>
              <a:spcAft>
                <a:spcPct val="0"/>
              </a:spcAft>
            </a:pPr>
            <a:r>
              <a:rPr lang="en-US" altLang="en-US" sz="2000" b="1"/>
              <a:t>2.2.1. </a:t>
            </a:r>
            <a:r>
              <a:rPr lang="en-US" altLang="en-US" sz="2000" b="1"/>
              <a:t>Đ</a:t>
            </a:r>
            <a:r>
              <a:rPr lang="en-US" altLang="en-US" sz="2000" b="1"/>
              <a:t>ặc tả nhu cầu (User Stories tiêu biểu):</a:t>
            </a:r>
            <a:endParaRPr lang="en-US" altLang="en-US" sz="2000" b="1"/>
          </a:p>
          <a:p>
            <a:pPr>
              <a:spcAft>
                <a:spcPct val="0"/>
              </a:spcAft>
            </a:pPr>
            <a:r>
              <a:rPr lang="en-US" altLang="en-US" sz="1600"/>
              <a:t>Đ</a:t>
            </a:r>
            <a:r>
              <a:rPr lang="en-US" altLang="en-US" sz="1600"/>
              <a:t>ặt bàn nhanh chóng, không cần gọi </a:t>
            </a:r>
            <a:r>
              <a:rPr lang="en-US" altLang="en-US" sz="1600"/>
              <a:t>đ</a:t>
            </a:r>
            <a:r>
              <a:rPr lang="en-US" altLang="en-US" sz="1600"/>
              <a:t>iện.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Khám phá thực </a:t>
            </a:r>
            <a:r>
              <a:rPr lang="en-US" altLang="en-US" sz="1600"/>
              <a:t>đ</a:t>
            </a:r>
            <a:r>
              <a:rPr lang="en-US" altLang="en-US" sz="1600"/>
              <a:t>ơn dễ dàng với hình ảnh minh họa.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Admin thao tác CRUD món </a:t>
            </a:r>
            <a:r>
              <a:rPr lang="en-US" altLang="en-US" sz="1600"/>
              <a:t>ă</a:t>
            </a:r>
            <a:r>
              <a:rPr lang="en-US" altLang="en-US" sz="1600"/>
              <a:t>n &amp; </a:t>
            </a:r>
            <a:r>
              <a:rPr lang="en-US" altLang="en-US" sz="1600"/>
              <a:t>đ</a:t>
            </a:r>
            <a:r>
              <a:rPr lang="en-US" altLang="en-US" sz="1600"/>
              <a:t>ặt bàn mà không cần biết lập trình.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Website phản hồi m</a:t>
            </a:r>
            <a:r>
              <a:rPr lang="en-US" altLang="en-US" sz="1600"/>
              <a:t>ư</a:t>
            </a:r>
            <a:r>
              <a:rPr lang="en-US" altLang="en-US" sz="1600"/>
              <a:t>ợt, bảo mật tốt, giao diện </a:t>
            </a:r>
            <a:r>
              <a:rPr lang="en-US" altLang="en-US" sz="1600"/>
              <a:t>đ</a:t>
            </a:r>
            <a:r>
              <a:rPr lang="en-US" altLang="en-US" sz="1600"/>
              <a:t>ẹp.</a:t>
            </a:r>
            <a:endParaRPr lang="en-US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6428" y="879791"/>
            <a:ext cx="66617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2.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PHÂN TÍCH YÊU CẦU</a:t>
            </a:r>
            <a:endParaRPr lang="en-US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670810" y="2032000"/>
            <a:ext cx="7517130" cy="41529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>
              <a:spcAft>
                <a:spcPct val="0"/>
              </a:spcAft>
            </a:pPr>
            <a:r>
              <a:rPr lang="en-US" altLang="en-US" sz="2400" b="1"/>
              <a:t>2.3. Tính cần thiết của Microservices &amp; Cloud</a:t>
            </a:r>
            <a:endParaRPr lang="en-US" altLang="en-US" sz="2400" b="1"/>
          </a:p>
          <a:p>
            <a:pPr>
              <a:spcAft>
                <a:spcPct val="0"/>
              </a:spcAft>
            </a:pPr>
            <a:r>
              <a:rPr lang="en-US" altLang="en-US" sz="2400"/>
              <a:t>Scalability: dễ mở rộng khi tải cao.</a:t>
            </a:r>
            <a:endParaRPr lang="en-US" altLang="en-US" sz="2400"/>
          </a:p>
          <a:p>
            <a:pPr>
              <a:spcAft>
                <a:spcPct val="0"/>
              </a:spcAft>
            </a:pPr>
            <a:endParaRPr lang="en-US" altLang="en-US" sz="2400"/>
          </a:p>
          <a:p>
            <a:pPr>
              <a:spcAft>
                <a:spcPct val="0"/>
              </a:spcAft>
            </a:pPr>
            <a:r>
              <a:rPr lang="en-US" altLang="en-US" sz="2400"/>
              <a:t>High Availability: </a:t>
            </a:r>
            <a:r>
              <a:rPr lang="en-US" altLang="en-US" sz="2400"/>
              <a:t>đ</a:t>
            </a:r>
            <a:r>
              <a:rPr lang="en-US" altLang="en-US" sz="2400"/>
              <a:t>ảm bảo luôn hoạt </a:t>
            </a:r>
            <a:r>
              <a:rPr lang="en-US" altLang="en-US" sz="2400"/>
              <a:t>đ</a:t>
            </a:r>
            <a:r>
              <a:rPr lang="en-US" altLang="en-US" sz="2400"/>
              <a:t>ộng ổn </a:t>
            </a:r>
            <a:r>
              <a:rPr lang="en-US" altLang="en-US" sz="2400"/>
              <a:t>đ</a:t>
            </a:r>
            <a:r>
              <a:rPr lang="en-US" altLang="en-US" sz="2400"/>
              <a:t>ịnh.</a:t>
            </a:r>
            <a:endParaRPr lang="en-US" altLang="en-US" sz="2400"/>
          </a:p>
          <a:p>
            <a:pPr>
              <a:spcAft>
                <a:spcPct val="0"/>
              </a:spcAft>
            </a:pPr>
            <a:endParaRPr lang="en-US" altLang="en-US" sz="2400"/>
          </a:p>
          <a:p>
            <a:pPr>
              <a:spcAft>
                <a:spcPct val="0"/>
              </a:spcAft>
            </a:pPr>
            <a:r>
              <a:rPr lang="en-US" altLang="en-US" sz="2400"/>
              <a:t>Modular: dễ bảo trì, nâng cấp từng phần.</a:t>
            </a:r>
            <a:endParaRPr lang="en-US" altLang="en-US" sz="2400"/>
          </a:p>
          <a:p>
            <a:pPr>
              <a:spcAft>
                <a:spcPct val="0"/>
              </a:spcAft>
            </a:pPr>
            <a:endParaRPr lang="en-US" altLang="en-US" sz="2400"/>
          </a:p>
          <a:p>
            <a:pPr>
              <a:spcAft>
                <a:spcPct val="0"/>
              </a:spcAft>
            </a:pPr>
            <a:r>
              <a:rPr lang="en-US" altLang="en-US" sz="2400"/>
              <a:t>CI/CD hiện </a:t>
            </a:r>
            <a:r>
              <a:rPr lang="en-US" altLang="en-US" sz="2400"/>
              <a:t>đ</a:t>
            </a:r>
            <a:r>
              <a:rPr lang="en-US" altLang="en-US" sz="2400"/>
              <a:t>ại: Docker + GitHub Actions giúp triển khai nhanh, tự </a:t>
            </a:r>
            <a:r>
              <a:rPr lang="en-US" altLang="en-US" sz="2400"/>
              <a:t>đ</a:t>
            </a:r>
            <a:r>
              <a:rPr lang="en-US" altLang="en-US" sz="2400"/>
              <a:t>ộng.</a:t>
            </a:r>
            <a:endParaRPr lang="en-US" altLang="en-US" sz="2400"/>
          </a:p>
          <a:p>
            <a:pPr>
              <a:spcAft>
                <a:spcPct val="0"/>
              </a:spcAft>
            </a:pPr>
            <a:endParaRPr lang="en-US" altLang="en-US" sz="2400"/>
          </a:p>
          <a:p>
            <a:pPr>
              <a:spcAft>
                <a:spcPct val="0"/>
              </a:spcAft>
            </a:pPr>
            <a:r>
              <a:rPr lang="en-US" altLang="en-US" sz="2400"/>
              <a:t>T</a:t>
            </a:r>
            <a:r>
              <a:rPr lang="en-US" altLang="en-US" sz="2400"/>
              <a:t>ư</a:t>
            </a:r>
            <a:r>
              <a:rPr lang="en-US" altLang="en-US" sz="2400"/>
              <a:t>ơng lai mở rộng: dễ tích hợp AI, chatbot, mobile app,…</a:t>
            </a:r>
            <a:endParaRPr lang="en-US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6428" y="879791"/>
            <a:ext cx="66617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2.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PHÂN TÍCH YÊU CẦU</a:t>
            </a:r>
            <a:endParaRPr lang="en-US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84555" y="2752090"/>
            <a:ext cx="5080000" cy="27997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pPr algn="ctr">
              <a:spcAft>
                <a:spcPct val="0"/>
              </a:spcAft>
            </a:pPr>
            <a:r>
              <a:rPr lang="en-US" altLang="en-US" sz="1600" b="1"/>
              <a:t>Cho khách hàng:</a:t>
            </a:r>
            <a:endParaRPr lang="en-US" altLang="en-US" sz="1600" b="1"/>
          </a:p>
          <a:p>
            <a:pPr>
              <a:spcAft>
                <a:spcPct val="0"/>
              </a:spcAft>
            </a:pPr>
            <a:r>
              <a:rPr lang="en-US" altLang="en-US" sz="1600"/>
              <a:t>Trang chủ: Banner nổi bật, giới thiệu, món </a:t>
            </a:r>
            <a:r>
              <a:rPr lang="en-US" altLang="en-US" sz="1600"/>
              <a:t>ă</a:t>
            </a:r>
            <a:r>
              <a:rPr lang="en-US" altLang="en-US" sz="1600"/>
              <a:t>n tiêu biểu, khuyến mãi, nút CTA.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Thực </a:t>
            </a:r>
            <a:r>
              <a:rPr lang="en-US" altLang="en-US" sz="1600"/>
              <a:t>đ</a:t>
            </a:r>
            <a:r>
              <a:rPr lang="en-US" altLang="en-US" sz="1600"/>
              <a:t>ơn: Phân loại món </a:t>
            </a:r>
            <a:r>
              <a:rPr lang="en-US" altLang="en-US" sz="1600"/>
              <a:t>ă</a:t>
            </a:r>
            <a:r>
              <a:rPr lang="en-US" altLang="en-US" sz="1600"/>
              <a:t>n, lọc danh mục, tìm kiếm, xem chi tiết món.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Đ</a:t>
            </a:r>
            <a:r>
              <a:rPr lang="en-US" altLang="en-US" sz="1600"/>
              <a:t>ặt bàn: Form trực tuyến, kiểm tra dữ liệu </a:t>
            </a:r>
            <a:r>
              <a:rPr lang="en-US" altLang="en-US" sz="1600"/>
              <a:t>đ</a:t>
            </a:r>
            <a:r>
              <a:rPr lang="en-US" altLang="en-US" sz="1600"/>
              <a:t>ầu vào, phản hồi xác nhận.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Liên hệ: </a:t>
            </a:r>
            <a:r>
              <a:rPr lang="en-US" altLang="en-US" sz="1600"/>
              <a:t>Đ</a:t>
            </a:r>
            <a:r>
              <a:rPr lang="en-US" altLang="en-US" sz="1600"/>
              <a:t>ịa chỉ, giờ mở cửa, Google Maps t</a:t>
            </a:r>
            <a:r>
              <a:rPr lang="en-US" altLang="en-US" sz="1600"/>
              <a:t>ư</a:t>
            </a:r>
            <a:r>
              <a:rPr lang="en-US" altLang="en-US" sz="1600"/>
              <a:t>ơng tác.</a:t>
            </a:r>
            <a:endParaRPr lang="en-US" altLang="en-US" sz="1600"/>
          </a:p>
        </p:txBody>
      </p:sp>
      <p:sp>
        <p:nvSpPr>
          <p:cNvPr id="5" name="Text Box 4"/>
          <p:cNvSpPr txBox="1"/>
          <p:nvPr/>
        </p:nvSpPr>
        <p:spPr>
          <a:xfrm>
            <a:off x="6861175" y="2752090"/>
            <a:ext cx="5080000" cy="18148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pPr algn="ctr">
              <a:spcAft>
                <a:spcPct val="0"/>
              </a:spcAft>
            </a:pPr>
            <a:r>
              <a:rPr lang="en-US" altLang="en-US" sz="1600"/>
              <a:t> </a:t>
            </a:r>
            <a:r>
              <a:rPr lang="en-US" altLang="en-US" sz="1600" b="1"/>
              <a:t>Cho quản trị viên:</a:t>
            </a: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Quản l</a:t>
            </a:r>
            <a:r>
              <a:rPr lang="en-US" altLang="en-US" sz="1600"/>
              <a:t>ý</a:t>
            </a:r>
            <a:r>
              <a:rPr lang="en-US" altLang="en-US" sz="1600"/>
              <a:t> thực </a:t>
            </a:r>
            <a:r>
              <a:rPr lang="en-US" altLang="en-US" sz="1600"/>
              <a:t>đ</a:t>
            </a:r>
            <a:r>
              <a:rPr lang="en-US" altLang="en-US" sz="1600"/>
              <a:t>ơn (CRUD): Thêm, sửa, xóa món </a:t>
            </a:r>
            <a:r>
              <a:rPr lang="en-US" altLang="en-US" sz="1600"/>
              <a:t>ă</a:t>
            </a:r>
            <a:r>
              <a:rPr lang="en-US" altLang="en-US" sz="1600"/>
              <a:t>n.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Quản l</a:t>
            </a:r>
            <a:r>
              <a:rPr lang="en-US" altLang="en-US" sz="1600"/>
              <a:t>ý</a:t>
            </a:r>
            <a:r>
              <a:rPr lang="en-US" altLang="en-US" sz="1600"/>
              <a:t> danh mục (CRUD): Tạo và chỉnh sửa danh mục món.</a:t>
            </a:r>
            <a:endParaRPr lang="en-US" altLang="en-US" sz="1600"/>
          </a:p>
          <a:p>
            <a:pPr>
              <a:spcAft>
                <a:spcPct val="0"/>
              </a:spcAft>
            </a:pPr>
            <a:endParaRPr lang="en-US" altLang="en-US" sz="1600"/>
          </a:p>
          <a:p>
            <a:pPr>
              <a:spcAft>
                <a:spcPct val="0"/>
              </a:spcAft>
            </a:pPr>
            <a:r>
              <a:rPr lang="en-US" altLang="en-US" sz="1600"/>
              <a:t>Quản l</a:t>
            </a:r>
            <a:r>
              <a:rPr lang="en-US" altLang="en-US" sz="1600"/>
              <a:t>ý</a:t>
            </a:r>
            <a:r>
              <a:rPr lang="en-US" altLang="en-US" sz="1600"/>
              <a:t> </a:t>
            </a:r>
            <a:r>
              <a:rPr lang="en-US" altLang="en-US" sz="1600"/>
              <a:t>đ</a:t>
            </a:r>
            <a:r>
              <a:rPr lang="en-US" altLang="en-US" sz="1600"/>
              <a:t>ặt bàn: Theo d</a:t>
            </a:r>
            <a:r>
              <a:rPr lang="en-US" altLang="en-US" sz="1600"/>
              <a:t>õ</a:t>
            </a:r>
            <a:r>
              <a:rPr lang="en-US" altLang="en-US" sz="1600"/>
              <a:t>i, thay </a:t>
            </a:r>
            <a:r>
              <a:rPr lang="en-US" altLang="en-US" sz="1600"/>
              <a:t>đ</a:t>
            </a:r>
            <a:r>
              <a:rPr lang="en-US" altLang="en-US" sz="1600"/>
              <a:t>ổi trạng thái yêu cầu </a:t>
            </a:r>
            <a:r>
              <a:rPr lang="en-US" altLang="en-US" sz="1600"/>
              <a:t>đ</a:t>
            </a:r>
            <a:r>
              <a:rPr lang="en-US" altLang="en-US" sz="1600"/>
              <a:t>ặt bàn, lọc theo ngày/trạng thái.</a:t>
            </a:r>
            <a:endParaRPr lang="en-US" altLang="en-US" sz="1600"/>
          </a:p>
        </p:txBody>
      </p:sp>
      <p:sp>
        <p:nvSpPr>
          <p:cNvPr id="2" name="Text Box 1"/>
          <p:cNvSpPr txBox="1"/>
          <p:nvPr/>
        </p:nvSpPr>
        <p:spPr>
          <a:xfrm>
            <a:off x="4959985" y="1599565"/>
            <a:ext cx="2658745" cy="4603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en-US" altLang="zh-CN" sz="2400" b="1"/>
              <a:t>Yêu cầu chức năng</a:t>
            </a:r>
            <a:endParaRPr lang="en-US" altLang="zh-CN" sz="2400" b="1"/>
          </a:p>
        </p:txBody>
      </p:sp>
      <p:cxnSp>
        <p:nvCxnSpPr>
          <p:cNvPr id="10" name="Straight Arrow Connector 9"/>
          <p:cNvCxnSpPr>
            <a:stCxn id="2" idx="2"/>
            <a:endCxn id="3" idx="0"/>
          </p:cNvCxnSpPr>
          <p:nvPr/>
        </p:nvCxnSpPr>
        <p:spPr>
          <a:xfrm flipH="1">
            <a:off x="3424555" y="2059940"/>
            <a:ext cx="2865120" cy="692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2" idx="2"/>
            <a:endCxn id="5" idx="0"/>
          </p:cNvCxnSpPr>
          <p:nvPr/>
        </p:nvCxnSpPr>
        <p:spPr>
          <a:xfrm>
            <a:off x="6289675" y="2059940"/>
            <a:ext cx="3111500" cy="692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6428" y="879791"/>
            <a:ext cx="66617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2.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PHÂN TÍCH YÊU CẦU</a:t>
            </a:r>
            <a:endParaRPr lang="en-US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3" name="Text Box 2"/>
          <p:cNvSpPr txBox="1"/>
          <p:nvPr>
            <p:custDataLst>
              <p:tags r:id="rId3"/>
            </p:custDataLst>
          </p:nvPr>
        </p:nvSpPr>
        <p:spPr>
          <a:xfrm>
            <a:off x="731520" y="2242820"/>
            <a:ext cx="5080000" cy="13290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pPr algn="ctr">
              <a:spcAft>
                <a:spcPct val="0"/>
              </a:spcAft>
            </a:pPr>
            <a:r>
              <a:rPr lang="en-US" altLang="en-US" sz="1600" b="1"/>
              <a:t>1. Hiệu n</a:t>
            </a:r>
            <a:r>
              <a:rPr lang="en-US" altLang="en-US" sz="1600" b="1"/>
              <a:t>ă</a:t>
            </a:r>
            <a:r>
              <a:rPr lang="en-US" altLang="en-US" sz="1600" b="1"/>
              <a:t>ng (Performance)</a:t>
            </a:r>
            <a:endParaRPr lang="en-US" altLang="en-US" sz="1600" b="1"/>
          </a:p>
          <a:p>
            <a:pPr algn="ctr">
              <a:spcAft>
                <a:spcPct val="0"/>
              </a:spcAft>
            </a:pPr>
            <a:r>
              <a:rPr lang="en-US" altLang="en-US" sz="1600"/>
              <a:t>Hệ thống phải phản hồi nhanh chóng (&lt;1 giây với các thao tác cơ bản nh</a:t>
            </a:r>
            <a:r>
              <a:rPr lang="en-US" altLang="en-US" sz="1600"/>
              <a:t>ư</a:t>
            </a:r>
            <a:r>
              <a:rPr lang="en-US" altLang="en-US" sz="1600"/>
              <a:t> </a:t>
            </a:r>
            <a:r>
              <a:rPr lang="en-US" altLang="en-US" sz="1600"/>
              <a:t>đ</a:t>
            </a:r>
            <a:r>
              <a:rPr lang="en-US" altLang="en-US" sz="1600"/>
              <a:t>ặt bàn, xem thực </a:t>
            </a:r>
            <a:r>
              <a:rPr lang="en-US" altLang="en-US" sz="1600"/>
              <a:t>đ</a:t>
            </a:r>
            <a:r>
              <a:rPr lang="en-US" altLang="en-US" sz="1600"/>
              <a:t>ơn).</a:t>
            </a:r>
            <a:endParaRPr lang="en-US" altLang="en-US" sz="1600"/>
          </a:p>
          <a:p>
            <a:pPr algn="ctr">
              <a:spcAft>
                <a:spcPct val="0"/>
              </a:spcAft>
            </a:pPr>
            <a:r>
              <a:rPr lang="en-US" altLang="en-US" sz="1600"/>
              <a:t>Website hoạt </a:t>
            </a:r>
            <a:r>
              <a:rPr lang="en-US" altLang="en-US" sz="1600"/>
              <a:t>đ</a:t>
            </a:r>
            <a:r>
              <a:rPr lang="en-US" altLang="en-US" sz="1600"/>
              <a:t>ộng ổn </a:t>
            </a:r>
            <a:r>
              <a:rPr lang="en-US" altLang="en-US" sz="1600"/>
              <a:t>đ</a:t>
            </a:r>
            <a:r>
              <a:rPr lang="en-US" altLang="en-US" sz="1600"/>
              <a:t>ịnh kể cả khi có l</a:t>
            </a:r>
            <a:r>
              <a:rPr lang="en-US" altLang="en-US" sz="1600"/>
              <a:t>ư</a:t>
            </a:r>
            <a:r>
              <a:rPr lang="en-US" altLang="en-US" sz="1600"/>
              <a:t>ợng truy cập cao vào giờ cao </a:t>
            </a:r>
            <a:r>
              <a:rPr lang="en-US" altLang="en-US" sz="1600"/>
              <a:t>đ</a:t>
            </a:r>
            <a:r>
              <a:rPr lang="en-US" altLang="en-US" sz="1600"/>
              <a:t>iểm.</a:t>
            </a:r>
            <a:endParaRPr lang="en-US" altLang="en-US" sz="1600"/>
          </a:p>
          <a:p>
            <a:pPr algn="ctr">
              <a:spcAft>
                <a:spcPct val="0"/>
              </a:spcAft>
            </a:pPr>
            <a:endParaRPr lang="en-US" altLang="en-US" sz="1600"/>
          </a:p>
          <a:p>
            <a:pPr algn="ctr">
              <a:spcAft>
                <a:spcPct val="0"/>
              </a:spcAft>
            </a:pPr>
            <a:endParaRPr lang="en-US" altLang="en-US" sz="1600"/>
          </a:p>
        </p:txBody>
      </p:sp>
      <p:sp>
        <p:nvSpPr>
          <p:cNvPr id="5" name="Text Box 4"/>
          <p:cNvSpPr txBox="1"/>
          <p:nvPr>
            <p:custDataLst>
              <p:tags r:id="rId4"/>
            </p:custDataLst>
          </p:nvPr>
        </p:nvSpPr>
        <p:spPr>
          <a:xfrm>
            <a:off x="6348095" y="2242820"/>
            <a:ext cx="5080000" cy="12954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pPr algn="ctr">
              <a:spcAft>
                <a:spcPct val="0"/>
              </a:spcAft>
            </a:pPr>
            <a:r>
              <a:rPr lang="en-US" altLang="en-US" sz="1600" b="1"/>
              <a:t>2. Tính t</a:t>
            </a:r>
            <a:r>
              <a:rPr lang="en-US" altLang="en-US" sz="1600" b="1"/>
              <a:t>ư</a:t>
            </a:r>
            <a:r>
              <a:rPr lang="en-US" altLang="en-US" sz="1600" b="1"/>
              <a:t>ơng thích thiết bị (Responsive Design)</a:t>
            </a:r>
            <a:endParaRPr lang="en-US" altLang="en-US" sz="1600" b="1"/>
          </a:p>
          <a:p>
            <a:pPr algn="ctr">
              <a:spcAft>
                <a:spcPct val="0"/>
              </a:spcAft>
            </a:pPr>
            <a:r>
              <a:rPr lang="en-US" altLang="en-US" sz="1600"/>
              <a:t>Giao diện phải hiển thị tốt trên mọi thiết bị: PC, tablet, </a:t>
            </a:r>
            <a:r>
              <a:rPr lang="en-US" altLang="en-US" sz="1600"/>
              <a:t>đ</a:t>
            </a:r>
            <a:r>
              <a:rPr lang="en-US" altLang="en-US" sz="1600"/>
              <a:t>iện thoại.</a:t>
            </a:r>
            <a:endParaRPr lang="en-US" altLang="en-US" sz="1600"/>
          </a:p>
          <a:p>
            <a:pPr algn="ctr">
              <a:spcAft>
                <a:spcPct val="0"/>
              </a:spcAft>
            </a:pPr>
            <a:r>
              <a:rPr lang="en-US" altLang="en-US" sz="1600"/>
              <a:t>Các thành phần (form, ảnh, nút) phải tự </a:t>
            </a:r>
            <a:r>
              <a:rPr lang="en-US" altLang="en-US" sz="1600"/>
              <a:t>đ</a:t>
            </a:r>
            <a:r>
              <a:rPr lang="en-US" altLang="en-US" sz="1600"/>
              <a:t>ộng co giãn theo màn hình.</a:t>
            </a:r>
            <a:endParaRPr lang="en-US" altLang="en-US" sz="1600"/>
          </a:p>
          <a:p>
            <a:pPr algn="ctr">
              <a:spcAft>
                <a:spcPct val="0"/>
              </a:spcAft>
            </a:pPr>
            <a:endParaRPr lang="en-US" altLang="en-US" sz="1600"/>
          </a:p>
          <a:p>
            <a:pPr algn="ctr">
              <a:spcAft>
                <a:spcPct val="0"/>
              </a:spcAft>
            </a:pPr>
            <a:endParaRPr lang="en-US" altLang="en-US" sz="1600"/>
          </a:p>
        </p:txBody>
      </p:sp>
      <p:sp>
        <p:nvSpPr>
          <p:cNvPr id="2" name="Text Box 1"/>
          <p:cNvSpPr txBox="1"/>
          <p:nvPr/>
        </p:nvSpPr>
        <p:spPr>
          <a:xfrm>
            <a:off x="4415790" y="1599565"/>
            <a:ext cx="4023995" cy="4603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en-US" altLang="zh-CN" sz="2400" b="1"/>
              <a:t>Yêu cầu</a:t>
            </a:r>
            <a:r>
              <a:rPr lang="vi-VN" altLang="en-US" sz="2400" b="1"/>
              <a:t> phi chức</a:t>
            </a:r>
            <a:r>
              <a:rPr lang="en-US" altLang="zh-CN" sz="2400" b="1"/>
              <a:t> chức năng</a:t>
            </a:r>
            <a:endParaRPr lang="en-US" altLang="zh-CN" sz="2400" b="1"/>
          </a:p>
        </p:txBody>
      </p:sp>
      <p:sp>
        <p:nvSpPr>
          <p:cNvPr id="6" name="Text Box 5"/>
          <p:cNvSpPr txBox="1"/>
          <p:nvPr>
            <p:custDataLst>
              <p:tags r:id="rId5"/>
            </p:custDataLst>
          </p:nvPr>
        </p:nvSpPr>
        <p:spPr>
          <a:xfrm>
            <a:off x="731520" y="3735070"/>
            <a:ext cx="5080000" cy="13220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pPr algn="ctr">
              <a:spcAft>
                <a:spcPct val="0"/>
              </a:spcAft>
            </a:pPr>
            <a:r>
              <a:rPr lang="en-US" altLang="zh-CN" sz="1600" b="1"/>
              <a:t>3. Bảo mật (Security)</a:t>
            </a:r>
            <a:endParaRPr lang="en-US" altLang="zh-CN" sz="2200" b="1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Giao tiếp qua HTTPS để bảo vệ dữ liệu người dùng.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Dữ liệu người dùng như số điện thoại, thông tin đặt bàn phải được bảo vệ an toàn.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Xác thực người quản trị bằng JWT hoặc session token.</a:t>
            </a:r>
            <a:endParaRPr lang="en-US" altLang="zh-CN" sz="1600"/>
          </a:p>
        </p:txBody>
      </p:sp>
      <p:sp>
        <p:nvSpPr>
          <p:cNvPr id="8" name="Text Box 7"/>
          <p:cNvSpPr txBox="1"/>
          <p:nvPr>
            <p:custDataLst>
              <p:tags r:id="rId6"/>
            </p:custDataLst>
          </p:nvPr>
        </p:nvSpPr>
        <p:spPr>
          <a:xfrm>
            <a:off x="6348095" y="3611245"/>
            <a:ext cx="5080000" cy="15684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pPr>
              <a:spcAft>
                <a:spcPct val="0"/>
              </a:spcAft>
            </a:pPr>
            <a:r>
              <a:rPr lang="en-US" altLang="zh-CN" sz="1600" b="1"/>
              <a:t> 4. Khả năng mở rộng (Scalability)</a:t>
            </a:r>
            <a:endParaRPr lang="en-US" altLang="zh-CN" sz="2200" b="1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Hệ thống được thiết kế để dễ dàng mở rộng (thêm chức năng như đặt món, thanh toán online, đăng nhập người dùng).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Cấu trúc cơ sở dữ liệu và mã nguồn đảm bảo không bị “đóng khung”.</a:t>
            </a:r>
            <a:endParaRPr lang="en-US" altLang="zh-CN" sz="1600"/>
          </a:p>
        </p:txBody>
      </p:sp>
      <p:sp>
        <p:nvSpPr>
          <p:cNvPr id="13" name="Text Box 12"/>
          <p:cNvSpPr txBox="1"/>
          <p:nvPr/>
        </p:nvSpPr>
        <p:spPr>
          <a:xfrm>
            <a:off x="2037080" y="5272405"/>
            <a:ext cx="4498340" cy="14370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pPr>
              <a:spcAft>
                <a:spcPct val="0"/>
              </a:spcAft>
            </a:pPr>
            <a:r>
              <a:rPr lang="en-US" altLang="zh-CN" sz="2200" b="1"/>
              <a:t> </a:t>
            </a:r>
            <a:r>
              <a:rPr lang="en-US" altLang="zh-CN" sz="1600" b="1"/>
              <a:t>5. Dễ bảo trì &amp; nâng cấp (Maintainability)</a:t>
            </a:r>
            <a:endParaRPr lang="en-US" altLang="zh-CN" sz="2200" b="1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Mã nguồn được tổ chức rõ ràng theo chuẩn MVC (Model-View-Controller).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Các chức năng được tách biệt (theo hướng modular/microservices), giúp dễ bảo trì.</a:t>
            </a:r>
            <a:endParaRPr lang="en-US" altLang="zh-CN" sz="1600"/>
          </a:p>
        </p:txBody>
      </p:sp>
      <p:sp>
        <p:nvSpPr>
          <p:cNvPr id="14" name="Text Box 13"/>
          <p:cNvSpPr txBox="1"/>
          <p:nvPr/>
        </p:nvSpPr>
        <p:spPr>
          <a:xfrm>
            <a:off x="6861175" y="5415598"/>
            <a:ext cx="5080000" cy="1076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pPr>
              <a:spcAft>
                <a:spcPct val="0"/>
              </a:spcAft>
            </a:pPr>
            <a:r>
              <a:rPr lang="en-US" altLang="zh-CN" sz="1600" b="1"/>
              <a:t> 6. Tự động triển khai &amp; kiểm thử (CI/CD)</a:t>
            </a:r>
            <a:endParaRPr lang="en-US" altLang="zh-CN" sz="2200" b="1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Áp dụng GitHub Actions để tự động kiểm tra code, triển khai lên server qua Docker.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Đảm bảo quá trình cập nhật không gây gián đoạn dịch vụ.</a:t>
            </a:r>
            <a:endParaRPr lang="en-US" altLang="zh-CN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" y="15875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28328" y="879791"/>
            <a:ext cx="67379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HIẾT KẾ HỆ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THỐNG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604645" y="2176145"/>
            <a:ext cx="3601085" cy="22510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3.1. Giới thiệu &amp; Nguyên tắc thiết kế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Mục tiêu: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Biến yêu cầu nghiệp vụ thành cấu trúc kỹ thuật logic, dễ mở rộng.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Nguyên tắc chính: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SoC: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Tách biệt từng tầng – giao diện, nghiệp vụ, dữ liệu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Modularity: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Thiết kế module riêng biệt, dễ tái sử dụng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KISS: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Đ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ơn giản, tránh phức tạp hóa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DRY: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Tránh lặp lại logic/mã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565140" y="2176145"/>
            <a:ext cx="3705225" cy="3371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zh-CN" sz="1600" b="1"/>
              <a:t>3.2. Kiến trúc hệ thống – các phần chính</a:t>
            </a:r>
            <a:endParaRPr lang="en-US" altLang="zh-CN" sz="1600" b="1"/>
          </a:p>
        </p:txBody>
      </p:sp>
      <p:graphicFrame>
        <p:nvGraphicFramePr>
          <p:cNvPr id="8" name="Table 7"/>
          <p:cNvGraphicFramePr/>
          <p:nvPr>
            <p:custDataLst>
              <p:tags r:id="rId3"/>
            </p:custDataLst>
          </p:nvPr>
        </p:nvGraphicFramePr>
        <p:xfrm>
          <a:off x="5565775" y="2536190"/>
          <a:ext cx="3704590" cy="1465580"/>
        </p:xfrm>
        <a:graphic>
          <a:graphicData uri="http://schemas.openxmlformats.org/drawingml/2006/table">
            <a:tbl>
              <a:tblPr/>
              <a:tblGrid>
                <a:gridCol w="833120"/>
                <a:gridCol w="2871470"/>
              </a:tblGrid>
              <a:tr h="29210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Thành phần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Chức năng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6256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Frontend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Hiển thị giao diện; gửi dữ liệu người dùng đến Backend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API Server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Xử lý logic nghiệp vụ; xây dựng bằng Node.js + Express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Database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Lưu trữ dữ liệu có cấu trúc; sử dụng MySQL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Triển khai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Docker hóa toàn hệ thống; CI/CD với GitHub Actions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9741535" y="2176145"/>
            <a:ext cx="2439035" cy="20300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zh-CN" sz="1400" b="1"/>
              <a:t>3.3. Định hướng Kiến trúc</a:t>
            </a:r>
            <a:endParaRPr lang="en-US" altLang="zh-CN" sz="1400" b="1"/>
          </a:p>
          <a:p>
            <a:pPr>
              <a:spcAft>
                <a:spcPct val="0"/>
              </a:spcAft>
            </a:pPr>
            <a:endParaRPr lang="en-US" altLang="zh-CN" sz="1400" b="1"/>
          </a:p>
          <a:p>
            <a:pPr>
              <a:buFont typeface="Arial" panose="020B0604020202020204"/>
              <a:buChar char="•"/>
            </a:pPr>
            <a:r>
              <a:rPr lang="en-US" altLang="zh-CN" sz="1400"/>
              <a:t>Hiện tại: Monolithic – tất cả backend gom trong một app Node.js.</a:t>
            </a:r>
            <a:endParaRPr lang="en-US" altLang="zh-CN" sz="1400"/>
          </a:p>
          <a:p>
            <a:pPr>
              <a:buFont typeface="Arial" panose="020B0604020202020204"/>
              <a:buChar char="•"/>
            </a:pPr>
            <a:endParaRPr lang="en-US" altLang="zh-CN" sz="1400"/>
          </a:p>
          <a:p>
            <a:pPr>
              <a:buFont typeface="Arial" panose="020B0604020202020204"/>
              <a:buChar char="•"/>
            </a:pPr>
            <a:r>
              <a:rPr lang="en-US" altLang="zh-CN" sz="1400"/>
              <a:t>Tương lai: Đã module hóa → dễ chuyển sang Microservices khi cần mở rộng.</a:t>
            </a:r>
            <a:endParaRPr lang="en-US" altLang="zh-CN" sz="1400"/>
          </a:p>
        </p:txBody>
      </p:sp>
      <p:sp>
        <p:nvSpPr>
          <p:cNvPr id="12" name="Text Box 11"/>
          <p:cNvSpPr txBox="1"/>
          <p:nvPr/>
        </p:nvSpPr>
        <p:spPr>
          <a:xfrm>
            <a:off x="2612390" y="4624705"/>
            <a:ext cx="3035300" cy="20300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zh-CN" sz="1400" b="1"/>
              <a:t>3.4. Kiến trúc tổng thể</a:t>
            </a:r>
            <a:endParaRPr lang="en-US" altLang="zh-CN" sz="1400" b="1"/>
          </a:p>
          <a:p>
            <a:pPr>
              <a:buFont typeface="Arial" panose="020B0604020202020204"/>
              <a:buChar char="•"/>
            </a:pPr>
            <a:r>
              <a:rPr lang="en-US" altLang="zh-CN" sz="1400"/>
              <a:t>Client: SPA – mượt mà, nhanh, trải nghiệm giống mobile app.</a:t>
            </a:r>
            <a:endParaRPr lang="en-US" altLang="zh-CN" sz="1400"/>
          </a:p>
          <a:p>
            <a:pPr>
              <a:buFont typeface="Arial" panose="020B0604020202020204"/>
              <a:buChar char="•"/>
            </a:pPr>
            <a:r>
              <a:rPr lang="en-US" altLang="zh-CN" sz="1400"/>
              <a:t>Server: API đơn khối, logic tập trung, dễ quản lý.</a:t>
            </a:r>
            <a:endParaRPr lang="en-US" altLang="zh-CN" sz="1400"/>
          </a:p>
          <a:p>
            <a:pPr>
              <a:buFont typeface="Arial" panose="020B0604020202020204"/>
              <a:buChar char="•"/>
            </a:pPr>
            <a:r>
              <a:rPr lang="en-US" altLang="zh-CN" sz="1400"/>
              <a:t>Database: MySQL – dữ liệu quan hệ rõ ràng, đảm bảo toàn vẹn.</a:t>
            </a:r>
            <a:endParaRPr lang="en-US" altLang="zh-CN" sz="1400"/>
          </a:p>
          <a:p>
            <a:pPr>
              <a:buFont typeface="Arial" panose="020B0604020202020204"/>
              <a:buChar char="•"/>
            </a:pPr>
            <a:r>
              <a:rPr lang="en-US" altLang="zh-CN" sz="1400"/>
              <a:t>Tích hợp AI: Dùng Google Gemini API để tăng trải nghiệm thông minh.</a:t>
            </a:r>
            <a:endParaRPr lang="en-US" altLang="zh-CN" sz="1400"/>
          </a:p>
        </p:txBody>
      </p:sp>
      <p:sp>
        <p:nvSpPr>
          <p:cNvPr id="13" name="Text Box 12"/>
          <p:cNvSpPr txBox="1"/>
          <p:nvPr/>
        </p:nvSpPr>
        <p:spPr>
          <a:xfrm>
            <a:off x="6572885" y="4206240"/>
            <a:ext cx="2973070" cy="26111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pPr>
              <a:spcAft>
                <a:spcPct val="0"/>
              </a:spcAft>
            </a:pPr>
            <a:r>
              <a:rPr lang="en-US" altLang="zh-CN" sz="1400" b="1"/>
              <a:t>3.5. Kiến trúc phân lớp Backend</a:t>
            </a:r>
            <a:endParaRPr lang="en-US" altLang="zh-CN" sz="1400" b="1"/>
          </a:p>
          <a:p>
            <a:r>
              <a:rPr lang="en-US" altLang="zh-CN" sz="1400"/>
              <a:t>HTTP Request
   ↓
[Routes &amp; Middleware]
   ↓
[Controller Layer]
   ↓
[Service Layer]
   ↓
[Data Access Layer]
   ↓
MySQL Database
</a:t>
            </a:r>
            <a:endParaRPr lang="en-US" altLang="zh-CN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" y="15875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28328" y="879791"/>
            <a:ext cx="67379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HIẾT KẾ HỆ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THỐNG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pic>
        <p:nvPicPr>
          <p:cNvPr id="3" name="Picture 3" descr="erd-nha-ha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820" y="1401445"/>
            <a:ext cx="8739505" cy="52711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84843" y="736281"/>
            <a:ext cx="662495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T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HIẾT KẾ HỆ THỐNG</a:t>
            </a:r>
            <a:endParaRPr lang="en-US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269105" y="2196465"/>
            <a:ext cx="3628390" cy="28397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3.7. Thiết kế API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Vai trò API: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 Trung gian giữa frontend và backend.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Quy tắc r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õ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 ràng: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RESTful (GET, POST, PUT, DELETE)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Status Code r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õ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 ngh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ĩ</a:t>
            </a: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a: 200, 201, 400, 404, 500...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Các nhóm API: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/api/mon-an, /api/loai-mon: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Quản l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ý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 thực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đ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ơn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/api/auth: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Đă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ng k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ý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 /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đă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ng nhập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/api/dat-ban: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Đ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ặt bàn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latin typeface="Times New Roman" panose="02020603050405020304"/>
                <a:ea typeface="Times New Roman" panose="02020603050405020304"/>
              </a:rPr>
              <a:t>/api/gemini: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AI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đư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a gợi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ý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 món 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ă</a:t>
            </a:r>
            <a:r>
              <a:rPr lang="en-US" altLang="en-US" sz="1400">
                <a:latin typeface="Times New Roman" panose="02020603050405020304"/>
                <a:ea typeface="Times New Roman" panose="02020603050405020304"/>
              </a:rPr>
              <a:t>n</a:t>
            </a: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endParaRPr lang="en-US" altLang="en-US" sz="1400" b="1"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84843" y="736281"/>
            <a:ext cx="662495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T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HIẾT KẾ HỆ THỐNG</a:t>
            </a:r>
            <a:endParaRPr lang="en-US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endParaRPr lang="en-US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756535" y="1491615"/>
            <a:ext cx="10125710" cy="502221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endParaRPr lang="en-US" altLang="en-US" sz="1800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97125" y="15274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/>
              <a:t>3.8. Thiết kế Giao diện (UI/UX)</a:t>
            </a:r>
            <a:endParaRPr lang="en-US" altLang="zh-CN" sz="1600" b="1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915" y="2032000"/>
            <a:ext cx="5353050" cy="46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54861" y="736281"/>
            <a:ext cx="8884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4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.Triển khai và công nghệ sử dụng</a:t>
            </a:r>
            <a:endParaRPr lang="en-US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54860" y="1600200"/>
            <a:ext cx="5346700" cy="73723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zh-CN" sz="1400" b="1"/>
              <a:t>4.1. Công nghệ sử dụng</a:t>
            </a:r>
            <a:endParaRPr lang="en-US" altLang="zh-CN" sz="1400" b="1"/>
          </a:p>
          <a:p>
            <a:r>
              <a:rPr lang="en-US" altLang="zh-CN" sz="1400"/>
              <a:t>Hệ thống được phát triển dựa trên các công nghệ hiện đại – phổ biến – dễ mở rộng:</a:t>
            </a:r>
            <a:endParaRPr lang="en-US" altLang="zh-CN" sz="1400"/>
          </a:p>
        </p:txBody>
      </p:sp>
      <p:graphicFrame>
        <p:nvGraphicFramePr>
          <p:cNvPr id="6" name="Table 5"/>
          <p:cNvGraphicFramePr/>
          <p:nvPr>
            <p:custDataLst>
              <p:tags r:id="rId3"/>
            </p:custDataLst>
          </p:nvPr>
        </p:nvGraphicFramePr>
        <p:xfrm>
          <a:off x="2054860" y="2392045"/>
          <a:ext cx="5347335" cy="4250055"/>
        </p:xfrm>
        <a:graphic>
          <a:graphicData uri="http://schemas.openxmlformats.org/drawingml/2006/table">
            <a:tbl>
              <a:tblPr/>
              <a:tblGrid>
                <a:gridCol w="1782445"/>
                <a:gridCol w="1782445"/>
                <a:gridCol w="1782445"/>
              </a:tblGrid>
              <a:tr h="217805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Thành phần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Công nghệ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Vai trò chính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53415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Backend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Node.js + Express.js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Xây dựng API RESTful, xử lý logic nghiệp vụ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90880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Database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MySQL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Lưu trữ dữ liệu quan hệ (món ăn, hóa đơn, khách hàng...)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53415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Frontend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HTML5 + CSS3 + TailwindCSS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Thiết kế giao diện responsive, thân thiện người dùng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90245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Quản lý mã nguồn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GitHub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Quản lý version code, phân nhánh, pull request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54050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CI/CD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GitHub Actions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Tự động hóa kiểm thử, build và triển khai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90245">
                <a:tc>
                  <a:txBody>
                    <a:bodyPr/>
                    <a:p>
                      <a:pPr algn="ctr"/>
                      <a:r>
                        <a:rPr lang="en-US" altLang="zh-CN" sz="1400" b="1"/>
                        <a:t>Triển khai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Docker + Railway/Render/VPS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Container hóa ứng dụng, dễ triển khai trên cloud</a:t>
                      </a:r>
                      <a:endParaRPr lang="en-US" altLang="zh-CN" sz="14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7581265" y="1600200"/>
            <a:ext cx="4514850" cy="3538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zh-CN" sz="1400" b="1"/>
              <a:t>4.2. Quy trình CI/CD với GitHub Actions</a:t>
            </a:r>
            <a:endParaRPr lang="en-US" altLang="zh-CN" sz="1400" b="1"/>
          </a:p>
          <a:p>
            <a:r>
              <a:rPr lang="en-US" altLang="zh-CN" sz="1400"/>
              <a:t>"Push là chạy, commit là deploy – Dev hiện đại là thế!"</a:t>
            </a:r>
            <a:endParaRPr lang="en-US" altLang="zh-CN" sz="1400"/>
          </a:p>
          <a:p>
            <a:endParaRPr lang="en-US" altLang="zh-CN" sz="1400"/>
          </a:p>
          <a:p>
            <a:pPr>
              <a:buFont typeface="Arial" panose="020B0604020202020204"/>
              <a:buChar char="•"/>
            </a:pPr>
            <a:r>
              <a:rPr lang="en-US" altLang="zh-CN" sz="1400"/>
              <a:t>CI – Kiểm tra liên tục</a:t>
            </a:r>
            <a:endParaRPr lang="en-US" altLang="zh-CN" sz="1400"/>
          </a:p>
          <a:p>
            <a:pPr>
              <a:buFont typeface="Arial" panose="020B0604020202020204"/>
              <a:buChar char="•"/>
            </a:pPr>
            <a:endParaRPr lang="en-US" altLang="zh-CN" sz="1400"/>
          </a:p>
          <a:p>
            <a:pPr lvl="1">
              <a:buFont typeface="Arial" panose="020B0604020202020204"/>
              <a:buChar char="◦"/>
            </a:pPr>
            <a:r>
              <a:rPr lang="en-US" altLang="zh-CN" sz="1400"/>
              <a:t>Tự động kiểm tra syntax, format code khi có thay đổi.</a:t>
            </a:r>
            <a:endParaRPr lang="en-US" altLang="zh-CN" sz="1400"/>
          </a:p>
          <a:p>
            <a:pPr lvl="1">
              <a:buFont typeface="Arial" panose="020B0604020202020204"/>
              <a:buChar char="◦"/>
            </a:pPr>
            <a:endParaRPr lang="en-US" altLang="zh-CN" sz="1400"/>
          </a:p>
          <a:p>
            <a:pPr>
              <a:buFont typeface="Arial" panose="020B0604020202020204"/>
              <a:buChar char="•"/>
            </a:pPr>
            <a:r>
              <a:rPr lang="en-US" altLang="zh-CN" sz="1400"/>
              <a:t>CD – Triển khai liên tục</a:t>
            </a:r>
            <a:endParaRPr lang="en-US" altLang="zh-CN" sz="1400"/>
          </a:p>
          <a:p>
            <a:pPr>
              <a:buFont typeface="Arial" panose="020B0604020202020204"/>
              <a:buChar char="•"/>
            </a:pPr>
            <a:endParaRPr lang="en-US" altLang="zh-CN" sz="1400"/>
          </a:p>
          <a:p>
            <a:pPr lvl="1">
              <a:buFont typeface="Arial" panose="020B0604020202020204"/>
              <a:buChar char="◦"/>
            </a:pPr>
            <a:r>
              <a:rPr lang="en-US" altLang="zh-CN" sz="1400"/>
              <a:t>Build Docker image tự động sau mỗi lần push lên nhánh main.</a:t>
            </a:r>
            <a:endParaRPr lang="en-US" altLang="zh-CN" sz="1400"/>
          </a:p>
          <a:p>
            <a:pPr lvl="1">
              <a:buFont typeface="Arial" panose="020B0604020202020204"/>
              <a:buChar char="◦"/>
            </a:pPr>
            <a:endParaRPr lang="en-US" altLang="zh-CN" sz="1400"/>
          </a:p>
          <a:p>
            <a:pPr lvl="1">
              <a:buFont typeface="Arial" panose="020B0604020202020204"/>
              <a:buChar char="◦"/>
            </a:pPr>
            <a:r>
              <a:rPr lang="en-US" altLang="zh-CN" sz="1400"/>
              <a:t>(Nếu có) chạy test bằng Jest.</a:t>
            </a:r>
            <a:endParaRPr lang="en-US" altLang="zh-CN" sz="1400"/>
          </a:p>
          <a:p>
            <a:pPr lvl="1">
              <a:buFont typeface="Arial" panose="020B0604020202020204"/>
              <a:buChar char="◦"/>
            </a:pPr>
            <a:endParaRPr lang="en-US" altLang="zh-CN" sz="1400"/>
          </a:p>
          <a:p>
            <a:pPr lvl="1">
              <a:buFont typeface="Arial" panose="020B0604020202020204"/>
              <a:buChar char="◦"/>
            </a:pPr>
            <a:r>
              <a:rPr lang="en-US" altLang="zh-CN" sz="1400"/>
              <a:t>Deploy lên cloud bằng container.</a:t>
            </a:r>
            <a:endParaRPr lang="en-US" altLang="zh-CN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98346" y="736281"/>
            <a:ext cx="899795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4. 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Triển khai và công nghệ sử dụng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196715" y="13839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457200" lvl="1" indent="0" defTabSz="266700">
              <a:lnSpc>
                <a:spcPct val="150000"/>
              </a:lnSpc>
              <a:spcAft>
                <a:spcPct val="0"/>
              </a:spcAft>
              <a:buFont typeface="Times New Roman" panose="02020603050405020304"/>
              <a:buNone/>
            </a:pPr>
            <a:r>
              <a:rPr lang="vi-VN" altLang="en-US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Kết quả chạy </a:t>
            </a:r>
            <a:r>
              <a:rPr lang="vi-VN" altLang="en-US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Docker</a:t>
            </a:r>
            <a:endParaRPr lang="vi-VN" altLang="en-US" sz="16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590" y="1909445"/>
            <a:ext cx="8361045" cy="470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16351" y="736281"/>
            <a:ext cx="53619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5. 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Quản l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ý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dự án</a:t>
            </a:r>
            <a:endParaRPr lang="en-US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2943225" y="1273175"/>
          <a:ext cx="6737350" cy="5405120"/>
        </p:xfrm>
        <a:graphic>
          <a:graphicData uri="http://schemas.openxmlformats.org/drawingml/2006/table">
            <a:tbl>
              <a:tblPr/>
              <a:tblGrid>
                <a:gridCol w="1379220"/>
                <a:gridCol w="567690"/>
                <a:gridCol w="1802765"/>
                <a:gridCol w="2987675"/>
              </a:tblGrid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Tuần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Mục tiêu Sprint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Nội dung chính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261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1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1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Làm quen Node.js &amp; môi trường phát triển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Cài đặt Node.js, npm- Tạo server đầu tiên- In “Hello Server” ra trình duyệt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13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2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2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Làm chủ Express – Xây dựng routing &amp; middleware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Cài đặt Express- Tạo routes GET/POST- Middleware xử lý request, response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528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3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3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Thiết kế cấu trúc dự án &amp; tổ chức code MVC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Phân tách: routes / controllers / models- Cấu trúc rõ ràng, dễ bảo trì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4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4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Kết nối cơ sở dữ liệu &amp; tạo bảng món ăn / khách hàng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Thiết lập MySQL- Tạo bảng món ăn, khách, đặt bàn- Kết nối DB từ Node.js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4866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5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5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Xây dựng API CRUD món ăn (menu)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-TạoAPI GET/POST/PUT/DELETE- Xử lý dữ liệu món ăn- Kiểm tra với Postman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528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6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6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Xây dựng API CRUD đặt bàn &amp; thông tin khách hàng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Tạo API đặt bàn- Validate input- Lưu thông tin khách hàng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13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7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7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Thiết kế giao diện tĩnh: menu, đặt bàn, giới thiệu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Sử dụng HTML/CSS hoặc Tailwind- Trang chủ, trang menu, form đặt bàn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8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8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Kết nối front-end ↔ back-end (API)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Gọi API hiển thị danh sách món- Submit form đặt bàn- Thông báo sau khi đặt thành công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9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9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Tối ưu trải nghiệm người dùng (UI/UX) + responsive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Responsive cho mobile/PC- Căn lề, màu sắc, font chữ- Hover, trạng thái, hiệu ứng nhẹ nhàng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46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 b="1">
                          <a:latin typeface="Times New Roman" panose="02020603050405020304"/>
                          <a:ea typeface="Times New Roman" panose="02020603050405020304"/>
                        </a:rPr>
                        <a:t>Sprint 10</a:t>
                      </a:r>
                      <a:endParaRPr lang="en-US" altLang="zh-CN" sz="7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Tuần 10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Kiểm thử hệ thống, sửa lỗi &amp; triển khai lên cloud/docker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700">
                          <a:latin typeface="Times New Roman" panose="02020603050405020304"/>
                          <a:ea typeface="Times New Roman" panose="02020603050405020304"/>
                        </a:rPr>
                        <a:t>- Test toàn bộ API- Sửa bug- Viết Dockerfile- Deploy, tạo README</a:t>
                      </a:r>
                      <a:endParaRPr lang="en-US" altLang="zh-CN" sz="7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91013" y="736281"/>
            <a:ext cx="44126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6.</a:t>
            </a:r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Kiểm thử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905" y="1384300"/>
            <a:ext cx="3657600" cy="5286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1348" y="736281"/>
            <a:ext cx="66719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7. Đánh giá và kết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luận 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316355" y="2217102"/>
            <a:ext cx="5080000" cy="27997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r>
              <a:rPr lang="en-US" altLang="zh-CN" sz="1600" b="1"/>
              <a:t>Khó khăn gặp phải:</a:t>
            </a:r>
            <a:endParaRPr lang="en-US" altLang="zh-CN" sz="1600" b="1"/>
          </a:p>
          <a:p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Ban đầu chưa quen Node.js/Express nên thiết kế API còn lúng túng.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Quản lý cơ sở dữ liệu phức tạp do liên kết nhiều bảng.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Docker gây khó khăn vì chưa quen cấu hình và câu lệnh.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Làm việc nhóm gặp trở ngại do lệch múi giờ, thời gian biểu không đồng bộ.</a:t>
            </a:r>
            <a:endParaRPr lang="en-US" altLang="zh-CN" sz="1600"/>
          </a:p>
        </p:txBody>
      </p:sp>
      <p:sp>
        <p:nvSpPr>
          <p:cNvPr id="3" name="Text Box 2"/>
          <p:cNvSpPr txBox="1"/>
          <p:nvPr/>
        </p:nvSpPr>
        <p:spPr>
          <a:xfrm>
            <a:off x="6789420" y="2247583"/>
            <a:ext cx="5080000" cy="255333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r>
              <a:rPr lang="en-US" altLang="zh-CN" sz="1600" b="1"/>
              <a:t>Bài học rút ra:</a:t>
            </a:r>
            <a:endParaRPr lang="en-US" altLang="zh-CN" sz="1600" b="1"/>
          </a:p>
          <a:p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Hiểu rõ mô hình MVC và cách tổ chức backend chuyên nghiệp.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Biết cách triển khai theo mô hình Agile và CI/CD thực tế.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Rèn kỹ năng làm việc nhóm, sử dụng Jira, GitHub.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Biết đóng gói dự án bằng Docker giúp dễ triển khai.</a:t>
            </a:r>
            <a:endParaRPr lang="en-US" altLang="zh-CN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1348" y="736281"/>
            <a:ext cx="66719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CHƯƠNG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7. Đánh giá và kết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luận 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980815" y="2464752"/>
            <a:ext cx="5080000" cy="18148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r>
              <a:rPr lang="en-US" altLang="en-US" sz="1600"/>
              <a:t>Đ</a:t>
            </a:r>
            <a:r>
              <a:rPr lang="en-US" altLang="en-US" sz="1600"/>
              <a:t>ề xuất cải tiến: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Chuyển hệ thống sang microservices </a:t>
            </a:r>
            <a:r>
              <a:rPr lang="en-US" altLang="en-US" sz="1600"/>
              <a:t>đ</a:t>
            </a:r>
            <a:r>
              <a:rPr lang="en-US" altLang="en-US" sz="1600"/>
              <a:t>ể dễ mở rộng.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Tích hợp thanh toán </a:t>
            </a:r>
            <a:r>
              <a:rPr lang="en-US" altLang="en-US" sz="1600"/>
              <a:t>đ</a:t>
            </a:r>
            <a:r>
              <a:rPr lang="en-US" altLang="en-US" sz="1600"/>
              <a:t>iện tử (VNPay, Momo).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Phát triển app mobile bằng Flutter sử dụng API hiện tại.</a:t>
            </a:r>
            <a:endParaRPr lang="en-US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" y="15875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61168" y="736281"/>
            <a:ext cx="44723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TÀI LIỆU THAM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KHẢO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260725" y="2104390"/>
            <a:ext cx="5986145" cy="37693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pPr algn="just" defTabSz="266700">
              <a:lnSpc>
                <a:spcPct val="150000"/>
              </a:lnSpc>
            </a:pPr>
            <a:r>
              <a:rPr lang="en-US" altLang="en-US" sz="2000" i="0">
                <a:latin typeface="Times New Roman" panose="02020603050405020304"/>
                <a:ea typeface="Times New Roman" panose="02020603050405020304"/>
              </a:rPr>
              <a:t>Node.js Documentation. (n.d.). Node.js official docs. Truy cập tại: https://nodejs.org/en/docs</a:t>
            </a:r>
            <a:endParaRPr lang="en-US" altLang="en-US" sz="2000" i="0">
              <a:latin typeface="Times New Roman" panose="02020603050405020304"/>
              <a:ea typeface="Times New Roman" panose="02020603050405020304"/>
            </a:endParaRPr>
          </a:p>
          <a:p>
            <a:pPr algn="just" defTabSz="266700">
              <a:lnSpc>
                <a:spcPct val="150000"/>
              </a:lnSpc>
            </a:pPr>
            <a:r>
              <a:rPr lang="en-US" altLang="en-US" sz="2000" i="0">
                <a:latin typeface="Times New Roman" panose="02020603050405020304"/>
                <a:ea typeface="Times New Roman" panose="02020603050405020304"/>
              </a:rPr>
              <a:t>Express.js Guide. (n.d.). Express.js documentation. Truy cập tại: https://expressjs.com/</a:t>
            </a:r>
            <a:endParaRPr lang="en-US" altLang="en-US" sz="2000" i="0">
              <a:latin typeface="Times New Roman" panose="02020603050405020304"/>
              <a:ea typeface="Times New Roman" panose="02020603050405020304"/>
            </a:endParaRPr>
          </a:p>
          <a:p>
            <a:pPr algn="just" defTabSz="266700">
              <a:lnSpc>
                <a:spcPct val="150000"/>
              </a:lnSpc>
            </a:pPr>
            <a:r>
              <a:rPr lang="en-US" altLang="en-US" sz="2000" i="0">
                <a:latin typeface="Times New Roman" panose="02020603050405020304"/>
                <a:ea typeface="Times New Roman" panose="02020603050405020304"/>
              </a:rPr>
              <a:t>MySQL Documentation. (n.d.). MySQL Reference Manual. Truy cập tại: https://dev.mysql.com/doc/</a:t>
            </a:r>
            <a:endParaRPr lang="en-US" altLang="en-US" sz="2000" i="0">
              <a:latin typeface="Times New Roman" panose="02020603050405020304"/>
              <a:ea typeface="Times New Roman" panose="02020603050405020304"/>
            </a:endParaRPr>
          </a:p>
          <a:p>
            <a:pPr algn="just" defTabSz="266700">
              <a:lnSpc>
                <a:spcPct val="150000"/>
              </a:lnSpc>
            </a:pPr>
            <a:r>
              <a:rPr lang="en-US" altLang="en-US" sz="2000" i="0">
                <a:latin typeface="Times New Roman" panose="02020603050405020304"/>
                <a:ea typeface="Times New Roman" panose="02020603050405020304"/>
              </a:rPr>
              <a:t>Docker Docs. (n.d.). Docker Documentation. Truy cập tại: https://docs.docker.com/</a:t>
            </a:r>
            <a:endParaRPr lang="en-US" altLang="en-US" sz="2000" i="0"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397" cy="7232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42381" y="736281"/>
            <a:ext cx="309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55" y="304800"/>
            <a:ext cx="2734945" cy="19958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216910" y="1311910"/>
            <a:ext cx="64262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CẢM ƠN THẦY CÔ VÀ 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CÁC BẠN ĐÃ LẮNG NGHE BÀI THUYẾT TRÌNH CỦA NHÓM CHÚNG TÔI, XIN KÍNH CHÚC THẦY CÔ VÀ TẤT CẢ 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MỌI NGƯỜI CÓ NGÀY 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LÀM VIỆC VUI VẺ, HẠNH PHÚC BÊN 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algn="ctr"/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GIA </a:t>
            </a:r>
            <a:r>
              <a:rPr lang="vi-VN" altLang="en-US" sz="3200" b="1" dirty="0">
                <a:solidFill>
                  <a:srgbClr val="288098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ĐÌNH. </a:t>
            </a:r>
            <a:endParaRPr lang="vi-VN" altLang="en-US" sz="3200" b="1" dirty="0">
              <a:solidFill>
                <a:srgbClr val="288098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>
        <p:wipe/>
      </p:transition>
    </mc:Choice>
    <mc:Fallback>
      <p:transition spd="med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231.25000610351563,&quot;left&quot;:57.6,&quot;top&quot;:176.6,&quot;width&quot;:842.25}"/>
</p:tagLst>
</file>

<file path=ppt/tags/tag6.xml><?xml version="1.0" encoding="utf-8"?>
<p:tagLst xmlns:p="http://schemas.openxmlformats.org/presentationml/2006/main">
  <p:tag name="KSO_WM_DIAGRAM_VIRTUALLY_FRAME" val="{&quot;height&quot;:231.25000610351563,&quot;left&quot;:57.6,&quot;top&quot;:176.6,&quot;width&quot;:842.25}"/>
</p:tagLst>
</file>

<file path=ppt/tags/tag7.xml><?xml version="1.0" encoding="utf-8"?>
<p:tagLst xmlns:p="http://schemas.openxmlformats.org/presentationml/2006/main">
  <p:tag name="KSO_WM_DIAGRAM_VIRTUALLY_FRAME" val="{&quot;height&quot;:231.25000610351563,&quot;left&quot;:57.6,&quot;top&quot;:176.6,&quot;width&quot;:842.25}"/>
</p:tagLst>
</file>

<file path=ppt/tags/tag8.xml><?xml version="1.0" encoding="utf-8"?>
<p:tagLst xmlns:p="http://schemas.openxmlformats.org/presentationml/2006/main">
  <p:tag name="KSO_WM_DIAGRAM_VIRTUALLY_FRAME" val="{&quot;height&quot;:231.25000610351563,&quot;left&quot;:57.6,&quot;top&quot;:176.6,&quot;width&quot;:842.25}"/>
</p:tagLst>
</file>

<file path=ppt/tags/tag9.xml><?xml version="1.0" encoding="utf-8"?>
<p:tagLst xmlns:p="http://schemas.openxmlformats.org/presentationml/2006/main">
  <p:tag name="TABLE_ENDDRAG_ORIGIN_RECT" val="291*136"/>
  <p:tag name="TABLE_ENDDRAG_RECT" val="557*199*291*136"/>
</p:tagLst>
</file>

<file path=ppt/tags/tag10.xml><?xml version="1.0" encoding="utf-8"?>
<p:tagLst xmlns:p="http://schemas.openxmlformats.org/presentationml/2006/main">
  <p:tag name="TABLE_ENDDRAG_ORIGIN_RECT" val="420*334"/>
  <p:tag name="TABLE_ENDDRAG_RECT" val="161*188*420*334"/>
</p:tagLst>
</file>

<file path=ppt/tags/tag11.xml><?xml version="1.0" encoding="utf-8"?>
<p:tagLst xmlns:p="http://schemas.openxmlformats.org/presentationml/2006/main">
  <p:tag name="TABLE_ENDDRAG_ORIGIN_RECT" val="530*427"/>
  <p:tag name="TABLE_ENDDRAG_RECT" val="231*98*530*427"/>
</p:tagLst>
</file>

<file path=ppt/theme/theme1.xml><?xml version="1.0" encoding="utf-8"?>
<a:theme xmlns:a="http://schemas.openxmlformats.org/drawingml/2006/main" name="Office Theme">
  <a:themeElements>
    <a:clrScheme name="自定义 18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B8303"/>
      </a:accent1>
      <a:accent2>
        <a:srgbClr val="96D624"/>
      </a:accent2>
      <a:accent3>
        <a:srgbClr val="2B8303"/>
      </a:accent3>
      <a:accent4>
        <a:srgbClr val="96D624"/>
      </a:accent4>
      <a:accent5>
        <a:srgbClr val="2B8303"/>
      </a:accent5>
      <a:accent6>
        <a:srgbClr val="96D624"/>
      </a:accent6>
      <a:hlink>
        <a:srgbClr val="2B8303"/>
      </a:hlink>
      <a:folHlink>
        <a:srgbClr val="96D624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10688</Words>
  <Application>WPS Presentation</Application>
  <PresentationFormat>自定义</PresentationFormat>
  <Paragraphs>454</Paragraphs>
  <Slides>23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Times New Roman Bold</vt:lpstr>
      <vt:lpstr>Times New Roman</vt:lpstr>
      <vt:lpstr>Times New Roman Regular</vt:lpstr>
      <vt:lpstr>Arial</vt:lpstr>
      <vt:lpstr>Microsoft YaHei</vt:lpstr>
      <vt:lpstr>Arial Unicode MS</vt:lpstr>
      <vt:lpstr>Calibri Light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bt505</dc:title>
  <dc:creator/>
  <cp:lastModifiedBy>ACER</cp:lastModifiedBy>
  <cp:revision>27</cp:revision>
  <dcterms:created xsi:type="dcterms:W3CDTF">2016-12-29T13:10:00Z</dcterms:created>
  <dcterms:modified xsi:type="dcterms:W3CDTF">2025-07-25T02:24:01Z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1033-12.2.0.21931</vt:lpwstr>
  </property>
  <property fmtid="{D5CDD505-2E9C-101B-9397-08002B2CF9AE}" pid="4" name="ICV">
    <vt:lpwstr>AE80C17C89F84803BF7ECE0D42879821_13</vt:lpwstr>
  </property>
</Properties>
</file>